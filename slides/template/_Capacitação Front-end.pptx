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slide+xml" PartName="/ppt/slides/slide126.xml"/>
  <Override ContentType="application/vnd.openxmlformats-officedocument.presentationml.slide+xml" PartName="/ppt/slides/slide127.xml"/>
  <Override ContentType="application/vnd.openxmlformats-officedocument.presentationml.slide+xml" PartName="/ppt/slides/slide128.xml"/>
  <Override ContentType="application/vnd.openxmlformats-officedocument.presentationml.slide+xml" PartName="/ppt/slides/slide129.xml"/>
  <Override ContentType="application/vnd.openxmlformats-officedocument.presentationml.slide+xml" PartName="/ppt/slides/slide130.xml"/>
  <Override ContentType="application/vnd.openxmlformats-officedocument.presentationml.slide+xml" PartName="/ppt/slides/slide131.xml"/>
  <Override ContentType="application/vnd.openxmlformats-officedocument.presentationml.slide+xml" PartName="/ppt/slides/slide132.xml"/>
  <Override ContentType="application/vnd.openxmlformats-officedocument.presentationml.slide+xml" PartName="/ppt/slides/slide133.xml"/>
  <Override ContentType="application/vnd.openxmlformats-officedocument.presentationml.slide+xml" PartName="/ppt/slides/slide134.xml"/>
  <Override ContentType="application/vnd.openxmlformats-officedocument.presentationml.slide+xml" PartName="/ppt/slides/slide135.xml"/>
  <Override ContentType="application/vnd.openxmlformats-officedocument.presentationml.slide+xml" PartName="/ppt/slides/slide136.xml"/>
  <Override ContentType="application/vnd.openxmlformats-officedocument.presentationml.slide+xml" PartName="/ppt/slides/slide137.xml"/>
  <Override ContentType="application/vnd.openxmlformats-officedocument.presentationml.slide+xml" PartName="/ppt/slides/slide1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</p:sldIdLst>
  <p:sldSz cx="18288000" cy="10287000"/>
  <p:notesSz cx="6858000" cy="9144000"/>
  <p:embeddedFontLst>
    <p:embeddedFont>
      <p:font typeface="Montaser Arabic" charset="1" panose="00000500000000000000"/>
      <p:regular r:id="rId144"/>
    </p:embeddedFont>
    <p:embeddedFont>
      <p:font typeface="Open Sans Extra Bold" charset="1" panose="020B0906030804020204"/>
      <p:regular r:id="rId145"/>
    </p:embeddedFont>
    <p:embeddedFont>
      <p:font typeface="Montaser Arabic Semi-Bold" charset="1" panose="00000700000000000000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slides/slide126.xml" Type="http://schemas.openxmlformats.org/officeDocument/2006/relationships/slide"/><Relationship Id="rId132" Target="slides/slide127.xml" Type="http://schemas.openxmlformats.org/officeDocument/2006/relationships/slide"/><Relationship Id="rId133" Target="slides/slide128.xml" Type="http://schemas.openxmlformats.org/officeDocument/2006/relationships/slide"/><Relationship Id="rId134" Target="slides/slide129.xml" Type="http://schemas.openxmlformats.org/officeDocument/2006/relationships/slide"/><Relationship Id="rId135" Target="slides/slide130.xml" Type="http://schemas.openxmlformats.org/officeDocument/2006/relationships/slide"/><Relationship Id="rId136" Target="slides/slide131.xml" Type="http://schemas.openxmlformats.org/officeDocument/2006/relationships/slide"/><Relationship Id="rId137" Target="slides/slide132.xml" Type="http://schemas.openxmlformats.org/officeDocument/2006/relationships/slide"/><Relationship Id="rId138" Target="slides/slide133.xml" Type="http://schemas.openxmlformats.org/officeDocument/2006/relationships/slide"/><Relationship Id="rId139" Target="slides/slide134.xml" Type="http://schemas.openxmlformats.org/officeDocument/2006/relationships/slide"/><Relationship Id="rId14" Target="slides/slide9.xml" Type="http://schemas.openxmlformats.org/officeDocument/2006/relationships/slide"/><Relationship Id="rId140" Target="slides/slide135.xml" Type="http://schemas.openxmlformats.org/officeDocument/2006/relationships/slide"/><Relationship Id="rId141" Target="slides/slide136.xml" Type="http://schemas.openxmlformats.org/officeDocument/2006/relationships/slide"/><Relationship Id="rId142" Target="slides/slide137.xml" Type="http://schemas.openxmlformats.org/officeDocument/2006/relationships/slide"/><Relationship Id="rId143" Target="slides/slide138.xml" Type="http://schemas.openxmlformats.org/officeDocument/2006/relationships/slide"/><Relationship Id="rId144" Target="fonts/font144.fntdata" Type="http://schemas.openxmlformats.org/officeDocument/2006/relationships/font"/><Relationship Id="rId145" Target="fonts/font145.fntdata" Type="http://schemas.openxmlformats.org/officeDocument/2006/relationships/font"/><Relationship Id="rId146" Target="fonts/font146.fntdata" Type="http://schemas.openxmlformats.org/officeDocument/2006/relationships/font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9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3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3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5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6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9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0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3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6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9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0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1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3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5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6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9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0.jpe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1.pn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3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5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6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9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0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7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92903" y="379566"/>
            <a:ext cx="1567796" cy="1398777"/>
          </a:xfrm>
          <a:custGeom>
            <a:avLst/>
            <a:gdLst/>
            <a:ahLst/>
            <a:cxnLst/>
            <a:rect r="r" b="b" t="t" l="l"/>
            <a:pathLst>
              <a:path h="1398777" w="1567796">
                <a:moveTo>
                  <a:pt x="0" y="0"/>
                </a:moveTo>
                <a:lnTo>
                  <a:pt x="1567795" y="0"/>
                </a:lnTo>
                <a:lnTo>
                  <a:pt x="1567795" y="1398777"/>
                </a:lnTo>
                <a:lnTo>
                  <a:pt x="0" y="139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01853" y="377261"/>
            <a:ext cx="14084294" cy="29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6"/>
              </a:lnSpc>
            </a:pPr>
            <a:r>
              <a:rPr lang="en-US" sz="8525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Fundamentos do</a:t>
            </a:r>
          </a:p>
          <a:p>
            <a:pPr algn="ctr">
              <a:lnSpc>
                <a:spcPts val="11936"/>
              </a:lnSpc>
            </a:pPr>
            <a:r>
              <a:rPr lang="en-US" sz="8525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Front-end (HTML e CSS)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681292" y="4011930"/>
            <a:ext cx="4279418" cy="5246370"/>
            <a:chOff x="0" y="0"/>
            <a:chExt cx="7165721" cy="8784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48843" y="390525"/>
              <a:ext cx="5867908" cy="8003794"/>
            </a:xfrm>
            <a:custGeom>
              <a:avLst/>
              <a:gdLst/>
              <a:ahLst/>
              <a:cxnLst/>
              <a:rect r="r" b="b" t="t" l="l"/>
              <a:pathLst>
                <a:path h="8003794" w="5867908">
                  <a:moveTo>
                    <a:pt x="179324" y="8003794"/>
                  </a:moveTo>
                  <a:lnTo>
                    <a:pt x="0" y="7824978"/>
                  </a:lnTo>
                  <a:lnTo>
                    <a:pt x="0" y="178816"/>
                  </a:lnTo>
                  <a:lnTo>
                    <a:pt x="179324" y="0"/>
                  </a:lnTo>
                  <a:lnTo>
                    <a:pt x="5690616" y="0"/>
                  </a:lnTo>
                  <a:lnTo>
                    <a:pt x="5867908" y="178054"/>
                  </a:lnTo>
                  <a:lnTo>
                    <a:pt x="5867908" y="7826502"/>
                  </a:lnTo>
                  <a:lnTo>
                    <a:pt x="5690997" y="8003794"/>
                  </a:lnTo>
                  <a:close/>
                </a:path>
              </a:pathLst>
            </a:custGeom>
            <a:blipFill>
              <a:blip r:embed="rId3"/>
              <a:stretch>
                <a:fillRect l="0" t="-14503" r="0" b="-1583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447" y="0"/>
              <a:ext cx="7125080" cy="8784589"/>
            </a:xfrm>
            <a:custGeom>
              <a:avLst/>
              <a:gdLst/>
              <a:ahLst/>
              <a:cxnLst/>
              <a:rect r="r" b="b" t="t" l="l"/>
              <a:pathLst>
                <a:path h="8784589" w="7125080">
                  <a:moveTo>
                    <a:pt x="803910" y="381000"/>
                  </a:moveTo>
                  <a:lnTo>
                    <a:pt x="618871" y="565277"/>
                  </a:lnTo>
                  <a:lnTo>
                    <a:pt x="618871" y="8219440"/>
                  </a:lnTo>
                  <a:lnTo>
                    <a:pt x="803783" y="8403717"/>
                  </a:lnTo>
                  <a:lnTo>
                    <a:pt x="6323203" y="8403717"/>
                  </a:lnTo>
                  <a:lnTo>
                    <a:pt x="6505829" y="8220964"/>
                  </a:lnTo>
                  <a:lnTo>
                    <a:pt x="6505829" y="564642"/>
                  </a:lnTo>
                  <a:lnTo>
                    <a:pt x="6322949" y="381000"/>
                  </a:lnTo>
                  <a:lnTo>
                    <a:pt x="803910" y="381000"/>
                  </a:lnTo>
                  <a:close/>
                  <a:moveTo>
                    <a:pt x="6486779" y="8213090"/>
                  </a:moveTo>
                  <a:lnTo>
                    <a:pt x="6315329" y="8384667"/>
                  </a:lnTo>
                  <a:lnTo>
                    <a:pt x="811657" y="8384667"/>
                  </a:lnTo>
                  <a:lnTo>
                    <a:pt x="637921" y="8211439"/>
                  </a:lnTo>
                  <a:lnTo>
                    <a:pt x="637921" y="573278"/>
                  </a:lnTo>
                  <a:lnTo>
                    <a:pt x="811657" y="400050"/>
                  </a:lnTo>
                  <a:lnTo>
                    <a:pt x="6314948" y="400050"/>
                  </a:lnTo>
                  <a:lnTo>
                    <a:pt x="6486652" y="572516"/>
                  </a:lnTo>
                  <a:lnTo>
                    <a:pt x="6486779" y="8213090"/>
                  </a:lnTo>
                  <a:lnTo>
                    <a:pt x="6486779" y="8213090"/>
                  </a:lnTo>
                  <a:close/>
                  <a:moveTo>
                    <a:pt x="7059803" y="6719951"/>
                  </a:moveTo>
                  <a:cubicBezTo>
                    <a:pt x="7023354" y="6704457"/>
                    <a:pt x="6990461" y="6682359"/>
                    <a:pt x="6962394" y="6654292"/>
                  </a:cubicBezTo>
                  <a:cubicBezTo>
                    <a:pt x="6934201" y="6626099"/>
                    <a:pt x="6912102" y="6593332"/>
                    <a:pt x="6896735" y="6556883"/>
                  </a:cubicBezTo>
                  <a:cubicBezTo>
                    <a:pt x="6893053" y="6547993"/>
                    <a:pt x="6889751" y="6539103"/>
                    <a:pt x="6886956" y="6529960"/>
                  </a:cubicBezTo>
                  <a:lnTo>
                    <a:pt x="6886956" y="424815"/>
                  </a:lnTo>
                  <a:cubicBezTo>
                    <a:pt x="6886956" y="413512"/>
                    <a:pt x="6882511" y="402844"/>
                    <a:pt x="6874510" y="394843"/>
                  </a:cubicBezTo>
                  <a:lnTo>
                    <a:pt x="6495034" y="13843"/>
                  </a:lnTo>
                  <a:lnTo>
                    <a:pt x="6494018" y="12827"/>
                  </a:lnTo>
                  <a:cubicBezTo>
                    <a:pt x="6486144" y="4699"/>
                    <a:pt x="6474968" y="0"/>
                    <a:pt x="6463665" y="0"/>
                  </a:cubicBezTo>
                  <a:lnTo>
                    <a:pt x="663956" y="0"/>
                  </a:lnTo>
                  <a:cubicBezTo>
                    <a:pt x="652653" y="0"/>
                    <a:pt x="641985" y="4445"/>
                    <a:pt x="633984" y="12446"/>
                  </a:cubicBezTo>
                  <a:lnTo>
                    <a:pt x="250444" y="394716"/>
                  </a:lnTo>
                  <a:cubicBezTo>
                    <a:pt x="242443" y="402590"/>
                    <a:pt x="237998" y="413639"/>
                    <a:pt x="237998" y="424815"/>
                  </a:cubicBezTo>
                  <a:lnTo>
                    <a:pt x="237998" y="1836166"/>
                  </a:lnTo>
                  <a:cubicBezTo>
                    <a:pt x="235077" y="1845183"/>
                    <a:pt x="231902" y="1854200"/>
                    <a:pt x="228219" y="1863090"/>
                  </a:cubicBezTo>
                  <a:cubicBezTo>
                    <a:pt x="212725" y="1899666"/>
                    <a:pt x="190627" y="1932432"/>
                    <a:pt x="162560" y="1960499"/>
                  </a:cubicBezTo>
                  <a:cubicBezTo>
                    <a:pt x="134493" y="1988566"/>
                    <a:pt x="101600" y="2010791"/>
                    <a:pt x="65151" y="2026158"/>
                  </a:cubicBezTo>
                  <a:cubicBezTo>
                    <a:pt x="44069" y="2035048"/>
                    <a:pt x="22352" y="2041525"/>
                    <a:pt x="0" y="2045462"/>
                  </a:cubicBezTo>
                  <a:cubicBezTo>
                    <a:pt x="22352" y="2049399"/>
                    <a:pt x="44069" y="2055876"/>
                    <a:pt x="65151" y="2064766"/>
                  </a:cubicBezTo>
                  <a:cubicBezTo>
                    <a:pt x="101727" y="2080260"/>
                    <a:pt x="134493" y="2102358"/>
                    <a:pt x="162560" y="2130425"/>
                  </a:cubicBezTo>
                  <a:cubicBezTo>
                    <a:pt x="190754" y="2158619"/>
                    <a:pt x="212852" y="2191385"/>
                    <a:pt x="228219" y="2227834"/>
                  </a:cubicBezTo>
                  <a:cubicBezTo>
                    <a:pt x="231902" y="2236724"/>
                    <a:pt x="235204" y="2245614"/>
                    <a:pt x="237998" y="2254758"/>
                  </a:cubicBezTo>
                  <a:lnTo>
                    <a:pt x="237998" y="8359775"/>
                  </a:lnTo>
                  <a:cubicBezTo>
                    <a:pt x="237998" y="8371078"/>
                    <a:pt x="242316" y="8381619"/>
                    <a:pt x="250317" y="8389620"/>
                  </a:cubicBezTo>
                  <a:lnTo>
                    <a:pt x="634111" y="8772144"/>
                  </a:lnTo>
                  <a:cubicBezTo>
                    <a:pt x="642112" y="8780145"/>
                    <a:pt x="652780" y="8784589"/>
                    <a:pt x="664083" y="8784589"/>
                  </a:cubicBezTo>
                  <a:lnTo>
                    <a:pt x="6463792" y="8784589"/>
                  </a:lnTo>
                  <a:cubicBezTo>
                    <a:pt x="6475095" y="8784589"/>
                    <a:pt x="6485890" y="8780145"/>
                    <a:pt x="6493891" y="8772144"/>
                  </a:cubicBezTo>
                  <a:lnTo>
                    <a:pt x="6874637" y="8390889"/>
                  </a:lnTo>
                  <a:cubicBezTo>
                    <a:pt x="6882638" y="8382888"/>
                    <a:pt x="6887083" y="8372221"/>
                    <a:pt x="6887083" y="8360918"/>
                  </a:cubicBezTo>
                  <a:lnTo>
                    <a:pt x="6887083" y="6948678"/>
                  </a:lnTo>
                  <a:cubicBezTo>
                    <a:pt x="6890003" y="6939535"/>
                    <a:pt x="6893178" y="6930644"/>
                    <a:pt x="6896862" y="6921754"/>
                  </a:cubicBezTo>
                  <a:cubicBezTo>
                    <a:pt x="6912355" y="6885178"/>
                    <a:pt x="6934454" y="6852412"/>
                    <a:pt x="6962521" y="6824345"/>
                  </a:cubicBezTo>
                  <a:cubicBezTo>
                    <a:pt x="6990714" y="6796152"/>
                    <a:pt x="7023480" y="6774053"/>
                    <a:pt x="7059929" y="6758687"/>
                  </a:cubicBezTo>
                  <a:cubicBezTo>
                    <a:pt x="7081011" y="6749797"/>
                    <a:pt x="7102728" y="6743319"/>
                    <a:pt x="7125080" y="6739382"/>
                  </a:cubicBezTo>
                  <a:cubicBezTo>
                    <a:pt x="7102729" y="6735318"/>
                    <a:pt x="7080885" y="6728841"/>
                    <a:pt x="7059803" y="6719951"/>
                  </a:cubicBezTo>
                  <a:close/>
                  <a:moveTo>
                    <a:pt x="6860921" y="8377682"/>
                  </a:moveTo>
                  <a:lnTo>
                    <a:pt x="6480175" y="8758936"/>
                  </a:lnTo>
                  <a:cubicBezTo>
                    <a:pt x="6475730" y="8763381"/>
                    <a:pt x="6469888" y="8765794"/>
                    <a:pt x="6463538" y="8765794"/>
                  </a:cubicBezTo>
                  <a:lnTo>
                    <a:pt x="663956" y="8765794"/>
                  </a:lnTo>
                  <a:cubicBezTo>
                    <a:pt x="657733" y="8765794"/>
                    <a:pt x="651764" y="8763381"/>
                    <a:pt x="647446" y="8758936"/>
                  </a:cubicBezTo>
                  <a:lnTo>
                    <a:pt x="265049" y="8377809"/>
                  </a:lnTo>
                  <a:lnTo>
                    <a:pt x="263779" y="8376539"/>
                  </a:lnTo>
                  <a:cubicBezTo>
                    <a:pt x="259461" y="8372094"/>
                    <a:pt x="257048" y="8366252"/>
                    <a:pt x="257048" y="8360029"/>
                  </a:cubicBezTo>
                  <a:lnTo>
                    <a:pt x="257048" y="2255012"/>
                  </a:lnTo>
                  <a:cubicBezTo>
                    <a:pt x="259969" y="2245868"/>
                    <a:pt x="263144" y="2236978"/>
                    <a:pt x="266827" y="2228088"/>
                  </a:cubicBezTo>
                  <a:cubicBezTo>
                    <a:pt x="282321" y="2191512"/>
                    <a:pt x="304419" y="2158746"/>
                    <a:pt x="332486" y="2130679"/>
                  </a:cubicBezTo>
                  <a:cubicBezTo>
                    <a:pt x="360680" y="2102485"/>
                    <a:pt x="393446" y="2080387"/>
                    <a:pt x="429895" y="2065020"/>
                  </a:cubicBezTo>
                  <a:cubicBezTo>
                    <a:pt x="450977" y="2056130"/>
                    <a:pt x="472694" y="2049653"/>
                    <a:pt x="495046" y="2045716"/>
                  </a:cubicBezTo>
                  <a:cubicBezTo>
                    <a:pt x="472694" y="2041779"/>
                    <a:pt x="450977" y="2035302"/>
                    <a:pt x="429895" y="2026412"/>
                  </a:cubicBezTo>
                  <a:cubicBezTo>
                    <a:pt x="393446" y="2010918"/>
                    <a:pt x="360553" y="1988820"/>
                    <a:pt x="332486" y="1960753"/>
                  </a:cubicBezTo>
                  <a:cubicBezTo>
                    <a:pt x="304419" y="1932686"/>
                    <a:pt x="282194" y="1899793"/>
                    <a:pt x="266827" y="1863344"/>
                  </a:cubicBezTo>
                  <a:cubicBezTo>
                    <a:pt x="263144" y="1854454"/>
                    <a:pt x="259842" y="1845564"/>
                    <a:pt x="257048" y="1836420"/>
                  </a:cubicBezTo>
                  <a:lnTo>
                    <a:pt x="257048" y="424815"/>
                  </a:lnTo>
                  <a:cubicBezTo>
                    <a:pt x="257048" y="418592"/>
                    <a:pt x="259588" y="412623"/>
                    <a:pt x="263906" y="408178"/>
                  </a:cubicBezTo>
                  <a:lnTo>
                    <a:pt x="647446" y="25908"/>
                  </a:lnTo>
                  <a:cubicBezTo>
                    <a:pt x="651891" y="21463"/>
                    <a:pt x="657733" y="19050"/>
                    <a:pt x="663956" y="19050"/>
                  </a:cubicBezTo>
                  <a:lnTo>
                    <a:pt x="6463665" y="19050"/>
                  </a:lnTo>
                  <a:cubicBezTo>
                    <a:pt x="6469888" y="19050"/>
                    <a:pt x="6475984" y="21590"/>
                    <a:pt x="6480429" y="26162"/>
                  </a:cubicBezTo>
                  <a:lnTo>
                    <a:pt x="6861048" y="408305"/>
                  </a:lnTo>
                  <a:cubicBezTo>
                    <a:pt x="6865492" y="412750"/>
                    <a:pt x="6867905" y="418592"/>
                    <a:pt x="6867905" y="424815"/>
                  </a:cubicBezTo>
                  <a:lnTo>
                    <a:pt x="6867905" y="6529832"/>
                  </a:lnTo>
                  <a:cubicBezTo>
                    <a:pt x="6864985" y="6538849"/>
                    <a:pt x="6861810" y="6547865"/>
                    <a:pt x="6858126" y="6556756"/>
                  </a:cubicBezTo>
                  <a:cubicBezTo>
                    <a:pt x="6842633" y="6593332"/>
                    <a:pt x="6820534" y="6626098"/>
                    <a:pt x="6792467" y="6654164"/>
                  </a:cubicBezTo>
                  <a:cubicBezTo>
                    <a:pt x="6764274" y="6682358"/>
                    <a:pt x="6731508" y="6704457"/>
                    <a:pt x="6695059" y="6719823"/>
                  </a:cubicBezTo>
                  <a:cubicBezTo>
                    <a:pt x="6673977" y="6728713"/>
                    <a:pt x="6652260" y="6735190"/>
                    <a:pt x="6629908" y="6739127"/>
                  </a:cubicBezTo>
                  <a:cubicBezTo>
                    <a:pt x="6652260" y="6743064"/>
                    <a:pt x="6673976" y="6749542"/>
                    <a:pt x="6695059" y="6758432"/>
                  </a:cubicBezTo>
                  <a:cubicBezTo>
                    <a:pt x="6731635" y="6773925"/>
                    <a:pt x="6764401" y="6796024"/>
                    <a:pt x="6792467" y="6824090"/>
                  </a:cubicBezTo>
                  <a:cubicBezTo>
                    <a:pt x="6820661" y="6852284"/>
                    <a:pt x="6842760" y="6885050"/>
                    <a:pt x="6858126" y="6921499"/>
                  </a:cubicBezTo>
                  <a:cubicBezTo>
                    <a:pt x="6861809" y="6930389"/>
                    <a:pt x="6865111" y="6939280"/>
                    <a:pt x="6867905" y="6948423"/>
                  </a:cubicBezTo>
                  <a:lnTo>
                    <a:pt x="6867905" y="8360918"/>
                  </a:lnTo>
                  <a:cubicBezTo>
                    <a:pt x="6867779" y="8367395"/>
                    <a:pt x="6865366" y="8373237"/>
                    <a:pt x="6860921" y="8377682"/>
                  </a:cubicBezTo>
                  <a:close/>
                </a:path>
              </a:pathLst>
            </a:custGeom>
            <a:solidFill>
              <a:srgbClr val="48B1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398135" y="4707572"/>
            <a:ext cx="6999886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Gabriel Paulinelli Fiuza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23 anos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Ouro Preto - MG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Engenharia de controle e automação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8° período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27648" y="847725"/>
            <a:ext cx="6632703" cy="16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sz="954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OBJETIVOS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90975" y="3800250"/>
            <a:ext cx="12106050" cy="25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776" indent="-535888" lvl="1">
              <a:lnSpc>
                <a:spcPts val="6949"/>
              </a:lnSpc>
              <a:buFont typeface="Arial"/>
              <a:buChar char="•"/>
            </a:pPr>
            <a:r>
              <a:rPr lang="en-US" b="true" sz="4964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Entender como sites são feitos.</a:t>
            </a:r>
          </a:p>
          <a:p>
            <a:pPr algn="l" marL="1071776" indent="-535888" lvl="1">
              <a:lnSpc>
                <a:spcPts val="6949"/>
              </a:lnSpc>
              <a:buFont typeface="Arial"/>
              <a:buChar char="•"/>
            </a:pPr>
            <a:r>
              <a:rPr lang="en-US" b="true" sz="4964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Criar sua primeira página.</a:t>
            </a:r>
          </a:p>
          <a:p>
            <a:pPr algn="l" marL="1071776" indent="-535888" lvl="1">
              <a:lnSpc>
                <a:spcPts val="6949"/>
              </a:lnSpc>
              <a:buFont typeface="Arial"/>
              <a:buChar char="•"/>
            </a:pPr>
            <a:r>
              <a:rPr lang="en-US" b="true" sz="4964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Publicar seu portfólio na internet.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7108" y="3170464"/>
            <a:ext cx="9813784" cy="332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68"/>
              </a:lnSpc>
            </a:pPr>
            <a:r>
              <a:rPr lang="en-US" sz="954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VISUAL STUDIO CODE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43269" y="2865210"/>
            <a:ext cx="10629936" cy="490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4478" indent="-502239" lvl="1">
              <a:lnSpc>
                <a:spcPts val="6513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Live Server</a:t>
            </a:r>
          </a:p>
          <a:p>
            <a:pPr algn="l" marL="1004478" indent="-502239" lvl="1">
              <a:lnSpc>
                <a:spcPts val="6513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Auto rename tag</a:t>
            </a:r>
          </a:p>
          <a:p>
            <a:pPr algn="l" marL="1004478" indent="-502239" lvl="1">
              <a:lnSpc>
                <a:spcPts val="6513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Path Intellisense</a:t>
            </a:r>
          </a:p>
          <a:p>
            <a:pPr algn="l" marL="1004478" indent="-502239" lvl="1">
              <a:lnSpc>
                <a:spcPts val="6513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Prettier</a:t>
            </a:r>
          </a:p>
          <a:p>
            <a:pPr algn="l" marL="1004478" indent="-502239" lvl="1">
              <a:lnSpc>
                <a:spcPts val="6513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One Dark Pro</a:t>
            </a:r>
          </a:p>
          <a:p>
            <a:pPr algn="l" marL="1004478" indent="-502239" lvl="1">
              <a:lnSpc>
                <a:spcPts val="6513"/>
              </a:lnSpc>
              <a:spcBef>
                <a:spcPct val="0"/>
              </a:spcBef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vscode-icons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32049" y="577859"/>
            <a:ext cx="6423901" cy="96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7"/>
              </a:lnSpc>
            </a:pPr>
            <a:r>
              <a:rPr lang="en-US" sz="5597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EXTENSÕES ÚTEIS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54857" y="2514491"/>
            <a:ext cx="8145825" cy="7523574"/>
          </a:xfrm>
          <a:custGeom>
            <a:avLst/>
            <a:gdLst/>
            <a:ahLst/>
            <a:cxnLst/>
            <a:rect r="r" b="b" t="t" l="l"/>
            <a:pathLst>
              <a:path h="7523574" w="8145825">
                <a:moveTo>
                  <a:pt x="0" y="0"/>
                </a:moveTo>
                <a:lnTo>
                  <a:pt x="8145825" y="0"/>
                </a:lnTo>
                <a:lnTo>
                  <a:pt x="8145825" y="7523574"/>
                </a:lnTo>
                <a:lnTo>
                  <a:pt x="0" y="7523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1429" y="1584280"/>
            <a:ext cx="4631779" cy="72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8121" indent="-459061" lvl="1">
              <a:lnSpc>
                <a:spcPts val="5953"/>
              </a:lnSpc>
              <a:buFont typeface="Arial"/>
              <a:buChar char="•"/>
            </a:pPr>
            <a:r>
              <a:rPr lang="en-US" sz="42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vscode-icons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87318" y="487884"/>
            <a:ext cx="8313364" cy="96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7"/>
              </a:lnSpc>
            </a:pPr>
            <a:r>
              <a:rPr lang="en-US" sz="5597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ESTRUTURA DE PASTAS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4369" y="3107057"/>
            <a:ext cx="7319261" cy="28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70"/>
              </a:lnSpc>
            </a:pPr>
            <a:r>
              <a:rPr lang="en-US" sz="16621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FIGMA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06687" y="914400"/>
            <a:ext cx="3874627" cy="96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7"/>
              </a:lnSpc>
            </a:pPr>
            <a:r>
              <a:rPr lang="en-US" sz="5597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DEVTOOLS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98282" y="3429387"/>
            <a:ext cx="10629936" cy="314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4479" indent="-502240" lvl="1">
              <a:lnSpc>
                <a:spcPts val="8514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Inspecionar elementos</a:t>
            </a:r>
          </a:p>
          <a:p>
            <a:pPr algn="l" marL="1004479" indent="-502240" lvl="1">
              <a:lnSpc>
                <a:spcPts val="8514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Alterar CSS em tempo real</a:t>
            </a:r>
          </a:p>
          <a:p>
            <a:pPr algn="l" marL="1004479" indent="-502240" lvl="1">
              <a:lnSpc>
                <a:spcPts val="8514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Responsividade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55780" y="914400"/>
            <a:ext cx="14176440" cy="96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7"/>
              </a:lnSpc>
            </a:pPr>
            <a:r>
              <a:rPr lang="en-US" sz="5597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BOAS PRATICAS DE NOMENCLATURA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29032" y="3114476"/>
            <a:ext cx="10629936" cy="314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04479" indent="-502240" lvl="1">
              <a:lnSpc>
                <a:spcPts val="8514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Nome de classes</a:t>
            </a:r>
          </a:p>
          <a:p>
            <a:pPr algn="just" marL="1004479" indent="-502240" lvl="1">
              <a:lnSpc>
                <a:spcPts val="8514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Arquivos</a:t>
            </a:r>
          </a:p>
          <a:p>
            <a:pPr algn="just" marL="1004479" indent="-502240" lvl="1">
              <a:lnSpc>
                <a:spcPts val="8514"/>
              </a:lnSpc>
              <a:buFont typeface="Arial"/>
              <a:buChar char="•"/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Comentários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8407" y="567694"/>
            <a:ext cx="9371187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INTRODUÇÃO AO FRONT-END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a parte visível de uma aplicação, aquilo que o usuário interage diretamente.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Linguagens principais: HTML, CSS, JavaScript</a:t>
            </a:r>
          </a:p>
          <a:p>
            <a:pPr algn="l" marL="1468138" indent="-489379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Estrutura da página (HTML)</a:t>
            </a:r>
          </a:p>
          <a:p>
            <a:pPr algn="l" marL="1468138" indent="-489379" lvl="2">
              <a:lnSpc>
                <a:spcPts val="4760"/>
              </a:lnSpc>
              <a:buFont typeface="Arial"/>
              <a:buChar char="⚬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Estilo e aparência (CSS)</a:t>
            </a:r>
          </a:p>
          <a:p>
            <a:pPr algn="l" marL="1468138" indent="-489379" lvl="2">
              <a:lnSpc>
                <a:spcPts val="4760"/>
              </a:lnSpc>
              <a:spcBef>
                <a:spcPct val="0"/>
              </a:spcBef>
              <a:buFont typeface="Arial"/>
              <a:buChar char="⚬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Interatividade no navegador (JavaScript)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a parte lógica </a:t>
            </a: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interna de uma aplicação, aquilo que roda “nos bastidores” e o usuário não vê.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Regras de negócio (o que o sistema deve fazer)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Comunicação com o banco de dados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Autenticação de usuários</a:t>
            </a:r>
          </a:p>
          <a:p>
            <a:pPr algn="l" marL="734069" indent="-367035" lvl="1">
              <a:lnSpc>
                <a:spcPts val="4760"/>
              </a:lnSpc>
              <a:spcBef>
                <a:spcPct val="0"/>
              </a:spcBef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Processamento de informações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BACK-END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FRONT-END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2145" y="1491577"/>
            <a:ext cx="16713141" cy="776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4999" b="true">
                <a:solidFill>
                  <a:srgbClr val="FF751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HTML (HyperText Markup Language)</a:t>
            </a:r>
          </a:p>
          <a:p>
            <a:pPr algn="ctr">
              <a:lnSpc>
                <a:spcPts val="8498"/>
              </a:lnSpc>
            </a:pPr>
          </a:p>
          <a:p>
            <a:pPr algn="l" marL="788032" indent="-394016" lvl="1">
              <a:lnSpc>
                <a:spcPts val="6204"/>
              </a:lnSpc>
              <a:buFont typeface="Arial"/>
              <a:buChar char="•"/>
            </a:pPr>
            <a:r>
              <a:rPr lang="en-US" sz="364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a linguagem de marcação usada para estruturar o conteúdo de uma página web.</a:t>
            </a:r>
          </a:p>
          <a:p>
            <a:pPr algn="l" marL="788032" indent="-394016" lvl="1">
              <a:lnSpc>
                <a:spcPts val="6204"/>
              </a:lnSpc>
              <a:buFont typeface="Arial"/>
              <a:buChar char="•"/>
            </a:pPr>
            <a:r>
              <a:rPr lang="en-US" sz="364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define o que aparece na tela: títulos, parágrafos, imagens, links, listas, formulários etc.</a:t>
            </a:r>
          </a:p>
          <a:p>
            <a:pPr algn="l" marL="788032" indent="-394016" lvl="1">
              <a:lnSpc>
                <a:spcPts val="6204"/>
              </a:lnSpc>
              <a:buFont typeface="Arial"/>
              <a:buChar char="•"/>
            </a:pPr>
            <a:r>
              <a:rPr lang="en-US" sz="364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Pense no HTML como os tijolos e vigas de uma casa: dá a forma, mas não o estilo.</a:t>
            </a:r>
          </a:p>
          <a:p>
            <a:pPr algn="l">
              <a:lnSpc>
                <a:spcPts val="7278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32348" y="669993"/>
            <a:ext cx="4623305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HTML NA WEB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3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3658" y="3070182"/>
            <a:ext cx="16135642" cy="4146635"/>
          </a:xfrm>
          <a:custGeom>
            <a:avLst/>
            <a:gdLst/>
            <a:ahLst/>
            <a:cxnLst/>
            <a:rect r="r" b="b" t="t" l="l"/>
            <a:pathLst>
              <a:path h="4146635" w="16135642">
                <a:moveTo>
                  <a:pt x="0" y="0"/>
                </a:moveTo>
                <a:lnTo>
                  <a:pt x="16135642" y="0"/>
                </a:lnTo>
                <a:lnTo>
                  <a:pt x="16135642" y="4146636"/>
                </a:lnTo>
                <a:lnTo>
                  <a:pt x="0" y="4146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59" t="-38419" r="-9538" b="-37117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9517" y="1546727"/>
            <a:ext cx="16728967" cy="679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8"/>
              </a:lnSpc>
            </a:pPr>
            <a:r>
              <a:rPr lang="en-US" sz="4999" b="true">
                <a:solidFill>
                  <a:srgbClr val="005ADB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CSS (Cascading Style Sheets)</a:t>
            </a:r>
          </a:p>
          <a:p>
            <a:pPr algn="ctr">
              <a:lnSpc>
                <a:spcPts val="8498"/>
              </a:lnSpc>
            </a:pPr>
          </a:p>
          <a:p>
            <a:pPr algn="l" marL="788032" indent="-394016" lvl="1">
              <a:lnSpc>
                <a:spcPts val="6204"/>
              </a:lnSpc>
              <a:buFont typeface="Arial"/>
              <a:buChar char="•"/>
            </a:pPr>
            <a:r>
              <a:rPr lang="en-US" sz="364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a linguagem de estilo usada para definir a aparência visual da página.</a:t>
            </a:r>
          </a:p>
          <a:p>
            <a:pPr algn="l" marL="788032" indent="-394016" lvl="1">
              <a:lnSpc>
                <a:spcPts val="6204"/>
              </a:lnSpc>
              <a:buFont typeface="Arial"/>
              <a:buChar char="•"/>
            </a:pPr>
            <a:r>
              <a:rPr lang="en-US" sz="364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define como o conteúdo aparece: cores, fontes, tamanhos, espaçamentos, alinhamentos, responsividade etc.</a:t>
            </a:r>
          </a:p>
          <a:p>
            <a:pPr algn="l" marL="788032" indent="-394016" lvl="1">
              <a:lnSpc>
                <a:spcPts val="6204"/>
              </a:lnSpc>
              <a:buFont typeface="Arial"/>
              <a:buChar char="•"/>
            </a:pPr>
            <a:r>
              <a:rPr lang="en-US" sz="364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Pense no CSS como a pintura, decoração e móveis da casa: deixa a estrutura agradável e utilizável.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33047" y="567694"/>
            <a:ext cx="4021907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 NA WEB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18B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4486" y="684163"/>
            <a:ext cx="10471550" cy="8918673"/>
          </a:xfrm>
          <a:custGeom>
            <a:avLst/>
            <a:gdLst/>
            <a:ahLst/>
            <a:cxnLst/>
            <a:rect r="r" b="b" t="t" l="l"/>
            <a:pathLst>
              <a:path h="8918673" w="10471550">
                <a:moveTo>
                  <a:pt x="0" y="0"/>
                </a:moveTo>
                <a:lnTo>
                  <a:pt x="10471550" y="0"/>
                </a:lnTo>
                <a:lnTo>
                  <a:pt x="10471550" y="8918674"/>
                </a:lnTo>
                <a:lnTo>
                  <a:pt x="0" y="8918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27" t="-21645" r="-18556" b="-22012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60504" y="721407"/>
            <a:ext cx="7566992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FERRAMENTAS BÁSICAS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4341" y="2169488"/>
            <a:ext cx="17693659" cy="669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774" indent="-360887" lvl="1">
              <a:lnSpc>
                <a:spcPts val="6686"/>
              </a:lnSpc>
              <a:buFont typeface="Arial"/>
              <a:buChar char="•"/>
            </a:pPr>
            <a:r>
              <a:rPr lang="en-US" b="true" sz="3343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EDITOR DE CÓDIGO</a:t>
            </a:r>
          </a:p>
          <a:p>
            <a:pPr algn="l" marL="1443548" indent="-481183" lvl="2">
              <a:lnSpc>
                <a:spcPts val="6686"/>
              </a:lnSpc>
              <a:buFont typeface="Arial"/>
              <a:buChar char="⚬"/>
            </a:pPr>
            <a:r>
              <a:rPr lang="en-US" b="true" sz="33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ONDE O DESENVOLVEDOR ESCREVE O HTML, CSS E JAVASCRIPT.</a:t>
            </a:r>
          </a:p>
          <a:p>
            <a:pPr algn="l" marL="1443548" indent="-481183" lvl="2">
              <a:lnSpc>
                <a:spcPts val="6686"/>
              </a:lnSpc>
              <a:buFont typeface="Arial"/>
              <a:buChar char="⚬"/>
            </a:pPr>
            <a:r>
              <a:rPr lang="en-US" b="true" sz="33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MAIS POPULAR É O VISUAL STUDIO CODE (VS CODE), GRATUITO E CHEIO DE EXTENSÕES ÚTEIS.</a:t>
            </a:r>
          </a:p>
          <a:p>
            <a:pPr algn="l" marL="721774" indent="-360887" lvl="1">
              <a:lnSpc>
                <a:spcPts val="6686"/>
              </a:lnSpc>
              <a:buFont typeface="Arial"/>
              <a:buChar char="•"/>
            </a:pPr>
            <a:r>
              <a:rPr lang="en-US" b="true" sz="3343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BENEFÍCIOS:</a:t>
            </a:r>
          </a:p>
          <a:p>
            <a:pPr algn="l" marL="1443548" indent="-481183" lvl="2">
              <a:lnSpc>
                <a:spcPts val="6686"/>
              </a:lnSpc>
              <a:buFont typeface="Arial"/>
              <a:buChar char="⚬"/>
            </a:pPr>
            <a:r>
              <a:rPr lang="en-US" b="true" sz="33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REALCE DE SINTAXE (COLORIR O CÓDIGO PARA FACILITAR LEITURA)</a:t>
            </a:r>
          </a:p>
          <a:p>
            <a:pPr algn="l" marL="1443548" indent="-481183" lvl="2">
              <a:lnSpc>
                <a:spcPts val="6686"/>
              </a:lnSpc>
              <a:buFont typeface="Arial"/>
              <a:buChar char="⚬"/>
            </a:pPr>
            <a:r>
              <a:rPr lang="en-US" b="true" sz="33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SUGESTÕES AUTOMÁTICAS (AUTOCOMPLETE)</a:t>
            </a:r>
          </a:p>
          <a:p>
            <a:pPr algn="l" marL="1443548" indent="-481183" lvl="2">
              <a:lnSpc>
                <a:spcPts val="6686"/>
              </a:lnSpc>
              <a:buFont typeface="Arial"/>
              <a:buChar char="⚬"/>
            </a:pPr>
            <a:r>
              <a:rPr lang="en-US" b="true" sz="33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GERENCIAMENTO DE PROJETOS E ARQUIVOS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48701" y="942975"/>
            <a:ext cx="5590599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DOCUMENTAÇÃO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76247" y="3213133"/>
            <a:ext cx="4178290" cy="174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0182" indent="-440091" lvl="1">
              <a:lnSpc>
                <a:spcPts val="7134"/>
              </a:lnSpc>
              <a:buFont typeface="Arial"/>
              <a:buChar char="•"/>
            </a:pPr>
            <a:r>
              <a:rPr lang="en-US" sz="407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W3SCHOOLS</a:t>
            </a:r>
          </a:p>
          <a:p>
            <a:pPr algn="l" marL="880182" indent="-440091" lvl="1">
              <a:lnSpc>
                <a:spcPts val="7134"/>
              </a:lnSpc>
              <a:buFont typeface="Arial"/>
              <a:buChar char="•"/>
            </a:pPr>
            <a:r>
              <a:rPr lang="en-US" sz="407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MDN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106378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03289" y="923925"/>
            <a:ext cx="6881422" cy="96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56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PRIMEIRA PRÁTICA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9220" y="3110534"/>
            <a:ext cx="15407634" cy="203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54033" indent="-684678" lvl="2">
              <a:lnSpc>
                <a:spcPts val="8324"/>
              </a:lnSpc>
              <a:buFont typeface="Arial"/>
              <a:buChar char="⚬"/>
            </a:pPr>
            <a:r>
              <a:rPr lang="en-US" sz="475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UM ARQUIVO CHAMADO ‘INDEX.HTML</a:t>
            </a:r>
          </a:p>
          <a:p>
            <a:pPr algn="l" marL="2054033" indent="-684678" lvl="2">
              <a:lnSpc>
                <a:spcPts val="8324"/>
              </a:lnSpc>
              <a:buFont typeface="Arial"/>
              <a:buChar char="⚬"/>
            </a:pPr>
            <a:r>
              <a:rPr lang="en-US" b="true" sz="475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ABRA ESSE ARQUIVO NO SEU NAVEGADOR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91857" y="3225756"/>
            <a:ext cx="7504286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0"/>
              </a:lnSpc>
              <a:spcBef>
                <a:spcPct val="0"/>
              </a:spcBef>
            </a:pPr>
            <a:r>
              <a:rPr lang="en-US" sz="20335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HTML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40873"/>
            <a:ext cx="18288000" cy="8246127"/>
          </a:xfrm>
          <a:custGeom>
            <a:avLst/>
            <a:gdLst/>
            <a:ahLst/>
            <a:cxnLst/>
            <a:rect r="r" b="b" t="t" l="l"/>
            <a:pathLst>
              <a:path h="8246127" w="18288000">
                <a:moveTo>
                  <a:pt x="0" y="0"/>
                </a:moveTo>
                <a:lnTo>
                  <a:pt x="18288000" y="0"/>
                </a:lnTo>
                <a:lnTo>
                  <a:pt x="18288000" y="8246127"/>
                </a:lnTo>
                <a:lnTo>
                  <a:pt x="0" y="8246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1" t="-2281" r="0" b="-836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53495"/>
            <a:ext cx="16657894" cy="6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347" indent="-352673" lvl="1">
              <a:lnSpc>
                <a:spcPts val="5717"/>
              </a:lnSpc>
              <a:buFont typeface="Arial"/>
              <a:buChar char="•"/>
            </a:pPr>
            <a:r>
              <a:rPr lang="en-US" sz="326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ESTRUTURA BASICA (!)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86594" y="244317"/>
            <a:ext cx="3114813" cy="140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7"/>
              </a:lnSpc>
            </a:pPr>
            <a:r>
              <a:rPr lang="en-US" sz="8169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HTML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1036" y="1753309"/>
            <a:ext cx="9577984" cy="8402314"/>
          </a:xfrm>
          <a:custGeom>
            <a:avLst/>
            <a:gdLst/>
            <a:ahLst/>
            <a:cxnLst/>
            <a:rect r="r" b="b" t="t" l="l"/>
            <a:pathLst>
              <a:path h="8402314" w="9577984">
                <a:moveTo>
                  <a:pt x="0" y="0"/>
                </a:moveTo>
                <a:lnTo>
                  <a:pt x="9577983" y="0"/>
                </a:lnTo>
                <a:lnTo>
                  <a:pt x="9577983" y="8402314"/>
                </a:lnTo>
                <a:lnTo>
                  <a:pt x="0" y="8402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235" r="0" b="-6341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79552" y="244721"/>
            <a:ext cx="7060929" cy="108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2"/>
              </a:lnSpc>
            </a:pPr>
            <a:r>
              <a:rPr lang="en-US" sz="6315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TAGS ESSENCIAIS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70774"/>
            <a:ext cx="6862336" cy="634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5"/>
              </a:lnSpc>
            </a:pPr>
            <a:r>
              <a:rPr lang="en-US" sz="698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&lt;h1&gt;      &lt;p&gt;</a:t>
            </a:r>
          </a:p>
          <a:p>
            <a:pPr algn="l">
              <a:lnSpc>
                <a:spcPts val="12775"/>
              </a:lnSpc>
            </a:pPr>
            <a:r>
              <a:rPr lang="en-US" sz="698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&lt;a&gt;        &lt;ul&gt; </a:t>
            </a:r>
          </a:p>
          <a:p>
            <a:pPr algn="l">
              <a:lnSpc>
                <a:spcPts val="12775"/>
              </a:lnSpc>
            </a:pPr>
            <a:r>
              <a:rPr lang="en-US" sz="698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&lt;div&gt;    &lt;span&gt;</a:t>
            </a:r>
          </a:p>
          <a:p>
            <a:pPr algn="l">
              <a:lnSpc>
                <a:spcPts val="12775"/>
              </a:lnSpc>
            </a:pPr>
            <a:r>
              <a:rPr lang="en-US" sz="698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&lt;ol&gt;      &lt;li&gt;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84240" y="876300"/>
            <a:ext cx="10519520" cy="133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03"/>
              </a:lnSpc>
            </a:pPr>
            <a:r>
              <a:rPr lang="en-US" sz="7788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ATRIBUTOS GLOBAIS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40373" y="2538405"/>
            <a:ext cx="5798704" cy="66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51870" indent="-625935" lvl="1">
              <a:lnSpc>
                <a:spcPts val="10611"/>
              </a:lnSpc>
              <a:buFont typeface="Arial"/>
              <a:buChar char="•"/>
            </a:pPr>
            <a:r>
              <a:rPr lang="en-US" sz="57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ID</a:t>
            </a:r>
          </a:p>
          <a:p>
            <a:pPr algn="ctr" marL="1251870" indent="-625935" lvl="1">
              <a:lnSpc>
                <a:spcPts val="10611"/>
              </a:lnSpc>
              <a:buFont typeface="Arial"/>
              <a:buChar char="•"/>
            </a:pPr>
            <a:r>
              <a:rPr lang="en-US" sz="57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Class</a:t>
            </a:r>
          </a:p>
          <a:p>
            <a:pPr algn="ctr" marL="1251870" indent="-625935" lvl="1">
              <a:lnSpc>
                <a:spcPts val="10611"/>
              </a:lnSpc>
              <a:buFont typeface="Arial"/>
              <a:buChar char="•"/>
            </a:pPr>
            <a:r>
              <a:rPr lang="en-US" sz="57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Title</a:t>
            </a:r>
          </a:p>
          <a:p>
            <a:pPr algn="ctr" marL="1251870" indent="-625935" lvl="1">
              <a:lnSpc>
                <a:spcPts val="10611"/>
              </a:lnSpc>
              <a:buFont typeface="Arial"/>
              <a:buChar char="•"/>
            </a:pPr>
            <a:r>
              <a:rPr lang="en-US" sz="57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Hidden</a:t>
            </a:r>
          </a:p>
          <a:p>
            <a:pPr algn="ctr" marL="1251870" indent="-625935" lvl="1">
              <a:lnSpc>
                <a:spcPts val="10611"/>
              </a:lnSpc>
              <a:buFont typeface="Arial"/>
              <a:buChar char="•"/>
            </a:pPr>
            <a:r>
              <a:rPr lang="en-US" sz="57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Style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0991" y="904875"/>
            <a:ext cx="6746019" cy="108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2"/>
              </a:lnSpc>
            </a:pPr>
            <a:r>
              <a:rPr lang="en-US" sz="6315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ANCOR &amp; IMAGE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29032" y="2189839"/>
            <a:ext cx="10629936" cy="2066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4"/>
              </a:lnSpc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&lt;a&gt;</a:t>
            </a:r>
          </a:p>
          <a:p>
            <a:pPr algn="ctr">
              <a:lnSpc>
                <a:spcPts val="8514"/>
              </a:lnSpc>
            </a:pPr>
            <a:r>
              <a:rPr lang="en-US" sz="465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&lt;img&gt;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4960841"/>
            <a:ext cx="18288000" cy="4141053"/>
          </a:xfrm>
          <a:custGeom>
            <a:avLst/>
            <a:gdLst/>
            <a:ahLst/>
            <a:cxnLst/>
            <a:rect r="r" b="b" t="t" l="l"/>
            <a:pathLst>
              <a:path h="4141053" w="18288000">
                <a:moveTo>
                  <a:pt x="0" y="0"/>
                </a:moveTo>
                <a:lnTo>
                  <a:pt x="18288000" y="0"/>
                </a:lnTo>
                <a:lnTo>
                  <a:pt x="18288000" y="4141053"/>
                </a:lnTo>
                <a:lnTo>
                  <a:pt x="0" y="4141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21" t="-10983" r="-5964" b="-781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6186" y="1271761"/>
            <a:ext cx="12275629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sz="530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MONTANDO SUA PRIMEIRA PÁGINA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8316"/>
              </a:lnSpc>
              <a:buFont typeface="Arial"/>
              <a:buChar char="•"/>
            </a:pPr>
            <a:r>
              <a:rPr lang="en-US" sz="526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Monte uma página com HTML contendo:</a:t>
            </a:r>
          </a:p>
          <a:p>
            <a:pPr algn="l" marL="2272757" indent="-757586" lvl="2">
              <a:lnSpc>
                <a:spcPts val="8316"/>
              </a:lnSpc>
              <a:buFont typeface="Arial"/>
              <a:buChar char="⚬"/>
            </a:pPr>
            <a:r>
              <a:rPr lang="en-US" sz="526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texto</a:t>
            </a:r>
          </a:p>
          <a:p>
            <a:pPr algn="l" marL="2272757" indent="-757586" lvl="2">
              <a:lnSpc>
                <a:spcPts val="8316"/>
              </a:lnSpc>
              <a:buFont typeface="Arial"/>
              <a:buChar char="⚬"/>
            </a:pPr>
            <a:r>
              <a:rPr lang="en-US" sz="526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imagem</a:t>
            </a:r>
          </a:p>
          <a:p>
            <a:pPr algn="l" marL="2272757" indent="-757586" lvl="2">
              <a:lnSpc>
                <a:spcPts val="8316"/>
              </a:lnSpc>
              <a:buFont typeface="Arial"/>
              <a:buChar char="⚬"/>
            </a:pPr>
            <a:r>
              <a:rPr lang="en-US" sz="526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link</a:t>
            </a:r>
            <a:r>
              <a:rPr lang="en-US" sz="526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21385" y="4148227"/>
            <a:ext cx="11245230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NAVEGANDO ENTRE PAGINAS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21385" y="1670552"/>
            <a:ext cx="11245230" cy="99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1"/>
              </a:lnSpc>
              <a:spcBef>
                <a:spcPct val="0"/>
              </a:spcBef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772872"/>
            <a:ext cx="7747668" cy="4319294"/>
          </a:xfrm>
          <a:custGeom>
            <a:avLst/>
            <a:gdLst/>
            <a:ahLst/>
            <a:cxnLst/>
            <a:rect r="r" b="b" t="t" l="l"/>
            <a:pathLst>
              <a:path h="4319294" w="7747668">
                <a:moveTo>
                  <a:pt x="0" y="0"/>
                </a:moveTo>
                <a:lnTo>
                  <a:pt x="7747668" y="0"/>
                </a:lnTo>
                <a:lnTo>
                  <a:pt x="7747668" y="4319294"/>
                </a:lnTo>
                <a:lnTo>
                  <a:pt x="0" y="4319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575" t="-33302" r="-17575" b="-3063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10266"/>
            <a:ext cx="8985372" cy="4563674"/>
          </a:xfrm>
          <a:custGeom>
            <a:avLst/>
            <a:gdLst/>
            <a:ahLst/>
            <a:cxnLst/>
            <a:rect r="r" b="b" t="t" l="l"/>
            <a:pathLst>
              <a:path h="4563674" w="8985372">
                <a:moveTo>
                  <a:pt x="0" y="0"/>
                </a:moveTo>
                <a:lnTo>
                  <a:pt x="8985372" y="0"/>
                </a:lnTo>
                <a:lnTo>
                  <a:pt x="8985372" y="4563674"/>
                </a:lnTo>
                <a:lnTo>
                  <a:pt x="0" y="4563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16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30908" y="672030"/>
            <a:ext cx="10226184" cy="108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2"/>
              </a:lnSpc>
            </a:pPr>
            <a:r>
              <a:rPr lang="en-US" sz="6315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FORMATAÇÕES DE TEXTO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00279"/>
            <a:ext cx="18288000" cy="8237273"/>
          </a:xfrm>
          <a:custGeom>
            <a:avLst/>
            <a:gdLst/>
            <a:ahLst/>
            <a:cxnLst/>
            <a:rect r="r" b="b" t="t" l="l"/>
            <a:pathLst>
              <a:path h="8237273" w="18288000">
                <a:moveTo>
                  <a:pt x="0" y="0"/>
                </a:moveTo>
                <a:lnTo>
                  <a:pt x="18288000" y="0"/>
                </a:lnTo>
                <a:lnTo>
                  <a:pt x="18288000" y="8237273"/>
                </a:lnTo>
                <a:lnTo>
                  <a:pt x="0" y="8237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96" r="0" b="-166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32692" y="609015"/>
            <a:ext cx="5622615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FORMULÁRIOS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464" y="0"/>
            <a:ext cx="17599072" cy="10287000"/>
          </a:xfrm>
          <a:custGeom>
            <a:avLst/>
            <a:gdLst/>
            <a:ahLst/>
            <a:cxnLst/>
            <a:rect r="r" b="b" t="t" l="l"/>
            <a:pathLst>
              <a:path h="10287000" w="17599072">
                <a:moveTo>
                  <a:pt x="0" y="0"/>
                </a:moveTo>
                <a:lnTo>
                  <a:pt x="17599072" y="0"/>
                </a:lnTo>
                <a:lnTo>
                  <a:pt x="1759907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09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22974" y="478676"/>
            <a:ext cx="4842052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INPUT TYPES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70747" y="0"/>
            <a:ext cx="8136884" cy="10287000"/>
          </a:xfrm>
          <a:custGeom>
            <a:avLst/>
            <a:gdLst/>
            <a:ahLst/>
            <a:cxnLst/>
            <a:rect r="r" b="b" t="t" l="l"/>
            <a:pathLst>
              <a:path h="10287000" w="8136884">
                <a:moveTo>
                  <a:pt x="0" y="0"/>
                </a:moveTo>
                <a:lnTo>
                  <a:pt x="8136883" y="0"/>
                </a:lnTo>
                <a:lnTo>
                  <a:pt x="81368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36" t="-63747" r="-19485" b="-7036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6490" y="4593476"/>
            <a:ext cx="4842052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INPUT TYPES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766257"/>
            <a:ext cx="18288000" cy="7040880"/>
          </a:xfrm>
          <a:custGeom>
            <a:avLst/>
            <a:gdLst/>
            <a:ahLst/>
            <a:cxnLst/>
            <a:rect r="r" b="b" t="t" l="l"/>
            <a:pathLst>
              <a:path h="7040880" w="18288000">
                <a:moveTo>
                  <a:pt x="0" y="0"/>
                </a:moveTo>
                <a:lnTo>
                  <a:pt x="18288000" y="0"/>
                </a:lnTo>
                <a:lnTo>
                  <a:pt x="18288000" y="7040880"/>
                </a:lnTo>
                <a:lnTo>
                  <a:pt x="0" y="7040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22889" y="923925"/>
            <a:ext cx="4242223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CHECKBOX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913479"/>
            <a:ext cx="18288000" cy="6743700"/>
          </a:xfrm>
          <a:custGeom>
            <a:avLst/>
            <a:gdLst/>
            <a:ahLst/>
            <a:cxnLst/>
            <a:rect r="r" b="b" t="t" l="l"/>
            <a:pathLst>
              <a:path h="6743700" w="18288000">
                <a:moveTo>
                  <a:pt x="0" y="0"/>
                </a:moveTo>
                <a:lnTo>
                  <a:pt x="18288000" y="0"/>
                </a:lnTo>
                <a:lnTo>
                  <a:pt x="18288000" y="6743700"/>
                </a:lnTo>
                <a:lnTo>
                  <a:pt x="0" y="6743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92641" y="923925"/>
            <a:ext cx="2502718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RADIO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350" y="59853"/>
            <a:ext cx="17259300" cy="10227147"/>
          </a:xfrm>
          <a:custGeom>
            <a:avLst/>
            <a:gdLst/>
            <a:ahLst/>
            <a:cxnLst/>
            <a:rect r="r" b="b" t="t" l="l"/>
            <a:pathLst>
              <a:path h="10227147" w="17259300">
                <a:moveTo>
                  <a:pt x="0" y="0"/>
                </a:moveTo>
                <a:lnTo>
                  <a:pt x="17259300" y="0"/>
                </a:lnTo>
                <a:lnTo>
                  <a:pt x="17259300" y="10227147"/>
                </a:lnTo>
                <a:lnTo>
                  <a:pt x="0" y="10227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2" t="-2447" r="-941" b="-572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80173" y="478676"/>
            <a:ext cx="2727654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69315" y="2390013"/>
            <a:ext cx="8609466" cy="6519010"/>
          </a:xfrm>
          <a:custGeom>
            <a:avLst/>
            <a:gdLst/>
            <a:ahLst/>
            <a:cxnLst/>
            <a:rect r="r" b="b" t="t" l="l"/>
            <a:pathLst>
              <a:path h="6519010" w="8609466">
                <a:moveTo>
                  <a:pt x="0" y="0"/>
                </a:moveTo>
                <a:lnTo>
                  <a:pt x="8609466" y="0"/>
                </a:lnTo>
                <a:lnTo>
                  <a:pt x="8609466" y="6519010"/>
                </a:lnTo>
                <a:lnTo>
                  <a:pt x="0" y="6519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156" t="0" r="-1715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359" y="2390013"/>
            <a:ext cx="8470442" cy="6519010"/>
          </a:xfrm>
          <a:custGeom>
            <a:avLst/>
            <a:gdLst/>
            <a:ahLst/>
            <a:cxnLst/>
            <a:rect r="r" b="b" t="t" l="l"/>
            <a:pathLst>
              <a:path h="6519010" w="8470442">
                <a:moveTo>
                  <a:pt x="0" y="0"/>
                </a:moveTo>
                <a:lnTo>
                  <a:pt x="8470442" y="0"/>
                </a:lnTo>
                <a:lnTo>
                  <a:pt x="8470442" y="6519010"/>
                </a:lnTo>
                <a:lnTo>
                  <a:pt x="0" y="6519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156" t="0" r="-1715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93580" y="923925"/>
            <a:ext cx="9100841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TEXTAREA &amp; BUTTON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82773" y="923925"/>
            <a:ext cx="12522453" cy="94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4"/>
              </a:lnSpc>
            </a:pPr>
            <a:r>
              <a:rPr lang="en-US" sz="5510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CRIANDO UM FORMS DE CONTATO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1148" y="2518303"/>
            <a:ext cx="13644078" cy="65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4479" indent="-502240" lvl="1">
              <a:lnSpc>
                <a:spcPts val="5769"/>
              </a:lnSpc>
              <a:buFont typeface="Arial"/>
              <a:buChar char="•"/>
            </a:pPr>
            <a:r>
              <a:rPr lang="en-US" sz="4652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Nome</a:t>
            </a:r>
          </a:p>
          <a:p>
            <a:pPr algn="l" marL="1004479" indent="-502240" lvl="1">
              <a:lnSpc>
                <a:spcPts val="5769"/>
              </a:lnSpc>
              <a:buFont typeface="Arial"/>
              <a:buChar char="•"/>
            </a:pPr>
            <a:r>
              <a:rPr lang="en-US" sz="4652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Email</a:t>
            </a:r>
          </a:p>
          <a:p>
            <a:pPr algn="l" marL="1004479" indent="-502240" lvl="1">
              <a:lnSpc>
                <a:spcPts val="5769"/>
              </a:lnSpc>
              <a:buFont typeface="Arial"/>
              <a:buChar char="•"/>
            </a:pPr>
            <a:r>
              <a:rPr lang="en-US" sz="4652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Telefone</a:t>
            </a:r>
          </a:p>
          <a:p>
            <a:pPr algn="l" marL="1004479" indent="-502240" lvl="1">
              <a:lnSpc>
                <a:spcPts val="5769"/>
              </a:lnSpc>
              <a:buFont typeface="Arial"/>
              <a:buChar char="•"/>
            </a:pPr>
            <a:r>
              <a:rPr lang="en-US" sz="4652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Preferência de contato (email, whatsapp, instagram)</a:t>
            </a:r>
          </a:p>
          <a:p>
            <a:pPr algn="l" marL="1004479" indent="-502240" lvl="1">
              <a:lnSpc>
                <a:spcPts val="5769"/>
              </a:lnSpc>
              <a:buFont typeface="Arial"/>
              <a:buChar char="•"/>
            </a:pPr>
            <a:r>
              <a:rPr lang="en-US" sz="4652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Assunto (dúvidas, sugestões, orçamento, outros)</a:t>
            </a:r>
          </a:p>
          <a:p>
            <a:pPr algn="l" marL="1004479" indent="-502240" lvl="1">
              <a:lnSpc>
                <a:spcPts val="5769"/>
              </a:lnSpc>
              <a:buFont typeface="Arial"/>
              <a:buChar char="•"/>
            </a:pPr>
            <a:r>
              <a:rPr lang="en-US" sz="4652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Quer receber mensagens pelo email?</a:t>
            </a:r>
          </a:p>
          <a:p>
            <a:pPr algn="l" marL="1004479" indent="-502240" lvl="1">
              <a:lnSpc>
                <a:spcPts val="5769"/>
              </a:lnSpc>
              <a:buFont typeface="Arial"/>
              <a:buChar char="•"/>
            </a:pPr>
            <a:r>
              <a:rPr lang="en-US" sz="4652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Comentário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41228" y="0"/>
            <a:ext cx="10374086" cy="10287000"/>
          </a:xfrm>
          <a:custGeom>
            <a:avLst/>
            <a:gdLst/>
            <a:ahLst/>
            <a:cxnLst/>
            <a:rect r="r" b="b" t="t" l="l"/>
            <a:pathLst>
              <a:path h="10287000" w="10374086">
                <a:moveTo>
                  <a:pt x="0" y="0"/>
                </a:moveTo>
                <a:lnTo>
                  <a:pt x="10374085" y="0"/>
                </a:lnTo>
                <a:lnTo>
                  <a:pt x="103740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1" t="-9480" r="-1388" b="-1028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23544" y="478676"/>
            <a:ext cx="2440912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TABLE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04004" y="3895670"/>
            <a:ext cx="14079991" cy="2495660"/>
          </a:xfrm>
          <a:custGeom>
            <a:avLst/>
            <a:gdLst/>
            <a:ahLst/>
            <a:cxnLst/>
            <a:rect r="r" b="b" t="t" l="l"/>
            <a:pathLst>
              <a:path h="2495660" w="14079991">
                <a:moveTo>
                  <a:pt x="0" y="0"/>
                </a:moveTo>
                <a:lnTo>
                  <a:pt x="14079992" y="0"/>
                </a:lnTo>
                <a:lnTo>
                  <a:pt x="14079992" y="2495660"/>
                </a:lnTo>
                <a:lnTo>
                  <a:pt x="0" y="2495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23544" y="478676"/>
            <a:ext cx="2440912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TABLE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5425" y="4148227"/>
            <a:ext cx="4497150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TABELA 3X3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7303" y="105752"/>
            <a:ext cx="15633393" cy="10716046"/>
          </a:xfrm>
          <a:custGeom>
            <a:avLst/>
            <a:gdLst/>
            <a:ahLst/>
            <a:cxnLst/>
            <a:rect r="r" b="b" t="t" l="l"/>
            <a:pathLst>
              <a:path h="10716046" w="15633393">
                <a:moveTo>
                  <a:pt x="0" y="0"/>
                </a:moveTo>
                <a:lnTo>
                  <a:pt x="15633394" y="0"/>
                </a:lnTo>
                <a:lnTo>
                  <a:pt x="15633394" y="10716046"/>
                </a:lnTo>
                <a:lnTo>
                  <a:pt x="0" y="10716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26" t="0" r="-262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67705" y="478676"/>
            <a:ext cx="2952590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IFRAME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189317"/>
            <a:ext cx="18288000" cy="7635240"/>
          </a:xfrm>
          <a:custGeom>
            <a:avLst/>
            <a:gdLst/>
            <a:ahLst/>
            <a:cxnLst/>
            <a:rect r="r" b="b" t="t" l="l"/>
            <a:pathLst>
              <a:path h="7635240" w="18288000">
                <a:moveTo>
                  <a:pt x="0" y="0"/>
                </a:moveTo>
                <a:lnTo>
                  <a:pt x="18288000" y="0"/>
                </a:lnTo>
                <a:lnTo>
                  <a:pt x="18288000" y="7635240"/>
                </a:lnTo>
                <a:lnTo>
                  <a:pt x="0" y="7635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1112" y="923925"/>
            <a:ext cx="9325777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ACESSIBILIDADE BASICA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43501" y="2553310"/>
            <a:ext cx="5600998" cy="99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b="true" sz="58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TAG </a:t>
            </a:r>
            <a:r>
              <a:rPr lang="en-US" b="true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&lt;LABEL&gt;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95018"/>
            <a:ext cx="18288000" cy="7498080"/>
          </a:xfrm>
          <a:custGeom>
            <a:avLst/>
            <a:gdLst/>
            <a:ahLst/>
            <a:cxnLst/>
            <a:rect r="r" b="b" t="t" l="l"/>
            <a:pathLst>
              <a:path h="7498080" w="18288000">
                <a:moveTo>
                  <a:pt x="0" y="0"/>
                </a:moveTo>
                <a:lnTo>
                  <a:pt x="18288000" y="0"/>
                </a:lnTo>
                <a:lnTo>
                  <a:pt x="18288000" y="7498080"/>
                </a:lnTo>
                <a:lnTo>
                  <a:pt x="0" y="7498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1112" y="923925"/>
            <a:ext cx="9325777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ACESSIBILIDADE BASICA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6246" y="2471687"/>
            <a:ext cx="6215509" cy="99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ATRIBUTO </a:t>
            </a: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40177" y="1851453"/>
            <a:ext cx="6607647" cy="7784351"/>
          </a:xfrm>
          <a:custGeom>
            <a:avLst/>
            <a:gdLst/>
            <a:ahLst/>
            <a:cxnLst/>
            <a:rect r="r" b="b" t="t" l="l"/>
            <a:pathLst>
              <a:path h="7784351" w="6607647">
                <a:moveTo>
                  <a:pt x="0" y="0"/>
                </a:moveTo>
                <a:lnTo>
                  <a:pt x="6607646" y="0"/>
                </a:lnTo>
                <a:lnTo>
                  <a:pt x="6607646" y="7784352"/>
                </a:lnTo>
                <a:lnTo>
                  <a:pt x="0" y="7784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10421" y="478676"/>
            <a:ext cx="4467159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SEMÂNTICA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10421" y="478676"/>
            <a:ext cx="4467159" cy="99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sz="584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SEMÂNTICA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6205" y="1833473"/>
            <a:ext cx="13854800" cy="882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387" indent="-489694" lvl="1">
              <a:lnSpc>
                <a:spcPts val="63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USE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&lt;DIV&gt;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OU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&lt;SPAN&gt;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PARA ALGO QUE TEM UM NOME MELHOR.</a:t>
            </a:r>
          </a:p>
          <a:p>
            <a:pPr algn="l" marL="979387" indent="-489694" lvl="1">
              <a:lnSpc>
                <a:spcPts val="63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LINK (NAVEGA PARA OUTRO LUGAR)? USE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&lt;A&gt;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  <a:p>
            <a:pPr algn="l" marL="979387" indent="-489694" lvl="1">
              <a:lnSpc>
                <a:spcPts val="63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BOTÃO (EXECUTA UMA AÇÃO)? USE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&lt;BUTTON&gt;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  <a:p>
            <a:pPr algn="l" marL="979387" indent="-489694" lvl="1">
              <a:lnSpc>
                <a:spcPts val="63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TÍTULO? USE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&lt;H1&gt;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(SÓ UM POR PÁGINA),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&lt;H2&gt;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,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&lt;H3&gt;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, ETC., NA ORDEM CORRETA.</a:t>
            </a:r>
          </a:p>
          <a:p>
            <a:pPr algn="l" marL="979387" indent="-489694" lvl="1">
              <a:lnSpc>
                <a:spcPts val="63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LISTA? USE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&lt;UL&gt;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OU </a:t>
            </a:r>
            <a:r>
              <a:rPr lang="en-US" b="true" sz="45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&lt;OL&gt;</a:t>
            </a: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  <a:p>
            <a:pPr algn="l">
              <a:lnSpc>
                <a:spcPts val="6350"/>
              </a:lnSpc>
              <a:spcBef>
                <a:spcPct val="0"/>
              </a:spcBef>
            </a:pPr>
          </a:p>
          <a:p>
            <a:pPr algn="l">
              <a:lnSpc>
                <a:spcPts val="635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40578" y="4258253"/>
            <a:ext cx="8806844" cy="885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8"/>
              </a:lnSpc>
            </a:pPr>
            <a:r>
              <a:rPr lang="en-US" sz="5184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CRIANDO SEU PORTIFÓLIO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700" y="199003"/>
            <a:ext cx="17607596" cy="98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3"/>
              </a:lnSpc>
              <a:spcBef>
                <a:spcPct val="0"/>
              </a:spcBef>
            </a:pPr>
            <a:r>
              <a:rPr lang="en-US" b="true" sz="2809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ESTRUTURA SEMÂNTICA: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&lt;HEADER&gt; COM O NOME DO ALUNO (&lt;H1&gt;).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&lt;NAV&gt; COM LINKS (EX: "SOBRE", "PROJETOS", "CONTATO").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TAG &lt;MAIN&gt; PARA AGRUPAR O CONTEÚDO PRINCIPAL.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MÚLTIPLAS &lt;SECTION&gt; (UMA PARA O "SOBRE", UMA PARA "PROJETOS", ETC.).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&lt;FOOTER&gt; COM "© 2025 - [NOME DO ALUNO]".</a:t>
            </a:r>
          </a:p>
          <a:p>
            <a:pPr algn="l">
              <a:lnSpc>
                <a:spcPts val="3933"/>
              </a:lnSpc>
            </a:pPr>
          </a:p>
          <a:p>
            <a:pPr algn="ctr">
              <a:lnSpc>
                <a:spcPts val="3933"/>
              </a:lnSpc>
              <a:spcBef>
                <a:spcPct val="0"/>
              </a:spcBef>
            </a:pPr>
            <a:r>
              <a:rPr lang="en-US" b="true" sz="2809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CONTEÚDO BÁSICO:</a:t>
            </a:r>
          </a:p>
          <a:p>
            <a:pPr algn="ctr">
              <a:lnSpc>
                <a:spcPts val="3933"/>
              </a:lnSpc>
            </a:pP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PARÁGRAFOS (&lt;P&gt;).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SEÇÃO "PROJETOS" OU "HABILIDADES" USANDO UMA LISTA NÃO ORDENADA (&lt;UL&gt;) E (&lt;LI&gt;).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SEÇÃO "FORMAÇÃO ACADÊMICA" OU "EXPERIÊNCIA" QUE USA UMA &lt;TABLE&gt;.</a:t>
            </a:r>
          </a:p>
          <a:p>
            <a:pPr algn="l">
              <a:lnSpc>
                <a:spcPts val="3933"/>
              </a:lnSpc>
            </a:pPr>
          </a:p>
          <a:p>
            <a:pPr algn="ctr">
              <a:lnSpc>
                <a:spcPts val="3933"/>
              </a:lnSpc>
            </a:pPr>
            <a:r>
              <a:rPr lang="en-US" b="true" sz="2809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SEÇÃO "CONTATO" COM UM &lt;FORM&gt; COMPLETO:</a:t>
            </a:r>
          </a:p>
          <a:p>
            <a:pPr algn="ctr">
              <a:lnSpc>
                <a:spcPts val="3933"/>
              </a:lnSpc>
            </a:pP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&lt;LABEL&gt; E &lt;INPUT TYPE="TEXT"&gt; (PARA NOME).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&lt;LABEL&gt; E &lt;INPUT TYPE="EMAIL"&gt; (PARA E-MAIL).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&lt;LABEL&gt; E &lt;TEXTAREA&gt; (PARA MENSAGEM).</a:t>
            </a:r>
          </a:p>
          <a:p>
            <a:pPr algn="l" marL="606548" indent="-303274" lvl="1">
              <a:lnSpc>
                <a:spcPts val="3933"/>
              </a:lnSpc>
              <a:buFont typeface="Arial"/>
              <a:buChar char="•"/>
            </a:pPr>
            <a:r>
              <a:rPr lang="en-US" b="true" sz="280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&lt;BUTTON TYPE="SUBMIT"&gt; (PARA ENVIAR).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15414" y="3225756"/>
            <a:ext cx="4657172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0"/>
              </a:lnSpc>
              <a:spcBef>
                <a:spcPct val="0"/>
              </a:spcBef>
            </a:pPr>
            <a:r>
              <a:rPr lang="en-US" sz="20335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23883" y="904875"/>
            <a:ext cx="164023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28523" y="3816878"/>
            <a:ext cx="11230954" cy="229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FORMAS DE INSERIR O CSS NO HTML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23883" y="904875"/>
            <a:ext cx="164023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6676" y="2868608"/>
            <a:ext cx="13014648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9"/>
              </a:lnSpc>
            </a:pPr>
            <a:r>
              <a:rPr lang="en-US" sz="46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MÉTODO MAIS COMUM E USADO: EXTERNO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94811"/>
            <a:ext cx="13014648" cy="24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7646" indent="-498823" lvl="1">
              <a:lnSpc>
                <a:spcPts val="6469"/>
              </a:lnSpc>
              <a:buFont typeface="Arial"/>
              <a:buChar char="•"/>
            </a:pPr>
            <a:r>
              <a:rPr lang="en-US" sz="46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CRIAR UM ARQUIVO CSS</a:t>
            </a:r>
          </a:p>
          <a:p>
            <a:pPr algn="l" marL="997646" indent="-498823" lvl="1">
              <a:lnSpc>
                <a:spcPts val="6469"/>
              </a:lnSpc>
              <a:buFont typeface="Arial"/>
              <a:buChar char="•"/>
            </a:pPr>
            <a:r>
              <a:rPr lang="en-US" sz="46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ESCREVER UM CÓDIGO SEPARADO</a:t>
            </a:r>
          </a:p>
          <a:p>
            <a:pPr algn="l" marL="997646" indent="-498823" lvl="1">
              <a:lnSpc>
                <a:spcPts val="6469"/>
              </a:lnSpc>
              <a:buFont typeface="Arial"/>
              <a:buChar char="•"/>
            </a:pPr>
            <a:r>
              <a:rPr lang="en-US" sz="46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LINKAR COM O HTML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40280"/>
            <a:ext cx="18288000" cy="7018020"/>
          </a:xfrm>
          <a:custGeom>
            <a:avLst/>
            <a:gdLst/>
            <a:ahLst/>
            <a:cxnLst/>
            <a:rect r="r" b="b" t="t" l="l"/>
            <a:pathLst>
              <a:path h="7018020" w="18288000">
                <a:moveTo>
                  <a:pt x="0" y="0"/>
                </a:moveTo>
                <a:lnTo>
                  <a:pt x="18288000" y="0"/>
                </a:lnTo>
                <a:lnTo>
                  <a:pt x="18288000" y="7018020"/>
                </a:lnTo>
                <a:lnTo>
                  <a:pt x="0" y="7018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23883" y="904875"/>
            <a:ext cx="164023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63619" y="4416493"/>
            <a:ext cx="14160762" cy="72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3"/>
              </a:lnSpc>
            </a:pPr>
            <a:r>
              <a:rPr lang="en-US" sz="427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UM ARQUIVO .CSS E FAÇA O LINK COM O HTML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05740"/>
            <a:ext cx="18288000" cy="9875520"/>
          </a:xfrm>
          <a:custGeom>
            <a:avLst/>
            <a:gdLst/>
            <a:ahLst/>
            <a:cxnLst/>
            <a:rect r="r" b="b" t="t" l="l"/>
            <a:pathLst>
              <a:path h="9875520" w="18288000">
                <a:moveTo>
                  <a:pt x="0" y="0"/>
                </a:moveTo>
                <a:lnTo>
                  <a:pt x="18288000" y="0"/>
                </a:lnTo>
                <a:lnTo>
                  <a:pt x="18288000" y="9875520"/>
                </a:lnTo>
                <a:lnTo>
                  <a:pt x="0" y="987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23883" y="655040"/>
            <a:ext cx="164023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72909" y="904875"/>
            <a:ext cx="4742182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01139" y="2946097"/>
            <a:ext cx="13850541" cy="494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6388" indent="-503194" lvl="1">
              <a:lnSpc>
                <a:spcPts val="6525"/>
              </a:lnSpc>
              <a:buFont typeface="Arial"/>
              <a:buChar char="•"/>
            </a:pPr>
            <a:r>
              <a:rPr lang="en-US" b="true" sz="46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 DE TIPO (OU TAG)</a:t>
            </a:r>
          </a:p>
          <a:p>
            <a:pPr algn="l" marL="1006388" indent="-503194" lvl="1">
              <a:lnSpc>
                <a:spcPts val="6525"/>
              </a:lnSpc>
              <a:buFont typeface="Arial"/>
              <a:buChar char="•"/>
            </a:pPr>
            <a:r>
              <a:rPr lang="en-US" b="true" sz="46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 DE CLASSE (O MAIS IMPORTANTE!)</a:t>
            </a:r>
          </a:p>
          <a:p>
            <a:pPr algn="l" marL="1006388" indent="-503194" lvl="1">
              <a:lnSpc>
                <a:spcPts val="6525"/>
              </a:lnSpc>
              <a:buFont typeface="Arial"/>
              <a:buChar char="•"/>
            </a:pPr>
            <a:r>
              <a:rPr lang="en-US" b="true" sz="46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 DE ID</a:t>
            </a:r>
          </a:p>
          <a:p>
            <a:pPr algn="l" marL="1006388" indent="-503194" lvl="1">
              <a:lnSpc>
                <a:spcPts val="6525"/>
              </a:lnSpc>
              <a:buFont typeface="Arial"/>
              <a:buChar char="•"/>
            </a:pPr>
            <a:r>
              <a:rPr lang="en-US" b="true" sz="46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 DE AGRUPAMENTO</a:t>
            </a:r>
          </a:p>
          <a:p>
            <a:pPr algn="l" marL="1006388" indent="-503194" lvl="1">
              <a:lnSpc>
                <a:spcPts val="6525"/>
              </a:lnSpc>
              <a:buFont typeface="Arial"/>
              <a:buChar char="•"/>
            </a:pPr>
            <a:r>
              <a:rPr lang="en-US" b="true" sz="46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 UNIVERSAL</a:t>
            </a:r>
          </a:p>
          <a:p>
            <a:pPr algn="l" marL="1006388" indent="-503194" lvl="1">
              <a:lnSpc>
                <a:spcPts val="6525"/>
              </a:lnSpc>
              <a:buFont typeface="Arial"/>
              <a:buChar char="•"/>
            </a:pPr>
            <a:r>
              <a:rPr lang="en-US" b="true" sz="46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 DESCENDENTE (ESPAÇO)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094367"/>
            <a:ext cx="18288000" cy="5580963"/>
          </a:xfrm>
          <a:custGeom>
            <a:avLst/>
            <a:gdLst/>
            <a:ahLst/>
            <a:cxnLst/>
            <a:rect r="r" b="b" t="t" l="l"/>
            <a:pathLst>
              <a:path h="5580963" w="18288000">
                <a:moveTo>
                  <a:pt x="0" y="0"/>
                </a:moveTo>
                <a:lnTo>
                  <a:pt x="18288000" y="0"/>
                </a:lnTo>
                <a:lnTo>
                  <a:pt x="18288000" y="5580963"/>
                </a:lnTo>
                <a:lnTo>
                  <a:pt x="0" y="558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60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23883" y="904875"/>
            <a:ext cx="164023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62890"/>
            <a:ext cx="18288000" cy="9761220"/>
          </a:xfrm>
          <a:custGeom>
            <a:avLst/>
            <a:gdLst/>
            <a:ahLst/>
            <a:cxnLst/>
            <a:rect r="r" b="b" t="t" l="l"/>
            <a:pathLst>
              <a:path h="9761220" w="18288000">
                <a:moveTo>
                  <a:pt x="0" y="0"/>
                </a:moveTo>
                <a:lnTo>
                  <a:pt x="18288000" y="0"/>
                </a:lnTo>
                <a:lnTo>
                  <a:pt x="18288000" y="9761220"/>
                </a:lnTo>
                <a:lnTo>
                  <a:pt x="0" y="9761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03640" y="904875"/>
            <a:ext cx="4280721" cy="1126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5"/>
              </a:lnSpc>
            </a:pPr>
            <a:r>
              <a:rPr lang="en-US" sz="663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CSS RESET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5554" y="2790012"/>
            <a:ext cx="17076891" cy="578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4380" indent="-482190" lvl="1">
              <a:lnSpc>
                <a:spcPts val="5717"/>
              </a:lnSpc>
              <a:buFont typeface="Arial"/>
              <a:buChar char="•"/>
            </a:pPr>
            <a:r>
              <a:rPr lang="en-US" b="true" sz="446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WIDTH</a:t>
            </a:r>
            <a:r>
              <a:rPr lang="en-US" b="true" sz="446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A LARGURA DA CAIXA.</a:t>
            </a:r>
          </a:p>
          <a:p>
            <a:pPr algn="l" marL="964380" indent="-482190" lvl="1">
              <a:lnSpc>
                <a:spcPts val="5717"/>
              </a:lnSpc>
              <a:buFont typeface="Arial"/>
              <a:buChar char="•"/>
            </a:pPr>
            <a:r>
              <a:rPr lang="en-US" b="true" sz="446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HEIGHT</a:t>
            </a:r>
            <a:r>
              <a:rPr lang="en-US" b="true" sz="446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A ALTURA DA CAIXA.</a:t>
            </a:r>
          </a:p>
          <a:p>
            <a:pPr algn="l" marL="964380" indent="-482190" lvl="1">
              <a:lnSpc>
                <a:spcPts val="5717"/>
              </a:lnSpc>
              <a:buFont typeface="Arial"/>
              <a:buChar char="•"/>
            </a:pPr>
            <a:r>
              <a:rPr lang="en-US" b="true" sz="446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PADDING</a:t>
            </a:r>
            <a:r>
              <a:rPr lang="en-US" b="true" sz="446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O ESPAÇAMENTO INTERNO (ENTRE O CONTEÚDO E A BORDA).</a:t>
            </a:r>
          </a:p>
          <a:p>
            <a:pPr algn="l" marL="964380" indent="-482190" lvl="1">
              <a:lnSpc>
                <a:spcPts val="5717"/>
              </a:lnSpc>
              <a:buFont typeface="Arial"/>
              <a:buChar char="•"/>
            </a:pPr>
            <a:r>
              <a:rPr lang="en-US" b="true" sz="446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MARGIN</a:t>
            </a:r>
            <a:r>
              <a:rPr lang="en-US" b="true" sz="446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O ESPAÇAMENTO EXTERNO </a:t>
            </a:r>
          </a:p>
          <a:p>
            <a:pPr algn="l" marL="964380" indent="-482190" lvl="1">
              <a:lnSpc>
                <a:spcPts val="5717"/>
              </a:lnSpc>
              <a:buFont typeface="Arial"/>
              <a:buChar char="•"/>
            </a:pPr>
            <a:r>
              <a:rPr lang="en-US" b="true" sz="446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BORDER</a:t>
            </a:r>
            <a:r>
              <a:rPr lang="en-US" b="true" sz="446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A BORDA DA CAIXA. É UMA "SHORTHAND" (ATALHO) PARA BORDER-WIDTH, BORDER-STYLE E BORDER-COLOR.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75080" y="904875"/>
            <a:ext cx="5137839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BOX MODEL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20528" y="2655004"/>
            <a:ext cx="12246943" cy="6603296"/>
          </a:xfrm>
          <a:custGeom>
            <a:avLst/>
            <a:gdLst/>
            <a:ahLst/>
            <a:cxnLst/>
            <a:rect r="r" b="b" t="t" l="l"/>
            <a:pathLst>
              <a:path h="6603296" w="12246943">
                <a:moveTo>
                  <a:pt x="0" y="0"/>
                </a:moveTo>
                <a:lnTo>
                  <a:pt x="12246944" y="0"/>
                </a:lnTo>
                <a:lnTo>
                  <a:pt x="12246944" y="6603296"/>
                </a:lnTo>
                <a:lnTo>
                  <a:pt x="0" y="6603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75080" y="904875"/>
            <a:ext cx="5137839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BOX MODEL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10154" y="0"/>
            <a:ext cx="14067692" cy="10287000"/>
          </a:xfrm>
          <a:custGeom>
            <a:avLst/>
            <a:gdLst/>
            <a:ahLst/>
            <a:cxnLst/>
            <a:rect r="r" b="b" t="t" l="l"/>
            <a:pathLst>
              <a:path h="10287000" w="14067692">
                <a:moveTo>
                  <a:pt x="0" y="0"/>
                </a:moveTo>
                <a:lnTo>
                  <a:pt x="14067692" y="0"/>
                </a:lnTo>
                <a:lnTo>
                  <a:pt x="140676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11626" y="1532293"/>
            <a:ext cx="7464748" cy="75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4"/>
              </a:lnSpc>
            </a:pPr>
            <a:r>
              <a:rPr lang="en-US" sz="441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BOX SIZING: BORDER-BOX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65084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2" y="0"/>
                </a:lnTo>
                <a:lnTo>
                  <a:pt x="1788432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333" y="0"/>
            <a:ext cx="16933333" cy="10287000"/>
          </a:xfrm>
          <a:custGeom>
            <a:avLst/>
            <a:gdLst/>
            <a:ahLst/>
            <a:cxnLst/>
            <a:rect r="r" b="b" t="t" l="l"/>
            <a:pathLst>
              <a:path h="10287000" w="16933333">
                <a:moveTo>
                  <a:pt x="0" y="0"/>
                </a:moveTo>
                <a:lnTo>
                  <a:pt x="16933334" y="0"/>
                </a:lnTo>
                <a:lnTo>
                  <a:pt x="169333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93190" y="3889871"/>
            <a:ext cx="11101620" cy="125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7"/>
              </a:lnSpc>
            </a:pPr>
            <a:r>
              <a:rPr lang="en-US" sz="7412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UNIDADES DE MEDIDAS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77052" y="1406261"/>
            <a:ext cx="13333896" cy="101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1"/>
              </a:lnSpc>
            </a:pPr>
            <a:r>
              <a:rPr lang="en-US" sz="59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UNIDADE ABSOLUTA: PIXELS (PX)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4656" y="3849992"/>
            <a:ext cx="15438687" cy="368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9"/>
              </a:lnSpc>
              <a:spcBef>
                <a:spcPct val="0"/>
              </a:spcBef>
            </a:pPr>
            <a:r>
              <a:rPr lang="en-US" b="true" sz="42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QUANDO EVITAR:</a:t>
            </a:r>
            <a:r>
              <a:rPr lang="en-US" b="true" sz="422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TAMANHO DE FONTE (FONT-SIZE). USAR PIXELS EM TEXTOS IGNORA AS CONFIGURAÇÕES DE ACESSIBILIDADE DO NAVEGADOR DO USUÁRIO (SE ELE TIVER CONFIGURADO LETRAS GRANDES POR PROBLEMAS DE VISÃO, O PIXEL IGNORA E MOSTRA PEQUENO).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01890" y="904875"/>
            <a:ext cx="10684220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UNIDADES RELATIVAS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6762" y="3069139"/>
            <a:ext cx="14790091" cy="420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9023" indent="-519511" lvl="1">
              <a:lnSpc>
                <a:spcPts val="6737"/>
              </a:lnSpc>
              <a:buFont typeface="Arial"/>
              <a:buChar char="•"/>
            </a:pPr>
            <a:r>
              <a:rPr lang="en-US" b="true" sz="481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REM</a:t>
            </a:r>
          </a:p>
          <a:p>
            <a:pPr algn="l" marL="2078045" indent="-692682" lvl="2">
              <a:lnSpc>
                <a:spcPts val="6737"/>
              </a:lnSpc>
              <a:buFont typeface="Arial"/>
              <a:buChar char="⚬"/>
            </a:pPr>
            <a:r>
              <a:rPr lang="en-US" b="true" sz="4812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É: É RELATIVO AO TAMANHO DA FONTE PADRÃO DO NAVEGADOR. POR PADRÃO, A MAIORIA DOS NAVEGADORES DEFINE O TAMANHO BASE COMO 16PX.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68263" y="2662351"/>
            <a:ext cx="7351474" cy="1011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1"/>
              </a:lnSpc>
            </a:pPr>
            <a:r>
              <a:rPr lang="en-US" sz="59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PORCENTAGEM (%)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7202" y="3952100"/>
            <a:ext cx="15173596" cy="355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</a:t>
            </a:r>
            <a:r>
              <a:rPr lang="en-US" b="true" sz="50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RELATIVO AO TAMANHO DO ELEMENTO PAI.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QUANDO USAR</a:t>
            </a:r>
            <a:r>
              <a:rPr lang="en-US" b="true" sz="50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PARA CRIAR LAYOUTS FLUIDOS E COLUNAS.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6129" y="2138798"/>
            <a:ext cx="4235742" cy="104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1"/>
              </a:lnSpc>
            </a:pPr>
            <a:r>
              <a:rPr lang="en-US" sz="6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VIEWPORT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22897" y="3478358"/>
            <a:ext cx="12502902" cy="213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324857" indent="-662429" lvl="1">
              <a:lnSpc>
                <a:spcPts val="8591"/>
              </a:lnSpc>
              <a:buFont typeface="Arial"/>
              <a:buChar char="•"/>
            </a:pPr>
            <a:r>
              <a:rPr lang="en-US" b="true" sz="6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VH </a:t>
            </a:r>
            <a:r>
              <a:rPr lang="en-US" b="true" sz="6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(VH - VIEWPORT HEIGHT)</a:t>
            </a:r>
            <a:r>
              <a:rPr lang="en-US" b="true" sz="6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</a:t>
            </a:r>
          </a:p>
          <a:p>
            <a:pPr algn="ctr" marL="1324857" indent="-662429" lvl="1">
              <a:lnSpc>
                <a:spcPts val="8591"/>
              </a:lnSpc>
              <a:buFont typeface="Arial"/>
              <a:buChar char="•"/>
            </a:pPr>
            <a:r>
              <a:rPr lang="en-US" b="true" sz="6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VW </a:t>
            </a:r>
            <a:r>
              <a:rPr lang="en-US" b="true" sz="6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(VW - VIEWPORT WIDTH)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2897" y="5903767"/>
            <a:ext cx="13842206" cy="213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1"/>
              </a:lnSpc>
              <a:spcBef>
                <a:spcPct val="0"/>
              </a:spcBef>
            </a:pPr>
            <a:r>
              <a:rPr lang="en-US" b="true" sz="6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1VH = 1% DA ALTURA DA TELA.</a:t>
            </a:r>
          </a:p>
          <a:p>
            <a:pPr algn="l">
              <a:lnSpc>
                <a:spcPts val="8591"/>
              </a:lnSpc>
              <a:spcBef>
                <a:spcPct val="0"/>
              </a:spcBef>
            </a:pPr>
            <a:r>
              <a:rPr lang="en-US" b="true" sz="6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100VH = 100% DA ALTURA DA TELA.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00819" y="4339885"/>
            <a:ext cx="9286363" cy="1454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75"/>
              </a:lnSpc>
            </a:pPr>
            <a:r>
              <a:rPr lang="en-US" sz="8553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EFEITOS VISUAIS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5707" y="1352085"/>
            <a:ext cx="16856586" cy="772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1490" indent="-430745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BACKGROUND-COLOR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COR DE FUNDO DO ELEMENTO.</a:t>
            </a:r>
          </a:p>
          <a:p>
            <a:pPr algn="l" marL="861490" indent="-430745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BACKGROUND-IMAGE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IMAGEM DE FUNDO</a:t>
            </a: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(URL('IMAGEM.JPG')).</a:t>
            </a:r>
          </a:p>
          <a:p>
            <a:pPr algn="l" marL="861490" indent="-430745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BACKGROUND-SIZE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CONTROLA O TAMANHO DA IMAGEM DE FUNDO (MUITO USADO COMO COVER PARA COBRIR TUDO).</a:t>
            </a:r>
          </a:p>
          <a:p>
            <a:pPr algn="l" marL="861490" indent="-430745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BOX-SHADOW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</a:t>
            </a: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ADICIONA SOMBRA AO ELEMENTO, CRIANDO PROFUNDIDADE (EFEITO 3D).</a:t>
            </a:r>
          </a:p>
          <a:p>
            <a:pPr algn="l" marL="861490" indent="-430745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BORDER-RADIUS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ARREDONDA AS BORDAS</a:t>
            </a:r>
          </a:p>
          <a:p>
            <a:pPr algn="l" marL="861490" indent="-430745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CURSOR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MUDA O CURSOR DO MOUSE. (EX: POINTER PARA INDICAR QUE É CLICÁVEL).</a:t>
            </a:r>
          </a:p>
          <a:p>
            <a:pPr algn="l" marL="861490" indent="-430745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OPACITY</a:t>
            </a:r>
            <a:r>
              <a:rPr lang="en-US" b="true" sz="39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CONTROLA A TRANSPARÊNCIA DO ELEMENTO (0 A 1).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02777" y="1773963"/>
            <a:ext cx="7025362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EFEITOS VISUAIS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2483" y="3431949"/>
            <a:ext cx="11251853" cy="82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1"/>
              </a:lnSpc>
              <a:spcBef>
                <a:spcPct val="0"/>
              </a:spcBef>
            </a:pPr>
            <a:r>
              <a:rPr lang="en-US" b="true" sz="48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BACKGROUND-ATTACHMENT</a:t>
            </a: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FIXED;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2483" y="4616578"/>
            <a:ext cx="14083035" cy="339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1"/>
              </a:lnSpc>
              <a:spcBef>
                <a:spcPct val="0"/>
              </a:spcBef>
            </a:pPr>
            <a:r>
              <a:rPr lang="en-US" b="true" sz="48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BACKGROUND-IMAGE</a:t>
            </a: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</a:t>
            </a:r>
          </a:p>
          <a:p>
            <a:pPr algn="l">
              <a:lnSpc>
                <a:spcPts val="6771"/>
              </a:lnSpc>
              <a:spcBef>
                <a:spcPct val="0"/>
              </a:spcBef>
            </a:pP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LINEAR-GRADIENT(RGB(42, 123, 155) 0%, RGB(87, 199, 133) 50%, RGB(237, 221, 83) 100%);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"/>
            <a:ext cx="18288000" cy="8435340"/>
          </a:xfrm>
          <a:custGeom>
            <a:avLst/>
            <a:gdLst/>
            <a:ahLst/>
            <a:cxnLst/>
            <a:rect r="r" b="b" t="t" l="l"/>
            <a:pathLst>
              <a:path h="8435340" w="18288000">
                <a:moveTo>
                  <a:pt x="0" y="0"/>
                </a:moveTo>
                <a:lnTo>
                  <a:pt x="18288000" y="0"/>
                </a:lnTo>
                <a:lnTo>
                  <a:pt x="18288000" y="8435340"/>
                </a:lnTo>
                <a:lnTo>
                  <a:pt x="0" y="8435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9272" y="0"/>
            <a:ext cx="19066544" cy="9883430"/>
          </a:xfrm>
          <a:custGeom>
            <a:avLst/>
            <a:gdLst/>
            <a:ahLst/>
            <a:cxnLst/>
            <a:rect r="r" b="b" t="t" l="l"/>
            <a:pathLst>
              <a:path h="9883430" w="19066544">
                <a:moveTo>
                  <a:pt x="0" y="0"/>
                </a:moveTo>
                <a:lnTo>
                  <a:pt x="19066544" y="0"/>
                </a:lnTo>
                <a:lnTo>
                  <a:pt x="19066544" y="9883430"/>
                </a:lnTo>
                <a:lnTo>
                  <a:pt x="0" y="9883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25" t="-8514" r="-2325" b="0"/>
            </a:stretch>
          </a:blipFill>
        </p:spPr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925830"/>
            <a:ext cx="18288000" cy="8435340"/>
          </a:xfrm>
          <a:custGeom>
            <a:avLst/>
            <a:gdLst/>
            <a:ahLst/>
            <a:cxnLst/>
            <a:rect r="r" b="b" t="t" l="l"/>
            <a:pathLst>
              <a:path h="8435340" w="18288000">
                <a:moveTo>
                  <a:pt x="0" y="0"/>
                </a:moveTo>
                <a:lnTo>
                  <a:pt x="18288000" y="0"/>
                </a:lnTo>
                <a:lnTo>
                  <a:pt x="18288000" y="8435340"/>
                </a:lnTo>
                <a:lnTo>
                  <a:pt x="0" y="84353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30205"/>
            <a:ext cx="18288000" cy="7932420"/>
          </a:xfrm>
          <a:custGeom>
            <a:avLst/>
            <a:gdLst/>
            <a:ahLst/>
            <a:cxnLst/>
            <a:rect r="r" b="b" t="t" l="l"/>
            <a:pathLst>
              <a:path h="7932420" w="18288000">
                <a:moveTo>
                  <a:pt x="0" y="0"/>
                </a:moveTo>
                <a:lnTo>
                  <a:pt x="18288000" y="0"/>
                </a:lnTo>
                <a:lnTo>
                  <a:pt x="18288000" y="7932420"/>
                </a:lnTo>
                <a:lnTo>
                  <a:pt x="0" y="7932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06714" y="403370"/>
            <a:ext cx="1067457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SHORTHAND PROPERTYS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65084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2" y="0"/>
                </a:lnTo>
                <a:lnTo>
                  <a:pt x="1788432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00050"/>
            <a:ext cx="18288000" cy="9486900"/>
          </a:xfrm>
          <a:custGeom>
            <a:avLst/>
            <a:gdLst/>
            <a:ahLst/>
            <a:cxnLst/>
            <a:rect r="r" b="b" t="t" l="l"/>
            <a:pathLst>
              <a:path h="9486900" w="18288000">
                <a:moveTo>
                  <a:pt x="0" y="0"/>
                </a:moveTo>
                <a:lnTo>
                  <a:pt x="18288000" y="0"/>
                </a:lnTo>
                <a:lnTo>
                  <a:pt x="18288000" y="9486900"/>
                </a:lnTo>
                <a:lnTo>
                  <a:pt x="0" y="948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071491"/>
            <a:ext cx="18288000" cy="4294478"/>
          </a:xfrm>
          <a:custGeom>
            <a:avLst/>
            <a:gdLst/>
            <a:ahLst/>
            <a:cxnLst/>
            <a:rect r="r" b="b" t="t" l="l"/>
            <a:pathLst>
              <a:path h="4294478" w="18288000">
                <a:moveTo>
                  <a:pt x="0" y="0"/>
                </a:moveTo>
                <a:lnTo>
                  <a:pt x="18288000" y="0"/>
                </a:lnTo>
                <a:lnTo>
                  <a:pt x="18288000" y="4294478"/>
                </a:lnTo>
                <a:lnTo>
                  <a:pt x="0" y="4294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911" r="0" b="-309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54869" y="403370"/>
            <a:ext cx="5578261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"C" DO CSS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11576"/>
            <a:ext cx="16230600" cy="274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5454" indent="-422727" lvl="1">
              <a:lnSpc>
                <a:spcPts val="5482"/>
              </a:lnSpc>
              <a:buFont typeface="Arial"/>
              <a:buChar char="•"/>
            </a:pPr>
            <a:r>
              <a:rPr lang="en-US" b="true" sz="391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NAVEGADOR LÊ O CSS DE CIMA PARA BAIXO.</a:t>
            </a:r>
          </a:p>
          <a:p>
            <a:pPr algn="l" marL="845454" indent="-422727" lvl="1">
              <a:lnSpc>
                <a:spcPts val="5482"/>
              </a:lnSpc>
              <a:buFont typeface="Arial"/>
              <a:buChar char="•"/>
            </a:pPr>
            <a:r>
              <a:rPr lang="en-US" b="true" sz="391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TIVERMOS DUAS REGRAS IGUAIS COM A MESMA FORÇA, A ÚLTIMA A SER LIDA É A QUE VENCE.</a:t>
            </a:r>
          </a:p>
          <a:p>
            <a:pPr algn="l" marL="845454" indent="-422727" lvl="1">
              <a:lnSpc>
                <a:spcPts val="54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1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EXEMPLO: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1934" y="904875"/>
            <a:ext cx="872413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SISTEMA DE PESOS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94110" y="2409945"/>
            <a:ext cx="14299779" cy="1428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1"/>
              </a:lnSpc>
              <a:spcBef>
                <a:spcPct val="0"/>
              </a:spcBef>
            </a:pPr>
            <a:r>
              <a:rPr lang="en-US" b="true" sz="4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NEM TODO SELETOR NASCE IGUAL. ALGUNS SÃO "MAIS FORTES" (MAIS ESPECÍFICOS) QUE OUTROS.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4110" y="4178539"/>
            <a:ext cx="7691140" cy="445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INLINE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ID (#)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CLASSES(.)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TAG (H1)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SELETOR UNIVERSAL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74370"/>
            <a:ext cx="18288000" cy="8938260"/>
          </a:xfrm>
          <a:custGeom>
            <a:avLst/>
            <a:gdLst/>
            <a:ahLst/>
            <a:cxnLst/>
            <a:rect r="r" b="b" t="t" l="l"/>
            <a:pathLst>
              <a:path h="8938260" w="18288000">
                <a:moveTo>
                  <a:pt x="0" y="0"/>
                </a:moveTo>
                <a:lnTo>
                  <a:pt x="18288000" y="0"/>
                </a:lnTo>
                <a:lnTo>
                  <a:pt x="18288000" y="8938260"/>
                </a:lnTo>
                <a:lnTo>
                  <a:pt x="0" y="8938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17682" y="904875"/>
            <a:ext cx="5452636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HIERARQUIA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17787" y="904875"/>
            <a:ext cx="5452426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HIERARQUIA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4184" y="2657766"/>
            <a:ext cx="16499631" cy="596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4194" indent="-522097" lvl="1">
              <a:lnSpc>
                <a:spcPts val="6771"/>
              </a:lnSpc>
              <a:buFont typeface="Arial"/>
              <a:buChar char="•"/>
            </a:pP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ALGUNS ESTILOS APLICADOS AO PAI SÃO PASSADOS AUTOMATICAMENTE PARA OS FILHOS.</a:t>
            </a:r>
          </a:p>
          <a:p>
            <a:pPr algn="l">
              <a:lnSpc>
                <a:spcPts val="6771"/>
              </a:lnSpc>
            </a:pPr>
          </a:p>
          <a:p>
            <a:pPr algn="l" marL="1044194" indent="-522097" lvl="1">
              <a:lnSpc>
                <a:spcPts val="6771"/>
              </a:lnSpc>
              <a:buFont typeface="Arial"/>
              <a:buChar char="•"/>
            </a:pP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EXEMPLO CLÁSSICO: SE DEFINIR </a:t>
            </a:r>
            <a:r>
              <a:rPr lang="en-US" b="true" sz="48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COLOR: RED</a:t>
            </a: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NO </a:t>
            </a:r>
            <a:r>
              <a:rPr lang="en-US" b="true" sz="48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&lt;BODY&gt;</a:t>
            </a: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, TODOS OS PARÁGRAFOS, TÍTULOS E LISTAS DENTRO DELE FICARÃO VERMELHOS, SEM PRECISAR ESTILIZAR UM POR UM.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11186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78124"/>
            <a:ext cx="18288000" cy="7342619"/>
          </a:xfrm>
          <a:custGeom>
            <a:avLst/>
            <a:gdLst/>
            <a:ahLst/>
            <a:cxnLst/>
            <a:rect r="r" b="b" t="t" l="l"/>
            <a:pathLst>
              <a:path h="7342619" w="18288000">
                <a:moveTo>
                  <a:pt x="0" y="0"/>
                </a:moveTo>
                <a:lnTo>
                  <a:pt x="18288000" y="0"/>
                </a:lnTo>
                <a:lnTo>
                  <a:pt x="18288000" y="7342619"/>
                </a:lnTo>
                <a:lnTo>
                  <a:pt x="0" y="7342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7" t="-19475" r="0" b="-1803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05571" y="904875"/>
            <a:ext cx="10076857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FORÇANDO A HERANÇA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33603" y="403370"/>
            <a:ext cx="822079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COLORINDO A WEB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4078" y="2569172"/>
            <a:ext cx="15173587" cy="584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2605" indent="-511302" lvl="1">
              <a:lnSpc>
                <a:spcPts val="6631"/>
              </a:lnSpc>
              <a:buFont typeface="Arial"/>
              <a:buChar char="•"/>
            </a:pPr>
            <a:r>
              <a:rPr lang="en-US" b="true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PIXEL DO SEU MONITOR É FORMADO POR TRÊS "LÂMPADAS" MINÚSCULAS: RED (VERMELHO), GREEN (VERDE) E BLUE (AZUL).</a:t>
            </a:r>
          </a:p>
          <a:p>
            <a:pPr algn="l" marL="1022605" indent="-511302" lvl="1">
              <a:lnSpc>
                <a:spcPts val="6631"/>
              </a:lnSpc>
              <a:buFont typeface="Arial"/>
              <a:buChar char="•"/>
            </a:pPr>
            <a:r>
              <a:rPr lang="en-US" b="true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COR VAI DE 0 (DESLIGADO) A 255 (FORÇA MÁXIMA).</a:t>
            </a:r>
          </a:p>
          <a:p>
            <a:pPr algn="l" marL="1022605" indent="-511302" lvl="1">
              <a:lnSpc>
                <a:spcPts val="6631"/>
              </a:lnSpc>
              <a:buFont typeface="Arial"/>
              <a:buChar char="•"/>
            </a:pPr>
            <a:r>
              <a:rPr lang="en-US" b="true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SÃO MAIS DE 16 MILHÕES DE COMBINAÇÕES POSSÍVEIS!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9322" y="0"/>
            <a:ext cx="17109356" cy="10287000"/>
          </a:xfrm>
          <a:custGeom>
            <a:avLst/>
            <a:gdLst/>
            <a:ahLst/>
            <a:cxnLst/>
            <a:rect r="r" b="b" t="t" l="l"/>
            <a:pathLst>
              <a:path h="10287000" w="17109356">
                <a:moveTo>
                  <a:pt x="0" y="0"/>
                </a:moveTo>
                <a:lnTo>
                  <a:pt x="17109356" y="0"/>
                </a:lnTo>
                <a:lnTo>
                  <a:pt x="171093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97750" y="904875"/>
            <a:ext cx="11492499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DECIFRANDO O CÓDIGO (#)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0844" y="2755826"/>
            <a:ext cx="16526312" cy="596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16910" indent="-608455" lvl="1">
              <a:lnSpc>
                <a:spcPts val="7891"/>
              </a:lnSpc>
              <a:buFont typeface="Arial"/>
              <a:buChar char="•"/>
            </a:pPr>
            <a:r>
              <a:rPr lang="en-US" b="true" sz="5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HEXADECIMAL É APENAS UMA FORMA CURTA DE ESCREVER RGB.</a:t>
            </a:r>
          </a:p>
          <a:p>
            <a:pPr algn="l" marL="1216910" indent="-608455" lvl="1">
              <a:lnSpc>
                <a:spcPts val="7891"/>
              </a:lnSpc>
              <a:buFont typeface="Arial"/>
              <a:buChar char="•"/>
            </a:pPr>
            <a:r>
              <a:rPr lang="en-US" b="true" sz="5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USA NÚMEROS DE 0 A 9 E LETRAS DE A A F (ONDE F É O MÁXIMO, IGUAL A 255).</a:t>
            </a:r>
          </a:p>
          <a:p>
            <a:pPr algn="l" marL="1216910" indent="-608455" lvl="1">
              <a:lnSpc>
                <a:spcPts val="7891"/>
              </a:lnSpc>
              <a:buFont typeface="Arial"/>
              <a:buChar char="•"/>
            </a:pPr>
            <a:r>
              <a:rPr lang="en-US" b="true" sz="5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ESTRUTURA: #</a:t>
            </a:r>
            <a:r>
              <a:rPr lang="en-US" b="true" sz="5636">
                <a:solidFill>
                  <a:srgbClr val="FF3131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RR</a:t>
            </a:r>
            <a:r>
              <a:rPr lang="en-US" b="true" sz="5636">
                <a:solidFill>
                  <a:srgbClr val="00BF63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GG</a:t>
            </a:r>
            <a:r>
              <a:rPr lang="en-US" b="true" sz="5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BB</a:t>
            </a:r>
            <a:r>
              <a:rPr lang="en-US" b="true" sz="5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(DOIS DÍGITOS PARA CADA COR).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453502" cy="10195560"/>
          </a:xfrm>
          <a:custGeom>
            <a:avLst/>
            <a:gdLst/>
            <a:ahLst/>
            <a:cxnLst/>
            <a:rect r="r" b="b" t="t" l="l"/>
            <a:pathLst>
              <a:path h="10195560" w="18453502">
                <a:moveTo>
                  <a:pt x="0" y="0"/>
                </a:moveTo>
                <a:lnTo>
                  <a:pt x="18453502" y="0"/>
                </a:lnTo>
                <a:lnTo>
                  <a:pt x="18453502" y="10195560"/>
                </a:lnTo>
                <a:lnTo>
                  <a:pt x="0" y="1019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8071" y="1382887"/>
            <a:ext cx="13851858" cy="89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1"/>
              </a:lnSpc>
            </a:pPr>
            <a:r>
              <a:rPr lang="en-US" sz="52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ADICIONANDO TRANSPARÊNCIA (ALPHA)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243905"/>
            <a:ext cx="13978864" cy="424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4194" indent="-522097" lvl="1">
              <a:lnSpc>
                <a:spcPts val="6771"/>
              </a:lnSpc>
              <a:buFont typeface="Arial"/>
              <a:buChar char="•"/>
            </a:pP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'A' SIGNIFICA ALPHA. É O CANAL DA OPACIDADE.</a:t>
            </a:r>
          </a:p>
          <a:p>
            <a:pPr algn="l" marL="1044194" indent="-522097" lvl="1">
              <a:lnSpc>
                <a:spcPts val="6771"/>
              </a:lnSpc>
              <a:buFont typeface="Arial"/>
              <a:buChar char="•"/>
            </a:pP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VAI DE 0 (TOTALMENTE INVISÍVEL) A 1 (TOTALMENTE SÓLIDO).</a:t>
            </a:r>
          </a:p>
          <a:p>
            <a:pPr algn="l" marL="1044194" indent="-522097" lvl="1">
              <a:lnSpc>
                <a:spcPts val="6771"/>
              </a:lnSpc>
              <a:buFont typeface="Arial"/>
              <a:buChar char="•"/>
            </a:pPr>
            <a:r>
              <a:rPr lang="en-US" b="true" sz="4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VALORES COMUNS: 0.5 (50%), 0.1 (10%).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863090"/>
            <a:ext cx="18288000" cy="6560820"/>
          </a:xfrm>
          <a:custGeom>
            <a:avLst/>
            <a:gdLst/>
            <a:ahLst/>
            <a:cxnLst/>
            <a:rect r="r" b="b" t="t" l="l"/>
            <a:pathLst>
              <a:path h="6560820" w="18288000">
                <a:moveTo>
                  <a:pt x="0" y="0"/>
                </a:moveTo>
                <a:lnTo>
                  <a:pt x="18288000" y="0"/>
                </a:lnTo>
                <a:lnTo>
                  <a:pt x="18288000" y="6560820"/>
                </a:lnTo>
                <a:lnTo>
                  <a:pt x="0" y="6560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88802" y="904875"/>
            <a:ext cx="4110397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932383"/>
            <a:ext cx="18288000" cy="229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  <a:spcBef>
                <a:spcPct val="0"/>
              </a:spcBef>
            </a:pPr>
            <a:r>
              <a:rPr lang="en-US" sz="6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ESTILIZAR A PÁGINA DE PERFIL CRIADA COM </a:t>
            </a:r>
            <a:r>
              <a:rPr lang="en-US" sz="66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HTML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79737" y="403370"/>
            <a:ext cx="10328527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VARIÁVEIS CSS &amp; TEMAS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0760" y="2414172"/>
            <a:ext cx="16348540" cy="652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1015" indent="-500508" lvl="1">
              <a:lnSpc>
                <a:spcPts val="6491"/>
              </a:lnSpc>
              <a:buFont typeface="Arial"/>
              <a:buChar char="•"/>
            </a:pPr>
            <a:r>
              <a:rPr lang="en-US" b="true" sz="4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CUSTOM PROPERTIES (VARIÁVEIS) PERMITEM ARMAZENAR VALORES (CORES, TAMANHOS, FONTES) EM UM LUGAR E REUTILIZÁ-LOS EM TODO O SITE.</a:t>
            </a:r>
          </a:p>
          <a:p>
            <a:pPr algn="l" marL="1001015" indent="-500508" lvl="1">
              <a:lnSpc>
                <a:spcPts val="6491"/>
              </a:lnSpc>
              <a:buFont typeface="Arial"/>
              <a:buChar char="•"/>
            </a:pPr>
            <a:r>
              <a:rPr lang="en-US" b="true" sz="4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SINTAXE: COMEÇA SEMPRE COM DOIS TRAÇOS --.</a:t>
            </a:r>
          </a:p>
          <a:p>
            <a:pPr algn="l" marL="1001015" indent="-500508" lvl="1">
              <a:lnSpc>
                <a:spcPts val="6491"/>
              </a:lnSpc>
              <a:buFont typeface="Arial"/>
              <a:buChar char="•"/>
            </a:pPr>
            <a:r>
              <a:rPr lang="en-US" b="true" sz="4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ESCOPO: GERALMENTE DECLARAMOS NO :ROOT (O ELEMENTO MAIS ALTO DO HTML) PARA QUE FUNCIONEM NA PÁGINA TODA.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5765" y="0"/>
            <a:ext cx="16183535" cy="10317004"/>
          </a:xfrm>
          <a:custGeom>
            <a:avLst/>
            <a:gdLst/>
            <a:ahLst/>
            <a:cxnLst/>
            <a:rect r="r" b="b" t="t" l="l"/>
            <a:pathLst>
              <a:path h="10317004" w="16183535">
                <a:moveTo>
                  <a:pt x="0" y="0"/>
                </a:moveTo>
                <a:lnTo>
                  <a:pt x="16183535" y="0"/>
                </a:lnTo>
                <a:lnTo>
                  <a:pt x="16183535" y="10317004"/>
                </a:lnTo>
                <a:lnTo>
                  <a:pt x="0" y="10317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3691" y="904875"/>
            <a:ext cx="11020619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LÓGICA DO DARK MODE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8823" y="2945243"/>
            <a:ext cx="16400477" cy="573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73731" indent="-586866" lvl="1">
              <a:lnSpc>
                <a:spcPts val="7611"/>
              </a:lnSpc>
              <a:buFont typeface="Arial"/>
              <a:buChar char="•"/>
            </a:pPr>
            <a:r>
              <a:rPr lang="en-US" b="true" sz="54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SEGREDO NÃO É MUDAR O CSS DOS ELEMENTOS, MAS SIM REDEFINIR O VALOR DAS VARIÁVEIS.</a:t>
            </a:r>
          </a:p>
          <a:p>
            <a:pPr algn="l" marL="1173731" indent="-586866" lvl="1">
              <a:lnSpc>
                <a:spcPts val="7611"/>
              </a:lnSpc>
              <a:buFont typeface="Arial"/>
              <a:buChar char="•"/>
            </a:pPr>
            <a:r>
              <a:rPr lang="en-US" b="true" sz="54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CRIAMOS UMA CLASSE NO &lt;BODY&gt; (EX: .DARK-MODE) QUE SOBRESCREVE AS VARIÁVEIS ORIGINAIS.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3092" y="-1018363"/>
            <a:ext cx="16881817" cy="12323726"/>
          </a:xfrm>
          <a:custGeom>
            <a:avLst/>
            <a:gdLst/>
            <a:ahLst/>
            <a:cxnLst/>
            <a:rect r="r" b="b" t="t" l="l"/>
            <a:pathLst>
              <a:path h="12323726" w="16881817">
                <a:moveTo>
                  <a:pt x="0" y="0"/>
                </a:moveTo>
                <a:lnTo>
                  <a:pt x="16881816" y="0"/>
                </a:lnTo>
                <a:lnTo>
                  <a:pt x="16881816" y="12323726"/>
                </a:lnTo>
                <a:lnTo>
                  <a:pt x="0" y="12323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98631" y="904875"/>
            <a:ext cx="3690738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67819" y="3098741"/>
            <a:ext cx="11752362" cy="540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</a:pPr>
            <a:r>
              <a:rPr lang="en-US" sz="6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3 VARIAVEIS DE CORES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--FUNDO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--COR-PRINCIPAL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--BOTÃO</a:t>
            </a:r>
          </a:p>
          <a:p>
            <a:pPr algn="l">
              <a:lnSpc>
                <a:spcPts val="8451"/>
              </a:lnSpc>
            </a:pPr>
            <a:r>
              <a:rPr lang="en-US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CRIE O DARK MODE PRA ISSO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247806"/>
            <a:ext cx="16295043" cy="89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31"/>
              </a:lnSpc>
              <a:spcBef>
                <a:spcPct val="0"/>
              </a:spcBef>
            </a:pPr>
            <a:r>
              <a:rPr lang="en-US" b="true" sz="52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DOCUMENT.BODY.CLASSLIST.ADD('DARK-MODE')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87558" y="3234654"/>
            <a:ext cx="8912885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TIPOGRAFIA NA WEB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42939" y="5057775"/>
            <a:ext cx="13002121" cy="73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1"/>
              </a:lnSpc>
              <a:spcBef>
                <a:spcPct val="0"/>
              </a:spcBef>
            </a:pPr>
            <a:r>
              <a:rPr lang="en-US" b="true" sz="43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ARTE DE TORNAR O TEXTO LEGÍVEL E BONITO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7928" y="2498956"/>
            <a:ext cx="17432143" cy="692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2271" indent="-471135" lvl="1">
              <a:lnSpc>
                <a:spcPts val="6110"/>
              </a:lnSpc>
              <a:buFont typeface="Arial"/>
              <a:buChar char="•"/>
            </a:pPr>
            <a:r>
              <a:rPr lang="en-US" b="true" sz="436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COLOR</a:t>
            </a:r>
            <a:r>
              <a:rPr lang="en-US" b="true" sz="436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A COR DO TEXTO.</a:t>
            </a:r>
          </a:p>
          <a:p>
            <a:pPr algn="l" marL="942271" indent="-471135" lvl="1">
              <a:lnSpc>
                <a:spcPts val="6110"/>
              </a:lnSpc>
              <a:buFont typeface="Arial"/>
              <a:buChar char="•"/>
            </a:pPr>
            <a:r>
              <a:rPr lang="en-US" b="true" sz="436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FONT-SIZE</a:t>
            </a:r>
            <a:r>
              <a:rPr lang="en-US" b="true" sz="436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O TAMANHO DA FONTE.</a:t>
            </a:r>
          </a:p>
          <a:p>
            <a:pPr algn="l" marL="942271" indent="-471135" lvl="1">
              <a:lnSpc>
                <a:spcPts val="6110"/>
              </a:lnSpc>
              <a:buFont typeface="Arial"/>
              <a:buChar char="•"/>
            </a:pPr>
            <a:r>
              <a:rPr lang="en-US" b="true" sz="436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FONT-FAMILY</a:t>
            </a:r>
            <a:r>
              <a:rPr lang="en-US" b="true" sz="436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A FONTE (O TIPO DA LETRA).</a:t>
            </a:r>
          </a:p>
          <a:p>
            <a:pPr algn="l" marL="1884541" indent="-628180" lvl="2">
              <a:lnSpc>
                <a:spcPts val="6110"/>
              </a:lnSpc>
              <a:buFont typeface="Arial"/>
              <a:buChar char="⚬"/>
            </a:pPr>
            <a:r>
              <a:rPr lang="en-US" b="true" sz="436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EXEMPLO: FONT-FAMILY: ARIAL, SANS-SERIF;</a:t>
            </a:r>
          </a:p>
          <a:p>
            <a:pPr algn="l" marL="942271" indent="-471135" lvl="1">
              <a:lnSpc>
                <a:spcPts val="6110"/>
              </a:lnSpc>
              <a:buFont typeface="Arial"/>
              <a:buChar char="•"/>
            </a:pPr>
            <a:r>
              <a:rPr lang="en-US" b="true" sz="436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FONT-WEIGHT</a:t>
            </a:r>
            <a:r>
              <a:rPr lang="en-US" b="true" sz="436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O "PESO" DA FONTE (A "GROSSURA").</a:t>
            </a:r>
          </a:p>
          <a:p>
            <a:pPr algn="l" marL="942271" indent="-471135" lvl="1">
              <a:lnSpc>
                <a:spcPts val="6110"/>
              </a:lnSpc>
              <a:buFont typeface="Arial"/>
              <a:buChar char="•"/>
            </a:pPr>
            <a:r>
              <a:rPr lang="en-US" b="true" sz="436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TEXT-ALIGN</a:t>
            </a:r>
            <a:r>
              <a:rPr lang="en-US" b="true" sz="436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O ALINHAMENTO HORIZONTAL DO TEXTO.</a:t>
            </a:r>
          </a:p>
          <a:p>
            <a:pPr algn="l" marL="942271" indent="-471135" lvl="1">
              <a:lnSpc>
                <a:spcPts val="6110"/>
              </a:lnSpc>
              <a:buFont typeface="Arial"/>
              <a:buChar char="•"/>
            </a:pPr>
            <a:r>
              <a:rPr lang="en-US" b="true" sz="436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LINE-HEIGHT</a:t>
            </a:r>
            <a:r>
              <a:rPr lang="en-US" b="true" sz="436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DEFINE O ESPAÇAMENTO DAS LINHAS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85091" y="904875"/>
            <a:ext cx="3317818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FONTES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49333" y="403370"/>
            <a:ext cx="8189334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TIPOS DE FONTE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48630" y="1659588"/>
            <a:ext cx="13990740" cy="780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1"/>
              </a:lnSpc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SERIF (COM SERIFA)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TÊM PEQUENOS "PEZINHOS" OU TRAÇOS NAS PONTAS.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SENSAÇÃO: CLÁSSICO, ELEGANTE, TRADICIONAL, SÉRIO.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EXEMPLO: TIMES NEW ROMAN.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USO: ÓTIMO PARA TEXTOS LONGOS IMPRESSOS OU TÍTULOS SOFISTICADOS.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75133" y="-177651"/>
            <a:ext cx="13537734" cy="996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1"/>
              </a:lnSpc>
            </a:pPr>
            <a:r>
              <a:rPr lang="en-US" b="true" sz="5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SANS-SERIF (SEM SERIFA)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LINHAS RETAS E LIMPAS, SEM ORNAMENTOS.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SENSAÇÃO: MODERNO, MINIMALISTA, DIGITAL, AMIGÁVEL.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EXEMPLOS: ARIAL, ROBOTO, HELVETICA, OPEN SANS.</a:t>
            </a:r>
          </a:p>
          <a:p>
            <a:pPr algn="l" marL="1087373" indent="-543687" lvl="1">
              <a:lnSpc>
                <a:spcPts val="7051"/>
              </a:lnSpc>
              <a:buFont typeface="Arial"/>
              <a:buChar char="•"/>
            </a:pPr>
            <a:r>
              <a:rPr lang="en-US" b="true" sz="5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USO: O PADRÃO PARA TELAS E INTERFACES DIGITAIS (MELHOR LEITURA EM MONITORES).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04823"/>
            <a:ext cx="18262726" cy="7236605"/>
          </a:xfrm>
          <a:custGeom>
            <a:avLst/>
            <a:gdLst/>
            <a:ahLst/>
            <a:cxnLst/>
            <a:rect r="r" b="b" t="t" l="l"/>
            <a:pathLst>
              <a:path h="7236605" w="18262726">
                <a:moveTo>
                  <a:pt x="0" y="0"/>
                </a:moveTo>
                <a:lnTo>
                  <a:pt x="18262726" y="0"/>
                </a:lnTo>
                <a:lnTo>
                  <a:pt x="18262726" y="7236605"/>
                </a:lnTo>
                <a:lnTo>
                  <a:pt x="0" y="7236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97663" y="904875"/>
            <a:ext cx="8692674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PLANO ‘A’, ‘B’ E ‘C’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88700" y="904875"/>
            <a:ext cx="9510600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IMPORTANDO FONTES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86733"/>
            <a:ext cx="16904056" cy="657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2495" indent="-506247" lvl="1">
              <a:lnSpc>
                <a:spcPts val="6565"/>
              </a:lnSpc>
              <a:buFont typeface="Arial"/>
              <a:buChar char="•"/>
            </a:pPr>
            <a:r>
              <a:rPr lang="en-US" b="true" sz="468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ACESSE FONTS.GOOGLE.COM.</a:t>
            </a:r>
          </a:p>
          <a:p>
            <a:pPr algn="l" marL="1012495" indent="-506247" lvl="1">
              <a:lnSpc>
                <a:spcPts val="6565"/>
              </a:lnSpc>
              <a:buFont typeface="Arial"/>
              <a:buChar char="•"/>
            </a:pPr>
            <a:r>
              <a:rPr lang="en-US" b="true" sz="468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ESCOLHA UMA FONTE (EX: POPPINS).</a:t>
            </a:r>
          </a:p>
          <a:p>
            <a:pPr algn="l" marL="1012495" indent="-506247" lvl="1">
              <a:lnSpc>
                <a:spcPts val="6565"/>
              </a:lnSpc>
              <a:buFont typeface="Arial"/>
              <a:buChar char="•"/>
            </a:pPr>
            <a:r>
              <a:rPr lang="en-US" b="true" sz="468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SELECIONE OS PESOS QUE VAI USAR (EX: REGULAR 400, BOLD 700).</a:t>
            </a:r>
          </a:p>
          <a:p>
            <a:pPr algn="l" marL="1012495" indent="-506247" lvl="1">
              <a:lnSpc>
                <a:spcPts val="6565"/>
              </a:lnSpc>
              <a:buFont typeface="Arial"/>
              <a:buChar char="•"/>
            </a:pPr>
            <a:r>
              <a:rPr lang="en-US" b="true" sz="468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COPIE O CÓDIGO &lt;LINK&gt; E COLE NO &lt;HEAD&gt; DO SEU HTML (ANTES DO SEU CSS!).</a:t>
            </a:r>
          </a:p>
          <a:p>
            <a:pPr algn="l" marL="1012495" indent="-506247" lvl="1">
              <a:lnSpc>
                <a:spcPts val="6565"/>
              </a:lnSpc>
              <a:buFont typeface="Arial"/>
              <a:buChar char="•"/>
            </a:pPr>
            <a:r>
              <a:rPr lang="en-US" b="true" sz="468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COPIE A REGRA CSS (FONT-FAMILY) E USE NO SEU ARQUIVO .CSS.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5990" y="4016665"/>
            <a:ext cx="6576021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  <a:spcBef>
                <a:spcPct val="0"/>
              </a:spcBef>
            </a:pPr>
            <a:r>
              <a:rPr lang="en-US" sz="6636">
                <a:solidFill>
                  <a:srgbClr val="FFBD5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GOOGLE FONTS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68680"/>
            <a:ext cx="18288000" cy="8549640"/>
          </a:xfrm>
          <a:custGeom>
            <a:avLst/>
            <a:gdLst/>
            <a:ahLst/>
            <a:cxnLst/>
            <a:rect r="r" b="b" t="t" l="l"/>
            <a:pathLst>
              <a:path h="8549640" w="18288000">
                <a:moveTo>
                  <a:pt x="0" y="0"/>
                </a:moveTo>
                <a:lnTo>
                  <a:pt x="18288000" y="0"/>
                </a:lnTo>
                <a:lnTo>
                  <a:pt x="18288000" y="8549640"/>
                </a:lnTo>
                <a:lnTo>
                  <a:pt x="0" y="8549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57241" y="904875"/>
            <a:ext cx="9573518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ESTILIZANDO O TEXTO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0369" y="2479188"/>
            <a:ext cx="17507262" cy="703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5454" indent="-477727" lvl="1">
              <a:lnSpc>
                <a:spcPts val="6195"/>
              </a:lnSpc>
              <a:buFont typeface="Arial"/>
              <a:buChar char="•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TEXT-TRANSFORM: MUDA A CAIXA ALTA/BAIXA.</a:t>
            </a:r>
          </a:p>
          <a:p>
            <a:pPr algn="l" marL="1910907" indent="-636969" lvl="2">
              <a:lnSpc>
                <a:spcPts val="6195"/>
              </a:lnSpc>
              <a:buFont typeface="Arial"/>
              <a:buChar char="⚬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UPPERCASE: TUDO MAIÚSCULO.</a:t>
            </a:r>
          </a:p>
          <a:p>
            <a:pPr algn="l" marL="1910907" indent="-636969" lvl="2">
              <a:lnSpc>
                <a:spcPts val="6195"/>
              </a:lnSpc>
              <a:buFont typeface="Arial"/>
              <a:buChar char="⚬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LOWERCASE: TUDO MINÚSCULO.</a:t>
            </a:r>
          </a:p>
          <a:p>
            <a:pPr algn="l" marL="1910907" indent="-636969" lvl="2">
              <a:lnSpc>
                <a:spcPts val="6195"/>
              </a:lnSpc>
              <a:buFont typeface="Arial"/>
              <a:buChar char="⚬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CAPITALIZE: A PRIMEIRA LETRA DE CADA PALAVRA.</a:t>
            </a:r>
          </a:p>
          <a:p>
            <a:pPr algn="l" marL="955454" indent="-477727" lvl="1">
              <a:lnSpc>
                <a:spcPts val="6195"/>
              </a:lnSpc>
              <a:buFont typeface="Arial"/>
              <a:buChar char="•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TEXT-DECORATION:</a:t>
            </a:r>
          </a:p>
          <a:p>
            <a:pPr algn="l" marL="1910907" indent="-636969" lvl="2">
              <a:lnSpc>
                <a:spcPts val="6195"/>
              </a:lnSpc>
              <a:buFont typeface="Arial"/>
              <a:buChar char="⚬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NONE: REMOVE O SUBLINHADO DE LINKS (ESSENCIAL!).</a:t>
            </a:r>
          </a:p>
          <a:p>
            <a:pPr algn="l" marL="1910907" indent="-636969" lvl="2">
              <a:lnSpc>
                <a:spcPts val="6195"/>
              </a:lnSpc>
              <a:buFont typeface="Arial"/>
              <a:buChar char="⚬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UNDERLINE: ADICIONA SUBLINHADO.</a:t>
            </a:r>
          </a:p>
          <a:p>
            <a:pPr algn="l" marL="1910907" indent="-636969" lvl="2">
              <a:lnSpc>
                <a:spcPts val="6195"/>
              </a:lnSpc>
              <a:buFont typeface="Arial"/>
              <a:buChar char="⚬"/>
            </a:pPr>
            <a:r>
              <a:rPr lang="en-US" b="true" sz="442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LINE-THROUGH: RISCO NO MEIO (USADO PARA PREÇOS ANTIGOS OU TAREFAS CONCLUÍDAS).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51443" y="1282380"/>
            <a:ext cx="3785115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71341" y="4016665"/>
            <a:ext cx="12545318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0"/>
              </a:lnSpc>
              <a:spcBef>
                <a:spcPct val="0"/>
              </a:spcBef>
            </a:pPr>
            <a:r>
              <a:rPr lang="en-US" sz="66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ALTERANDO A FONTE DO SITE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0668" y="904875"/>
            <a:ext cx="11366665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CAIXA DE FERRAMENTAS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6205" y="2896526"/>
            <a:ext cx="10392867" cy="6361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b="true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UIVERSE.IO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b="true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CODEPEN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b="true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GLASSMORPHISM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b="true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NEUMORPHISM.IO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b="true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FANCY BORDER RADIUS</a:t>
            </a:r>
          </a:p>
          <a:p>
            <a:pPr algn="l" marL="1303268" indent="-651634" lvl="1">
              <a:lnSpc>
                <a:spcPts val="8451"/>
              </a:lnSpc>
              <a:buFont typeface="Arial"/>
              <a:buChar char="•"/>
            </a:pPr>
            <a:r>
              <a:rPr lang="en-US" b="true" sz="6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ANIMISTA.NET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3250" y="3482654"/>
            <a:ext cx="14921499" cy="206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0"/>
              </a:lnSpc>
            </a:pPr>
            <a:r>
              <a:rPr lang="en-US" sz="7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DISPLAY</a:t>
            </a:r>
          </a:p>
          <a:p>
            <a:pPr algn="ctr">
              <a:lnSpc>
                <a:spcPts val="6491"/>
              </a:lnSpc>
            </a:pPr>
            <a:r>
              <a:rPr lang="en-US" sz="4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</a:t>
            </a:r>
            <a:r>
              <a:rPr lang="en-US" sz="4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COMPORTAMENTO DOS ELEMENTOS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95379" y="904875"/>
            <a:ext cx="7497243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MAIS SIMPLES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54735" y="3169229"/>
            <a:ext cx="8128422" cy="503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52420" indent="-776210" lvl="1">
              <a:lnSpc>
                <a:spcPts val="10066"/>
              </a:lnSpc>
              <a:buFont typeface="Arial"/>
              <a:buChar char="•"/>
            </a:pPr>
            <a:r>
              <a:rPr lang="en-US" sz="71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BLOCK</a:t>
            </a:r>
          </a:p>
          <a:p>
            <a:pPr algn="l" marL="1552420" indent="-776210" lvl="1">
              <a:lnSpc>
                <a:spcPts val="10066"/>
              </a:lnSpc>
              <a:buFont typeface="Arial"/>
              <a:buChar char="•"/>
            </a:pPr>
            <a:r>
              <a:rPr lang="en-US" sz="71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INLINE</a:t>
            </a:r>
          </a:p>
          <a:p>
            <a:pPr algn="l" marL="1552420" indent="-776210" lvl="1">
              <a:lnSpc>
                <a:spcPts val="10066"/>
              </a:lnSpc>
              <a:buFont typeface="Arial"/>
              <a:buChar char="•"/>
            </a:pPr>
            <a:r>
              <a:rPr lang="en-US" sz="71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INLINE-BLOCK</a:t>
            </a:r>
          </a:p>
          <a:p>
            <a:pPr algn="l" marL="1552420" indent="-776210" lvl="1">
              <a:lnSpc>
                <a:spcPts val="10066"/>
              </a:lnSpc>
              <a:buFont typeface="Arial"/>
              <a:buChar char="•"/>
            </a:pPr>
            <a:r>
              <a:rPr lang="en-US" sz="719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2318" y="1147444"/>
            <a:ext cx="16663363" cy="788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4"/>
              </a:lnSpc>
            </a:pPr>
            <a:r>
              <a:rPr lang="en-US" sz="522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</a:t>
            </a:r>
          </a:p>
          <a:p>
            <a:pPr algn="ctr">
              <a:lnSpc>
                <a:spcPts val="7314"/>
              </a:lnSpc>
            </a:pPr>
          </a:p>
          <a:p>
            <a:pPr algn="l">
              <a:lnSpc>
                <a:spcPts val="6754"/>
              </a:lnSpc>
            </a:pP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3 LINKS </a:t>
            </a:r>
            <a:r>
              <a:rPr lang="en-US" sz="4824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&lt;A&gt;</a:t>
            </a: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COM A CLASSE </a:t>
            </a:r>
            <a:r>
              <a:rPr lang="en-US" sz="4824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.BOTAO</a:t>
            </a: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  <a:p>
            <a:pPr algn="l">
              <a:lnSpc>
                <a:spcPts val="6754"/>
              </a:lnSpc>
            </a:pP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TENTE COLOCAR </a:t>
            </a:r>
            <a:r>
              <a:rPr lang="en-US" sz="482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WIDTH: 200PX</a:t>
            </a: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E </a:t>
            </a:r>
            <a:r>
              <a:rPr lang="en-US" sz="482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HEIGHT: 50PX</a:t>
            </a: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  <a:p>
            <a:pPr algn="l">
              <a:lnSpc>
                <a:spcPts val="6754"/>
              </a:lnSpc>
            </a:pP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MUDE PARA </a:t>
            </a:r>
            <a:r>
              <a:rPr lang="en-US" sz="482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DISPLAY: INLINE-BLOCK</a:t>
            </a: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E VEJA A MÁGICA!</a:t>
            </a:r>
          </a:p>
          <a:p>
            <a:pPr algn="l">
              <a:lnSpc>
                <a:spcPts val="6754"/>
              </a:lnSpc>
            </a:pP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MUDE PARA </a:t>
            </a:r>
            <a:r>
              <a:rPr lang="en-US" sz="4824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DISPLAY: BLOCK</a:t>
            </a:r>
            <a:r>
              <a:rPr lang="en-US" sz="482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E VEJA ELES FICAREM UM EMBAIXO DO OUTRO.</a:t>
            </a:r>
          </a:p>
          <a:p>
            <a:pPr algn="l">
              <a:lnSpc>
                <a:spcPts val="731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3257" y="914400"/>
            <a:ext cx="13261485" cy="102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1"/>
              </a:lnSpc>
            </a:pPr>
            <a:r>
              <a:rPr lang="en-US" sz="60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DOMINANDO FLEXBOX E CSS GRID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3257" y="2988066"/>
            <a:ext cx="11068977" cy="545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6690" indent="-478345" lvl="1">
              <a:lnSpc>
                <a:spcPts val="6203"/>
              </a:lnSpc>
              <a:buFont typeface="Arial"/>
              <a:buChar char="•"/>
            </a:pPr>
            <a:r>
              <a:rPr lang="en-US" b="true" sz="443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CSS MODERNO TROUXE DUAS FERRAMENTAS PODEROSAS PROJETADAS ESPECIFICAMENTE PARA LAYOUT.</a:t>
            </a:r>
          </a:p>
          <a:p>
            <a:pPr algn="l" marL="956690" indent="-478345" lvl="1">
              <a:lnSpc>
                <a:spcPts val="6203"/>
              </a:lnSpc>
              <a:buFont typeface="Arial"/>
              <a:buChar char="•"/>
            </a:pPr>
            <a:r>
              <a:rPr lang="en-US" b="true" sz="443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OBJETIVO: DISTRIBUIR ESPAÇO E ALINHAR COISAS SEM MATEMÁTICA COMPLEXA.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72796" y="904875"/>
            <a:ext cx="3942408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FLEXBOX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01868"/>
            <a:ext cx="15470554" cy="69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8530" indent="-434265" lvl="1">
              <a:lnSpc>
                <a:spcPts val="5631"/>
              </a:lnSpc>
              <a:buFont typeface="Arial"/>
              <a:buChar char="•"/>
            </a:pPr>
            <a:r>
              <a:rPr lang="en-US" b="true" sz="402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COMANDO MÁGICO:</a:t>
            </a:r>
            <a:r>
              <a:rPr lang="en-US" b="true" sz="4022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DISPLAY: FLEX; </a:t>
            </a:r>
            <a:r>
              <a:rPr lang="en-US" b="true" sz="402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(NO ELEMENTO PAI).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31823"/>
            <a:ext cx="17259300" cy="416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9198" indent="-509599" lvl="1">
              <a:lnSpc>
                <a:spcPts val="6608"/>
              </a:lnSpc>
              <a:buFont typeface="Arial"/>
              <a:buChar char="•"/>
            </a:pPr>
            <a:r>
              <a:rPr lang="en-US" b="true" sz="4720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FLEX-DIRECTION</a:t>
            </a:r>
            <a:r>
              <a:rPr lang="en-US" b="true" sz="47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MUDA A DIREÇÃO DO EIXO PRINCIPAL.</a:t>
            </a:r>
          </a:p>
          <a:p>
            <a:pPr algn="l" marL="2038396" indent="-679465" lvl="2">
              <a:lnSpc>
                <a:spcPts val="6608"/>
              </a:lnSpc>
              <a:buFont typeface="Arial"/>
              <a:buChar char="⚬"/>
            </a:pPr>
            <a:r>
              <a:rPr lang="en-US" b="true" sz="47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ROW (PADRÃO): LINHA.</a:t>
            </a:r>
          </a:p>
          <a:p>
            <a:pPr algn="l" marL="2038396" indent="-679465" lvl="2">
              <a:lnSpc>
                <a:spcPts val="6608"/>
              </a:lnSpc>
              <a:buFont typeface="Arial"/>
              <a:buChar char="⚬"/>
            </a:pPr>
            <a:r>
              <a:rPr lang="en-US" b="true" sz="47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COLUMN: COLUNA (O EIXO PRINCIPAL VIRA VERTICAL!).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11195" y="677874"/>
            <a:ext cx="10265610" cy="102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1"/>
              </a:lnSpc>
            </a:pPr>
            <a:r>
              <a:rPr lang="en-US" sz="60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CONTROLANDO O ESPAÇO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975" y="2644178"/>
            <a:ext cx="17259300" cy="615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83363" indent="-627788" lvl="2">
              <a:lnSpc>
                <a:spcPts val="6106"/>
              </a:lnSpc>
              <a:buFont typeface="Arial"/>
              <a:buChar char="⚬"/>
            </a:pP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JUSTIFY-CONTENT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ALINHA NO EIXO PRINCIPAL (HORIZONTAL POR PADRÃO).</a:t>
            </a:r>
          </a:p>
          <a:p>
            <a:pPr algn="l" marL="2825044" indent="-706261" lvl="3">
              <a:lnSpc>
                <a:spcPts val="6106"/>
              </a:lnSpc>
              <a:buFont typeface="Arial"/>
              <a:buChar char="￭"/>
            </a:pP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FLEX-START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(INÍCIO), </a:t>
            </a: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CENTER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(MEIO), </a:t>
            </a: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SPACE-BETWEEN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(ESPALHA), </a:t>
            </a: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SPACE-AROUND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  <a:p>
            <a:pPr algn="l" marL="1883363" indent="-627788" lvl="2">
              <a:lnSpc>
                <a:spcPts val="6106"/>
              </a:lnSpc>
              <a:buFont typeface="Arial"/>
              <a:buChar char="⚬"/>
            </a:pP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ALIGN-ITEMS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 ALINHA NO EIXO TRANSVERSAL (VERTICAL POR PADRÃO).</a:t>
            </a:r>
          </a:p>
          <a:p>
            <a:pPr algn="l" marL="2825044" indent="-706261" lvl="3">
              <a:lnSpc>
                <a:spcPts val="6106"/>
              </a:lnSpc>
              <a:buFont typeface="Arial"/>
              <a:buChar char="￭"/>
            </a:pP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STRETCH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(ESTICA - PADRÃO), </a:t>
            </a: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CENTER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(MEIO), </a:t>
            </a: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FLEX-START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(TOPO), </a:t>
            </a:r>
            <a:r>
              <a:rPr lang="en-US" b="true" sz="4361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FLEX-END</a:t>
            </a:r>
            <a:r>
              <a:rPr lang="en-US" b="true" sz="436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(BASE).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46627"/>
            <a:ext cx="18288000" cy="8412480"/>
          </a:xfrm>
          <a:custGeom>
            <a:avLst/>
            <a:gdLst/>
            <a:ahLst/>
            <a:cxnLst/>
            <a:rect r="r" b="b" t="t" l="l"/>
            <a:pathLst>
              <a:path h="8412480" w="18288000">
                <a:moveTo>
                  <a:pt x="0" y="0"/>
                </a:moveTo>
                <a:lnTo>
                  <a:pt x="18288000" y="0"/>
                </a:lnTo>
                <a:lnTo>
                  <a:pt x="18288000" y="8412480"/>
                </a:lnTo>
                <a:lnTo>
                  <a:pt x="0" y="8412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65" t="0" r="-696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43512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2" y="0"/>
                </a:lnTo>
                <a:lnTo>
                  <a:pt x="1788432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5641"/>
            <a:ext cx="16230600" cy="10155718"/>
          </a:xfrm>
          <a:custGeom>
            <a:avLst/>
            <a:gdLst/>
            <a:ahLst/>
            <a:cxnLst/>
            <a:rect r="r" b="b" t="t" l="l"/>
            <a:pathLst>
              <a:path h="10155718" w="16230600">
                <a:moveTo>
                  <a:pt x="0" y="0"/>
                </a:moveTo>
                <a:lnTo>
                  <a:pt x="16230600" y="0"/>
                </a:lnTo>
                <a:lnTo>
                  <a:pt x="16230600" y="10155718"/>
                </a:lnTo>
                <a:lnTo>
                  <a:pt x="0" y="10155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69369" y="904875"/>
            <a:ext cx="2149262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GRID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3656" y="2697771"/>
            <a:ext cx="16620688" cy="656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2142" indent="-576071" lvl="1">
              <a:lnSpc>
                <a:spcPts val="7471"/>
              </a:lnSpc>
              <a:buFont typeface="Arial"/>
              <a:buChar char="•"/>
            </a:pPr>
            <a:r>
              <a:rPr lang="en-US" b="true" sz="53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ORGANIZA ELEMENTOS EM LINHAS E COLUNAS AO MESMO TEMPO.</a:t>
            </a:r>
          </a:p>
          <a:p>
            <a:pPr algn="l" marL="1152142" indent="-576071" lvl="1">
              <a:lnSpc>
                <a:spcPts val="7471"/>
              </a:lnSpc>
              <a:buFont typeface="Arial"/>
              <a:buChar char="•"/>
            </a:pPr>
            <a:r>
              <a:rPr lang="en-US" b="true" sz="53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COMO UMA PLANILHA DE EXCEL OU UM TABULEIRO DE XADREZ INVISÍVEL ONDE VOCÊ ENCAIXA OS ELEMENTOS.</a:t>
            </a:r>
          </a:p>
          <a:p>
            <a:pPr algn="l" marL="1152142" indent="-576071" lvl="1">
              <a:lnSpc>
                <a:spcPts val="7471"/>
              </a:lnSpc>
              <a:buFont typeface="Arial"/>
              <a:buChar char="•"/>
            </a:pPr>
            <a:r>
              <a:rPr lang="en-US" b="true" sz="53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COMANDO MÁGICO: </a:t>
            </a:r>
            <a:r>
              <a:rPr lang="en-US" b="true" sz="53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DISPLAY: GRID;</a:t>
            </a:r>
            <a:r>
              <a:rPr lang="en-US" b="true" sz="53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(NO ELEMENTO PAI).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5801" y="904875"/>
            <a:ext cx="6616399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UNIDADE ‘FR’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67075" y="3572802"/>
            <a:ext cx="14553851" cy="157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1"/>
              </a:lnSpc>
              <a:spcBef>
                <a:spcPct val="0"/>
              </a:spcBef>
            </a:pPr>
            <a:r>
              <a:rPr lang="en-US" b="true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UNIDADE FR (FRAÇÃO): A MELHOR AMIGA DO GRID. SIGNIFICA "UMA PARTE DO ESPAÇO LIVRE".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028700"/>
            <a:ext cx="18288000" cy="8229600"/>
          </a:xfrm>
          <a:custGeom>
            <a:avLst/>
            <a:gdLst/>
            <a:ahLst/>
            <a:cxnLst/>
            <a:rect r="r" b="b" t="t" l="l"/>
            <a:pathLst>
              <a:path h="8229600" w="18288000">
                <a:moveTo>
                  <a:pt x="0" y="0"/>
                </a:moveTo>
                <a:lnTo>
                  <a:pt x="18288000" y="0"/>
                </a:lnTo>
                <a:lnTo>
                  <a:pt x="18288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437" r="0" b="-272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3549" y="200488"/>
            <a:ext cx="17280903" cy="157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1"/>
              </a:lnSpc>
            </a:pPr>
            <a:r>
              <a:rPr lang="en-US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USAMOS </a:t>
            </a:r>
            <a:r>
              <a:rPr lang="en-US" sz="45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GRID-TEMPLATE-COLUMNS</a:t>
            </a:r>
            <a:r>
              <a:rPr lang="en-US" sz="45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PARA DIZER QUANTAS COLUNAS QUEREMOS.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9728" y="904875"/>
            <a:ext cx="9208544" cy="107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1"/>
              </a:lnSpc>
            </a:pPr>
            <a:r>
              <a:rPr lang="en-US" sz="62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GRID TEMPLATE AREAS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37424" y="2566961"/>
            <a:ext cx="13613153" cy="6103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5784" indent="-532892" lvl="1">
              <a:lnSpc>
                <a:spcPts val="6911"/>
              </a:lnSpc>
              <a:buFont typeface="Arial"/>
              <a:buChar char="•"/>
            </a:pPr>
            <a:r>
              <a:rPr lang="en-US" b="true" sz="49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VEZ DE USAR NÚMEROS DE LINHA, PODEMOS DAR NOMES ÀS ÁREAS. É A FORMA MAIS LEGÍVEL DE CRIAR LAYOUTS.</a:t>
            </a:r>
          </a:p>
          <a:p>
            <a:pPr algn="l" marL="1065784" indent="-532892" lvl="1">
              <a:lnSpc>
                <a:spcPts val="6911"/>
              </a:lnSpc>
              <a:buFont typeface="Arial"/>
              <a:buChar char="•"/>
            </a:pPr>
            <a:r>
              <a:rPr lang="en-US" b="true" sz="49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VISUALIZEM O LAYOUT APENAS LENDO A PROPRIEDADE GRID-TEMPLATE-AREAS!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0"/>
            <a:ext cx="16178560" cy="10287000"/>
          </a:xfrm>
          <a:custGeom>
            <a:avLst/>
            <a:gdLst/>
            <a:ahLst/>
            <a:cxnLst/>
            <a:rect r="r" b="b" t="t" l="l"/>
            <a:pathLst>
              <a:path h="10287000" w="16178560">
                <a:moveTo>
                  <a:pt x="0" y="0"/>
                </a:moveTo>
                <a:lnTo>
                  <a:pt x="16178560" y="0"/>
                </a:lnTo>
                <a:lnTo>
                  <a:pt x="16178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30" r="0" b="-1163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69369" y="904875"/>
            <a:ext cx="2149262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GRID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85871" y="3068945"/>
            <a:ext cx="7016998" cy="3882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376288" indent="-688144" lvl="1">
              <a:lnSpc>
                <a:spcPts val="10454"/>
              </a:lnSpc>
              <a:buFont typeface="Arial"/>
              <a:buChar char="•"/>
            </a:pPr>
            <a:r>
              <a:rPr lang="en-US" sz="637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Z-INDEX</a:t>
            </a:r>
          </a:p>
          <a:p>
            <a:pPr algn="ctr" marL="1376288" indent="-688144" lvl="1">
              <a:lnSpc>
                <a:spcPts val="10454"/>
              </a:lnSpc>
              <a:buFont typeface="Arial"/>
              <a:buChar char="•"/>
            </a:pPr>
            <a:r>
              <a:rPr lang="en-US" sz="637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REPEAT()</a:t>
            </a:r>
          </a:p>
          <a:p>
            <a:pPr algn="ctr" marL="1376288" indent="-688144" lvl="1">
              <a:lnSpc>
                <a:spcPts val="10454"/>
              </a:lnSpc>
              <a:buFont typeface="Arial"/>
              <a:buChar char="•"/>
            </a:pPr>
            <a:r>
              <a:rPr lang="en-US" sz="637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GAP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411480"/>
            <a:ext cx="18288000" cy="9464040"/>
          </a:xfrm>
          <a:custGeom>
            <a:avLst/>
            <a:gdLst/>
            <a:ahLst/>
            <a:cxnLst/>
            <a:rect r="r" b="b" t="t" l="l"/>
            <a:pathLst>
              <a:path h="9464040" w="18288000">
                <a:moveTo>
                  <a:pt x="0" y="0"/>
                </a:moveTo>
                <a:lnTo>
                  <a:pt x="18288000" y="0"/>
                </a:lnTo>
                <a:lnTo>
                  <a:pt x="18288000" y="9464040"/>
                </a:lnTo>
                <a:lnTo>
                  <a:pt x="0" y="9464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69369" y="635000"/>
            <a:ext cx="2149262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161718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GRID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99432" y="403370"/>
            <a:ext cx="3689137" cy="112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90"/>
              </a:lnSpc>
            </a:pPr>
            <a:r>
              <a:rPr lang="en-US" sz="66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0353" y="2221806"/>
            <a:ext cx="8068216" cy="703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1"/>
              </a:lnSpc>
            </a:pPr>
            <a:r>
              <a:rPr lang="en-US" sz="572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UMA PÁGINA SIMPLES COM:</a:t>
            </a:r>
          </a:p>
          <a:p>
            <a:pPr algn="l" marL="1235522" indent="-617761" lvl="1">
              <a:lnSpc>
                <a:spcPts val="8011"/>
              </a:lnSpc>
              <a:buFont typeface="Arial"/>
              <a:buChar char="•"/>
            </a:pPr>
            <a:r>
              <a:rPr lang="en-US" sz="572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</a:t>
            </a:r>
            <a:r>
              <a:rPr lang="en-US" sz="572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HEADER&gt;</a:t>
            </a:r>
          </a:p>
          <a:p>
            <a:pPr algn="l" marL="1235522" indent="-617761" lvl="1">
              <a:lnSpc>
                <a:spcPts val="8011"/>
              </a:lnSpc>
              <a:buFont typeface="Arial"/>
              <a:buChar char="•"/>
            </a:pPr>
            <a:r>
              <a:rPr lang="en-US" sz="572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&lt;MAIN&gt;</a:t>
            </a:r>
          </a:p>
          <a:p>
            <a:pPr algn="l" marL="1235522" indent="-617761" lvl="1">
              <a:lnSpc>
                <a:spcPts val="8011"/>
              </a:lnSpc>
              <a:buFont typeface="Arial"/>
              <a:buChar char="•"/>
            </a:pPr>
            <a:r>
              <a:rPr lang="en-US" sz="572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&lt;ASIDE&gt;</a:t>
            </a:r>
          </a:p>
          <a:p>
            <a:pPr algn="l" marL="1235522" indent="-617761" lvl="1">
              <a:lnSpc>
                <a:spcPts val="8011"/>
              </a:lnSpc>
              <a:buFont typeface="Arial"/>
              <a:buChar char="•"/>
            </a:pPr>
            <a:r>
              <a:rPr lang="en-US" sz="572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&lt;FOOTER&gt;</a:t>
            </a:r>
          </a:p>
          <a:p>
            <a:pPr algn="l">
              <a:lnSpc>
                <a:spcPts val="8011"/>
              </a:lnSpc>
              <a:spcBef>
                <a:spcPct val="0"/>
              </a:spcBef>
            </a:pPr>
            <a:r>
              <a:rPr lang="en-US" sz="572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</a:t>
            </a:r>
            <a:r>
              <a:rPr lang="en-US" sz="5722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SANDO O GRID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23119" y="933450"/>
            <a:ext cx="564176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PSEUDO-CLASSES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4375" y="2793653"/>
            <a:ext cx="14745983" cy="516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4691" indent="-527345" lvl="1">
              <a:lnSpc>
                <a:spcPts val="6839"/>
              </a:lnSpc>
              <a:buFont typeface="Arial"/>
              <a:buChar char="•"/>
            </a:pPr>
            <a:r>
              <a:rPr lang="en-US" b="true" sz="488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PSEUDO-CLASSE DEFINE UM ESTADO ESPECIAL DE UM ELEMENTO.</a:t>
            </a:r>
          </a:p>
          <a:p>
            <a:pPr algn="l" marL="1054691" indent="-527345" lvl="1">
              <a:lnSpc>
                <a:spcPts val="6839"/>
              </a:lnSpc>
              <a:buFont typeface="Arial"/>
              <a:buChar char="•"/>
            </a:pPr>
            <a:r>
              <a:rPr lang="en-US" b="true" sz="488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ELA NÃO CRIA NADA NOVO, APENAS ESTILIZA O ELEMENTO QUANDO ALGO ACONTECE COM ELE.</a:t>
            </a:r>
          </a:p>
          <a:p>
            <a:pPr algn="l" marL="1054691" indent="-527345" lvl="1">
              <a:lnSpc>
                <a:spcPts val="6839"/>
              </a:lnSpc>
              <a:buFont typeface="Arial"/>
              <a:buChar char="•"/>
            </a:pPr>
            <a:r>
              <a:rPr lang="en-US" b="true" sz="488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SINTAXE: USA UM DOIS-PONTOS (:).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60020"/>
            <a:ext cx="18288000" cy="9966960"/>
          </a:xfrm>
          <a:custGeom>
            <a:avLst/>
            <a:gdLst/>
            <a:ahLst/>
            <a:cxnLst/>
            <a:rect r="r" b="b" t="t" l="l"/>
            <a:pathLst>
              <a:path h="9966960" w="18288000">
                <a:moveTo>
                  <a:pt x="0" y="0"/>
                </a:moveTo>
                <a:lnTo>
                  <a:pt x="18288000" y="0"/>
                </a:lnTo>
                <a:lnTo>
                  <a:pt x="18288000" y="9966960"/>
                </a:lnTo>
                <a:lnTo>
                  <a:pt x="0" y="9966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2953" y="0"/>
            <a:ext cx="16426347" cy="10287000"/>
          </a:xfrm>
          <a:custGeom>
            <a:avLst/>
            <a:gdLst/>
            <a:ahLst/>
            <a:cxnLst/>
            <a:rect r="r" b="b" t="t" l="l"/>
            <a:pathLst>
              <a:path h="10287000" w="16426347">
                <a:moveTo>
                  <a:pt x="0" y="0"/>
                </a:moveTo>
                <a:lnTo>
                  <a:pt x="16426347" y="0"/>
                </a:lnTo>
                <a:lnTo>
                  <a:pt x="164263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8744" y="346075"/>
            <a:ext cx="961051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MATEMÁTICA (:NTH-CHILD)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4540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2" y="0"/>
                </a:lnTo>
                <a:lnTo>
                  <a:pt x="1788432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71647" y="4273841"/>
            <a:ext cx="3944706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TABELA 3X3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7807" y="933450"/>
            <a:ext cx="6832387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PSEUDO-ELEMENTOS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7625" y="2864313"/>
            <a:ext cx="14128750" cy="568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1479" indent="-435739" lvl="1">
              <a:lnSpc>
                <a:spcPts val="5651"/>
              </a:lnSpc>
              <a:buFont typeface="Arial"/>
              <a:buChar char="•"/>
            </a:pPr>
            <a:r>
              <a:rPr lang="en-US" b="true" sz="4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PSEUDO-ELEMENTO PERMITE ESTILIZAR UMA PARTE ESPECÍFICA DE UM ELEMENTO OU INSERIR CONTEÚDO NOVO VIA CSS.</a:t>
            </a:r>
          </a:p>
          <a:p>
            <a:pPr algn="l" marL="871479" indent="-435739" lvl="1">
              <a:lnSpc>
                <a:spcPts val="5651"/>
              </a:lnSpc>
              <a:buFont typeface="Arial"/>
              <a:buChar char="•"/>
            </a:pPr>
            <a:r>
              <a:rPr lang="en-US" b="true" sz="4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COMO CRIAR UMA TAG HTML "FANTASMA" QUE NÃO EXISTE NO CÓDIGO, SÓ NA TELA.</a:t>
            </a:r>
          </a:p>
          <a:p>
            <a:pPr algn="l" marL="871479" indent="-435739" lvl="1">
              <a:lnSpc>
                <a:spcPts val="5651"/>
              </a:lnSpc>
              <a:buFont typeface="Arial"/>
              <a:buChar char="•"/>
            </a:pPr>
            <a:r>
              <a:rPr lang="en-US" b="true" sz="40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SINTAXE: A FORMA MODERNA USA DOIS DOIS-PONTOS (::) PARA DIFERENCIAR DAS PSEUDO-CLASSES.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17220"/>
            <a:ext cx="18288000" cy="9052560"/>
          </a:xfrm>
          <a:custGeom>
            <a:avLst/>
            <a:gdLst/>
            <a:ahLst/>
            <a:cxnLst/>
            <a:rect r="r" b="b" t="t" l="l"/>
            <a:pathLst>
              <a:path h="9052560" w="18288000">
                <a:moveTo>
                  <a:pt x="0" y="0"/>
                </a:moveTo>
                <a:lnTo>
                  <a:pt x="18288000" y="0"/>
                </a:lnTo>
                <a:lnTo>
                  <a:pt x="18288000" y="9052560"/>
                </a:lnTo>
                <a:lnTo>
                  <a:pt x="0" y="9052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62369" y="816121"/>
            <a:ext cx="1256326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DECORADORES (::BEFORE E ::AFTER)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96119" y="933450"/>
            <a:ext cx="589576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EFEITOS DE TEXTO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3825" y="2616131"/>
            <a:ext cx="14554802" cy="6075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464" indent="-453232" lvl="1">
              <a:lnSpc>
                <a:spcPts val="6927"/>
              </a:lnSpc>
              <a:buFont typeface="Arial"/>
              <a:buChar char="•"/>
            </a:pPr>
            <a:r>
              <a:rPr lang="en-US" b="true" sz="41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::FIRST-LETTER: ESTILIZA A PRIMEIRA LETRA</a:t>
            </a:r>
          </a:p>
          <a:p>
            <a:pPr algn="l" marL="906464" indent="-453232" lvl="1">
              <a:lnSpc>
                <a:spcPts val="6927"/>
              </a:lnSpc>
              <a:buFont typeface="Arial"/>
              <a:buChar char="•"/>
            </a:pPr>
            <a:r>
              <a:rPr lang="en-US" b="true" sz="41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::FIRST-LINE: ESTILIZA APENAS A PRIMEIRA LINHA DE UM PARÁGRAFO (ÚTIL EM LAYOUTS RESPONSIVOS ONDE A LINHA MUDA DE TAMANHO).</a:t>
            </a:r>
          </a:p>
          <a:p>
            <a:pPr algn="l" marL="906464" indent="-453232" lvl="1">
              <a:lnSpc>
                <a:spcPts val="6927"/>
              </a:lnSpc>
              <a:buFont typeface="Arial"/>
              <a:buChar char="•"/>
            </a:pPr>
            <a:r>
              <a:rPr lang="en-US" b="true" sz="419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::SELECTION: MUDA A COR DE FUNDO QUANDO O USUÁRIO SELECIONA O TEXTO COM O MOUSE.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17220"/>
            <a:ext cx="18288000" cy="9052560"/>
          </a:xfrm>
          <a:custGeom>
            <a:avLst/>
            <a:gdLst/>
            <a:ahLst/>
            <a:cxnLst/>
            <a:rect r="r" b="b" t="t" l="l"/>
            <a:pathLst>
              <a:path h="9052560" w="18288000">
                <a:moveTo>
                  <a:pt x="0" y="0"/>
                </a:moveTo>
                <a:lnTo>
                  <a:pt x="18288000" y="0"/>
                </a:lnTo>
                <a:lnTo>
                  <a:pt x="18288000" y="9052560"/>
                </a:lnTo>
                <a:lnTo>
                  <a:pt x="0" y="9052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73744" y="933450"/>
            <a:ext cx="834051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FIM DOS CORTES SECOS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09996"/>
            <a:ext cx="15208250" cy="582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3068" indent="-446534" lvl="1">
              <a:lnSpc>
                <a:spcPts val="5791"/>
              </a:lnSpc>
              <a:buFont typeface="Arial"/>
              <a:buChar char="•"/>
            </a:pPr>
            <a:r>
              <a:rPr lang="en-US" b="true" sz="4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PADRÃO, O CSS É INSTANTÂNEO. SE A COR MUDA DE AZUL PARA VERMELHO NO :HOVER, ELA "PISCA" E TROCA EM 0 SEGUNDOS.</a:t>
            </a:r>
          </a:p>
          <a:p>
            <a:pPr algn="l" marL="893068" indent="-446534" lvl="1">
              <a:lnSpc>
                <a:spcPts val="5791"/>
              </a:lnSpc>
              <a:buFont typeface="Arial"/>
              <a:buChar char="•"/>
            </a:pPr>
            <a:r>
              <a:rPr lang="en-US" b="true" sz="4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TRANSIÇÃO PREENCHE O MEIO DO CAMINHO. ELA CALCULA OS ESTADOS INTERMEDIÁRIOS ENTRE O AZUL E O VERMELHO.</a:t>
            </a:r>
          </a:p>
          <a:p>
            <a:pPr algn="l" marL="893068" indent="-446534" lvl="1">
              <a:lnSpc>
                <a:spcPts val="5791"/>
              </a:lnSpc>
              <a:buFont typeface="Arial"/>
              <a:buChar char="•"/>
            </a:pPr>
            <a:r>
              <a:rPr lang="en-US" b="true" sz="4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RESULTADO: UMA INTERFACE QUE PARECE ORGÂNICA E VIVA.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64119" y="933450"/>
            <a:ext cx="995976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PROPRIEDADE 'TRANSITION'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79933"/>
            <a:ext cx="13465175" cy="289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3068" indent="-446534" lvl="1">
              <a:lnSpc>
                <a:spcPts val="5791"/>
              </a:lnSpc>
              <a:buFont typeface="Arial"/>
              <a:buChar char="•"/>
            </a:pPr>
            <a:r>
              <a:rPr lang="en-US" b="true" sz="4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UMA SHORTHAND (ATALHO) PARA 4 PROPRIEDADES.</a:t>
            </a:r>
          </a:p>
          <a:p>
            <a:pPr algn="l" marL="893068" indent="-446534" lvl="1">
              <a:lnSpc>
                <a:spcPts val="5791"/>
              </a:lnSpc>
              <a:buFont typeface="Arial"/>
              <a:buChar char="•"/>
            </a:pPr>
            <a:r>
              <a:rPr lang="en-US" b="true" sz="4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ORDEM: O QUÊ ➔ QUANTO TEMPO ➔ COMO ➔ ATRASO (OPCIONAL).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28650"/>
            <a:ext cx="18288000" cy="9029700"/>
          </a:xfrm>
          <a:custGeom>
            <a:avLst/>
            <a:gdLst/>
            <a:ahLst/>
            <a:cxnLst/>
            <a:rect r="r" b="b" t="t" l="l"/>
            <a:pathLst>
              <a:path h="9029700" w="18288000">
                <a:moveTo>
                  <a:pt x="0" y="0"/>
                </a:moveTo>
                <a:lnTo>
                  <a:pt x="18288000" y="0"/>
                </a:lnTo>
                <a:lnTo>
                  <a:pt x="18288000" y="9029700"/>
                </a:lnTo>
                <a:lnTo>
                  <a:pt x="0" y="9029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59682" y="933450"/>
            <a:ext cx="4768637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DICA DE OURO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76180" y="4273841"/>
            <a:ext cx="7735639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1"/>
              </a:lnSpc>
              <a:spcBef>
                <a:spcPct val="0"/>
              </a:spcBef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TRANSFORM </a:t>
            </a:r>
            <a:r>
              <a:rPr lang="en-US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</a:t>
            </a: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OPACITY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2494" y="933450"/>
            <a:ext cx="294301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2588" y="4661046"/>
            <a:ext cx="14982825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1"/>
              </a:lnSpc>
              <a:spcBef>
                <a:spcPct val="0"/>
              </a:spcBef>
            </a:pPr>
            <a:r>
              <a:rPr lang="en-US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CRIAR UM BOTÃO COM </a:t>
            </a: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HOVER</a:t>
            </a:r>
            <a:r>
              <a:rPr lang="en-US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E </a:t>
            </a: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TRANSITION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25189" y="3903016"/>
            <a:ext cx="7237622" cy="91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0"/>
              </a:lnSpc>
            </a:pPr>
            <a:r>
              <a:rPr lang="en-US" sz="5378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DESIGN RESPONSIVO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60331" y="5076825"/>
            <a:ext cx="6567339" cy="58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1"/>
              </a:lnSpc>
              <a:spcBef>
                <a:spcPct val="0"/>
              </a:spcBef>
            </a:pPr>
            <a:r>
              <a:rPr lang="en-US" sz="34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</a:t>
            </a:r>
            <a:r>
              <a:rPr lang="en-US" b="true" sz="34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CÓDIGO, INFINITAS TELAS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1994" y="933450"/>
            <a:ext cx="5864012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ÁGUA NO COPO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38303"/>
            <a:ext cx="15494000" cy="5235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658" indent="-457329" lvl="1">
              <a:lnSpc>
                <a:spcPts val="5931"/>
              </a:lnSpc>
              <a:buFont typeface="Arial"/>
              <a:buChar char="•"/>
            </a:pPr>
            <a:r>
              <a:rPr lang="en-US" b="true" sz="42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ANTIGAMENTE, FAZÍAMOS UM SITE PARA COMPUTADOR E OUTRO PARA CELULAR. DAVA O DOBRO DO TRABALHO.</a:t>
            </a:r>
          </a:p>
          <a:p>
            <a:pPr algn="l">
              <a:lnSpc>
                <a:spcPts val="5931"/>
              </a:lnSpc>
            </a:pPr>
          </a:p>
          <a:p>
            <a:pPr algn="l" marL="914658" indent="-457329" lvl="1">
              <a:lnSpc>
                <a:spcPts val="5931"/>
              </a:lnSpc>
              <a:buFont typeface="Arial"/>
              <a:buChar char="•"/>
            </a:pPr>
            <a:r>
              <a:rPr lang="en-US" b="true" sz="42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DESIGN RESPONSIVO: É CRIAR UM ÚNICO SITE QUE SE ADAPTA E FLUI PARA CABER NO TAMANHO DA TELA DISPONÍVEL.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7182" y="933450"/>
            <a:ext cx="9213637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PARE DE USAR PIXELS FIXOS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78283"/>
            <a:ext cx="14538025" cy="477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1807" indent="-420904" lvl="1">
              <a:lnSpc>
                <a:spcPts val="5458"/>
              </a:lnSpc>
              <a:buFont typeface="Arial"/>
              <a:buChar char="•"/>
            </a:pPr>
            <a:r>
              <a:rPr lang="en-US" b="true" sz="38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VOCÊ DEFINIR </a:t>
            </a:r>
            <a:r>
              <a:rPr lang="en-US" b="true" sz="3899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WIDTH: 900PX</a:t>
            </a:r>
            <a:r>
              <a:rPr lang="en-US" b="true" sz="38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, O SITE VAI QUEBRAR EM QUALQUER CELULAR.</a:t>
            </a:r>
          </a:p>
          <a:p>
            <a:pPr algn="l" marL="841807" indent="-420904" lvl="1">
              <a:lnSpc>
                <a:spcPts val="5458"/>
              </a:lnSpc>
              <a:buFont typeface="Arial"/>
              <a:buChar char="•"/>
            </a:pPr>
            <a:r>
              <a:rPr lang="en-US" b="true" sz="38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 PORCENTAGEM (%): </a:t>
            </a:r>
            <a:r>
              <a:rPr lang="en-US" b="true" sz="3899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WIDTH: 100%</a:t>
            </a:r>
            <a:r>
              <a:rPr lang="en-US" b="true" sz="38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(OCUPA A TELA TODA).</a:t>
            </a:r>
          </a:p>
          <a:p>
            <a:pPr algn="l" marL="841807" indent="-420904" lvl="1">
              <a:lnSpc>
                <a:spcPts val="5458"/>
              </a:lnSpc>
              <a:buFont typeface="Arial"/>
              <a:buChar char="•"/>
            </a:pPr>
            <a:r>
              <a:rPr lang="en-US" b="true" sz="38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 MAX-WIDTH: "CRESÇA ATÉ X, MAS SE A TELA FOR MENOR, DIMINUA".</a:t>
            </a:r>
          </a:p>
          <a:p>
            <a:pPr algn="l" marL="841807" indent="-420904" lvl="1">
              <a:lnSpc>
                <a:spcPts val="5458"/>
              </a:lnSpc>
              <a:buFont typeface="Arial"/>
              <a:buChar char="•"/>
            </a:pPr>
            <a:r>
              <a:rPr lang="en-US" b="true" sz="38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EXEMPLO: </a:t>
            </a:r>
            <a:r>
              <a:rPr lang="en-US" b="true" sz="3899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MAX-WIDTH: 800PX; WIDTH: 100%;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53526" y="933450"/>
            <a:ext cx="5180948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MEDIA-QUERIES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36547" y="2756338"/>
            <a:ext cx="11229482" cy="539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8963" indent="-554481" lvl="1">
              <a:lnSpc>
                <a:spcPts val="7191"/>
              </a:lnSpc>
              <a:buFont typeface="Arial"/>
              <a:buChar char="•"/>
            </a:pPr>
            <a:r>
              <a:rPr lang="en-US" b="true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MEDIA QUERIES PERMITEM APLICAR CSS APENAS SE UMA CONDIÇÃO FOR VERDADEIRA.</a:t>
            </a:r>
          </a:p>
          <a:p>
            <a:pPr algn="l">
              <a:lnSpc>
                <a:spcPts val="7191"/>
              </a:lnSpc>
            </a:pPr>
          </a:p>
          <a:p>
            <a:pPr algn="l" marL="1108963" indent="-554481" lvl="1">
              <a:lnSpc>
                <a:spcPts val="7191"/>
              </a:lnSpc>
              <a:buFont typeface="Arial"/>
              <a:buChar char="•"/>
            </a:pPr>
            <a:r>
              <a:rPr lang="en-US" b="true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SINTAXE: </a:t>
            </a:r>
            <a:r>
              <a:rPr lang="en-US" b="true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@MEDIA (CONDIÇÃO) { ...CSS... }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62940"/>
            <a:ext cx="18288000" cy="8961120"/>
          </a:xfrm>
          <a:custGeom>
            <a:avLst/>
            <a:gdLst/>
            <a:ahLst/>
            <a:cxnLst/>
            <a:rect r="r" b="b" t="t" l="l"/>
            <a:pathLst>
              <a:path h="8961120" w="18288000">
                <a:moveTo>
                  <a:pt x="0" y="0"/>
                </a:moveTo>
                <a:lnTo>
                  <a:pt x="18288000" y="0"/>
                </a:lnTo>
                <a:lnTo>
                  <a:pt x="18288000" y="8961120"/>
                </a:lnTo>
                <a:lnTo>
                  <a:pt x="0" y="8961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56854" y="933450"/>
            <a:ext cx="5174293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MEDIA QUERIES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12320" y="933450"/>
            <a:ext cx="7263361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COMECE PELO MENOR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5145" y="2607957"/>
            <a:ext cx="15217711" cy="6055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8300" indent="-414150" lvl="1">
              <a:lnSpc>
                <a:spcPts val="5371"/>
              </a:lnSpc>
              <a:buFont typeface="Arial"/>
              <a:buChar char="•"/>
            </a:pPr>
            <a:r>
              <a:rPr lang="en-US" b="true" sz="3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JEITO ANTIGO (DESKTOP FIRST): CRIAR O SITE COMPLEXO PARA PC E DEPOIS TENTAR "ESPREMER" ELE PARA CABER NO CELULAR.</a:t>
            </a:r>
          </a:p>
          <a:p>
            <a:pPr algn="l" marL="828300" indent="-414150" lvl="1">
              <a:lnSpc>
                <a:spcPts val="5371"/>
              </a:lnSpc>
              <a:buFont typeface="Arial"/>
              <a:buChar char="•"/>
            </a:pPr>
            <a:r>
              <a:rPr lang="en-US" b="true" sz="3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JEITO MODERNO (MOBILE FIRST): CRIAR O LAYOUT SIMPLES PARA CELULAR PRIMEIRO (UMA COLUNA). DEPOIS, USAR </a:t>
            </a:r>
            <a:r>
              <a:rPr lang="en-US" b="true" sz="38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MEDIA QUERIES (MIN-WIDTH)</a:t>
            </a:r>
            <a:r>
              <a:rPr lang="en-US" b="true" sz="3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PARA EXPANDIR O LAYOUT EM TELAS MAIORES.</a:t>
            </a:r>
          </a:p>
          <a:p>
            <a:pPr algn="l" marL="828300" indent="-414150" lvl="1">
              <a:lnSpc>
                <a:spcPts val="5371"/>
              </a:lnSpc>
              <a:buFont typeface="Arial"/>
              <a:buChar char="•"/>
            </a:pPr>
            <a:r>
              <a:rPr lang="en-US" b="true" sz="38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MAIS FÁCIL ADICIONAR COMPLEXIDADE DO QUE REMOVER.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77340"/>
            <a:ext cx="18288000" cy="7132320"/>
          </a:xfrm>
          <a:custGeom>
            <a:avLst/>
            <a:gdLst/>
            <a:ahLst/>
            <a:cxnLst/>
            <a:rect r="r" b="b" t="t" l="l"/>
            <a:pathLst>
              <a:path h="7132320" w="18288000">
                <a:moveTo>
                  <a:pt x="0" y="0"/>
                </a:moveTo>
                <a:lnTo>
                  <a:pt x="18288000" y="0"/>
                </a:lnTo>
                <a:lnTo>
                  <a:pt x="18288000" y="7132320"/>
                </a:lnTo>
                <a:lnTo>
                  <a:pt x="0" y="7132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67013" y="933450"/>
            <a:ext cx="7753975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PONTOS DE QUEBRA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8432" y="933450"/>
            <a:ext cx="2911136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0995" y="2878215"/>
            <a:ext cx="15146010" cy="471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2283" indent="-486141" lvl="1">
              <a:lnSpc>
                <a:spcPts val="6304"/>
              </a:lnSpc>
              <a:buFont typeface="Arial"/>
              <a:buChar char="•"/>
            </a:pP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3 DIVS COM TEXTO.</a:t>
            </a:r>
          </a:p>
          <a:p>
            <a:pPr algn="l" marL="972283" indent="-486141" lvl="1">
              <a:lnSpc>
                <a:spcPts val="6304"/>
              </a:lnSpc>
              <a:buFont typeface="Arial"/>
              <a:buChar char="•"/>
            </a:pP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CELULAR, ELAS DEVEM FICAR UMA EMBAIXO DA OUTRA (</a:t>
            </a:r>
            <a:r>
              <a:rPr lang="en-US" b="true" sz="4503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DISPLAY: BLOCK</a:t>
            </a: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OU </a:t>
            </a:r>
            <a:r>
              <a:rPr lang="en-US" b="true" sz="4503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GRID</a:t>
            </a: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1 COLUNA).</a:t>
            </a:r>
          </a:p>
          <a:p>
            <a:pPr algn="l" marL="972283" indent="-486141" lvl="1">
              <a:lnSpc>
                <a:spcPts val="6304"/>
              </a:lnSpc>
              <a:buFont typeface="Arial"/>
              <a:buChar char="•"/>
            </a:pP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ADICIONE </a:t>
            </a:r>
            <a:r>
              <a:rPr lang="en-US" b="true" sz="4503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@MEDIA (MIN-WIDTH: 768PX)</a:t>
            </a: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  <a:p>
            <a:pPr algn="l" marL="972283" indent="-486141" lvl="1">
              <a:lnSpc>
                <a:spcPts val="6304"/>
              </a:lnSpc>
              <a:buFont typeface="Arial"/>
              <a:buChar char="•"/>
            </a:pP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DENTRO DA MEDIA QUERY, MUDE PARA DISPLAY: </a:t>
            </a:r>
            <a:r>
              <a:rPr lang="en-US" b="true" sz="4503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GRID </a:t>
            </a: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 3 COLUNAS </a:t>
            </a:r>
            <a:r>
              <a:rPr lang="en-US" b="true" sz="4503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(1FR 1FR 1FR)</a:t>
            </a:r>
            <a:r>
              <a:rPr lang="en-US" b="true" sz="450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30765" y="3903020"/>
            <a:ext cx="9026470" cy="124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0"/>
              </a:lnSpc>
            </a:pPr>
            <a:r>
              <a:rPr lang="en-US" sz="7343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ÚLTIMO DESAFIO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8089" y="4131038"/>
            <a:ext cx="6551821" cy="101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0"/>
              </a:lnSpc>
            </a:pPr>
            <a:r>
              <a:rPr lang="en-US" sz="5957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RECAPITULANDO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60646" y="933450"/>
            <a:ext cx="10966708" cy="86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1"/>
              </a:lnSpc>
            </a:pPr>
            <a:r>
              <a:rPr lang="en-US" sz="5136">
                <a:solidFill>
                  <a:srgbClr val="005ADB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FAZENDO O UPLOAD DO PROJETO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4365" y="2905745"/>
            <a:ext cx="13867693" cy="553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9889" indent="-424945" lvl="1">
              <a:lnSpc>
                <a:spcPts val="5511"/>
              </a:lnSpc>
              <a:buFont typeface="Arial"/>
              <a:buChar char="•"/>
            </a:pPr>
            <a:r>
              <a:rPr lang="en-US" b="true" sz="39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GITHUB PAGES É UM SERVIÇO DE HOSPEDAGEM ESTÁTICA.</a:t>
            </a:r>
          </a:p>
          <a:p>
            <a:pPr algn="l" marL="849889" indent="-424945" lvl="1">
              <a:lnSpc>
                <a:spcPts val="5511"/>
              </a:lnSpc>
              <a:buFont typeface="Arial"/>
              <a:buChar char="•"/>
            </a:pPr>
            <a:r>
              <a:rPr lang="en-US" b="true" sz="39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PEGA OS ARQUIVOS HTML, CSS E JS DO SEU REPOSITÓRIO E OS TRANSFORMA NUM SITE REAL.</a:t>
            </a:r>
          </a:p>
          <a:p>
            <a:pPr algn="l" marL="849889" indent="-424945" lvl="1">
              <a:lnSpc>
                <a:spcPts val="5511"/>
              </a:lnSpc>
              <a:buFont typeface="Arial"/>
              <a:buChar char="•"/>
            </a:pPr>
            <a:r>
              <a:rPr lang="en-US" b="true" sz="39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ENDEREÇO GERALMENTE FICA ASSIM: SEU-USUARIO.GITHUB.IO/NOME-DO-PROJETO.</a:t>
            </a:r>
          </a:p>
          <a:p>
            <a:pPr algn="l" marL="849889" indent="-424945" lvl="1">
              <a:lnSpc>
                <a:spcPts val="5511"/>
              </a:lnSpc>
              <a:buFont typeface="Arial"/>
              <a:buChar char="•"/>
            </a:pPr>
            <a:r>
              <a:rPr lang="en-US" b="true" sz="39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IDEAL PARA PORTFÓLIOS, DOCUMENTAÇÕES E PROJETOS PESSOAIS.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03190" y="3705520"/>
            <a:ext cx="8281620" cy="116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7"/>
              </a:lnSpc>
            </a:pPr>
            <a:r>
              <a:rPr lang="en-US" sz="6805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MUITO OBRIGADO!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7618" y="5057775"/>
            <a:ext cx="4252764" cy="73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1"/>
              </a:lnSpc>
              <a:spcBef>
                <a:spcPct val="0"/>
              </a:spcBef>
            </a:pPr>
            <a:r>
              <a:rPr lang="en-US" sz="43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BONS ESTUDOS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DAGwwFUwDmM</dc:identifier>
  <dcterms:modified xsi:type="dcterms:W3CDTF">2011-08-01T06:04:30Z</dcterms:modified>
  <cp:revision>1</cp:revision>
  <dc:title> Capacitação Front-end</dc:title>
</cp:coreProperties>
</file>