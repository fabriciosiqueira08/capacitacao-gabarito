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20"/>
    <p:sldId id="267" r:id="rId21"/>
    <p:sldId id="268" r:id="rId22"/>
    <p:sldId id="269" r:id="rId23"/>
    <p:sldId id="270" r:id="rId24"/>
    <p:sldId id="271" r:id="rId25"/>
    <p:sldId id="272" r:id="rId26"/>
    <p:sldId id="273" r:id="rId27"/>
    <p:sldId id="274" r:id="rId28"/>
    <p:sldId id="275" r:id="rId29"/>
    <p:sldId id="276" r:id="rId30"/>
    <p:sldId id="277" r:id="rId31"/>
    <p:sldId id="278" r:id="rId32"/>
    <p:sldId id="279" r:id="rId33"/>
    <p:sldId id="280" r:id="rId34"/>
    <p:sldId id="281" r:id="rId35"/>
    <p:sldId id="282" r:id="rId36"/>
    <p:sldId id="283" r:id="rId37"/>
    <p:sldId id="284" r:id="rId38"/>
    <p:sldId id="285" r:id="rId39"/>
    <p:sldId id="286" r:id="rId40"/>
    <p:sldId id="287" r:id="rId41"/>
    <p:sldId id="288" r:id="rId42"/>
    <p:sldId id="289" r:id="rId43"/>
    <p:sldId id="290" r:id="rId44"/>
    <p:sldId id="291" r:id="rId45"/>
    <p:sldId id="292" r:id="rId46"/>
    <p:sldId id="293" r:id="rId47"/>
    <p:sldId id="294" r:id="rId48"/>
    <p:sldId id="295" r:id="rId49"/>
    <p:sldId id="296" r:id="rId50"/>
    <p:sldId id="297" r:id="rId51"/>
    <p:sldId id="298" r:id="rId52"/>
    <p:sldId id="299" r:id="rId53"/>
    <p:sldId id="300" r:id="rId54"/>
    <p:sldId id="301" r:id="rId55"/>
    <p:sldId id="302" r:id="rId56"/>
    <p:sldId id="303" r:id="rId57"/>
    <p:sldId id="304" r:id="rId58"/>
    <p:sldId id="305" r:id="rId59"/>
    <p:sldId id="306" r:id="rId60"/>
    <p:sldId id="307" r:id="rId61"/>
    <p:sldId id="308" r:id="rId62"/>
    <p:sldId id="309" r:id="rId63"/>
  </p:sldIdLst>
  <p:sldSz cx="18288000" cy="10287000"/>
  <p:notesSz cx="6858000" cy="9144000"/>
  <p:embeddedFontLst>
    <p:embeddedFont>
      <p:font typeface="Montaser Arabic" charset="1" panose="00000500000000000000"/>
      <p:regular r:id="rId144"/>
    </p:embeddedFont>
    <p:embeddedFont>
      <p:font typeface="Open Sans Extra Bold" charset="1" panose="020B0906030804020204"/>
      <p:regular r:id="rId145"/>
    </p:embeddedFont>
    <p:embeddedFont>
      <p:font typeface="Montaser Arabic Semi-Bold" charset="1" panose="00000700000000000000"/>
      <p:regular r:id="rId14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9" Type="http://schemas.openxmlformats.org/officeDocument/2006/relationships/slide" Target="slides/slide1.xml"/><Relationship Id="rId10" Type="http://schemas.openxmlformats.org/officeDocument/2006/relationships/slide" Target="slides/slide2.xml"/><Relationship Id="rId11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slide" Target="slides/slide6.xml"/><Relationship Id="rId15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notesMaster" Target="notesMasters/notesMaster1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Relationship Id="rId38" Type="http://schemas.openxmlformats.org/officeDocument/2006/relationships/slide" Target="slides/slide29.xml"/><Relationship Id="rId39" Type="http://schemas.openxmlformats.org/officeDocument/2006/relationships/slide" Target="slides/slide30.xml"/><Relationship Id="rId40" Type="http://schemas.openxmlformats.org/officeDocument/2006/relationships/slide" Target="slides/slide31.xml"/><Relationship Id="rId41" Type="http://schemas.openxmlformats.org/officeDocument/2006/relationships/slide" Target="slides/slide32.xml"/><Relationship Id="rId42" Type="http://schemas.openxmlformats.org/officeDocument/2006/relationships/slide" Target="slides/slide33.xml"/><Relationship Id="rId43" Type="http://schemas.openxmlformats.org/officeDocument/2006/relationships/slide" Target="slides/slide34.xml"/><Relationship Id="rId44" Type="http://schemas.openxmlformats.org/officeDocument/2006/relationships/slide" Target="slides/slide35.xml"/><Relationship Id="rId45" Type="http://schemas.openxmlformats.org/officeDocument/2006/relationships/slide" Target="slides/slide36.xml"/><Relationship Id="rId46" Type="http://schemas.openxmlformats.org/officeDocument/2006/relationships/slide" Target="slides/slide37.xml"/><Relationship Id="rId47" Type="http://schemas.openxmlformats.org/officeDocument/2006/relationships/slide" Target="slides/slide38.xml"/><Relationship Id="rId48" Type="http://schemas.openxmlformats.org/officeDocument/2006/relationships/slide" Target="slides/slide39.xml"/><Relationship Id="rId49" Type="http://schemas.openxmlformats.org/officeDocument/2006/relationships/slide" Target="slides/slide40.xml"/><Relationship Id="rId50" Type="http://schemas.openxmlformats.org/officeDocument/2006/relationships/slide" Target="slides/slide41.xml"/><Relationship Id="rId51" Type="http://schemas.openxmlformats.org/officeDocument/2006/relationships/slide" Target="slides/slide42.xml"/><Relationship Id="rId52" Type="http://schemas.openxmlformats.org/officeDocument/2006/relationships/slide" Target="slides/slide43.xml"/><Relationship Id="rId53" Type="http://schemas.openxmlformats.org/officeDocument/2006/relationships/slide" Target="slides/slide44.xml"/><Relationship Id="rId54" Type="http://schemas.openxmlformats.org/officeDocument/2006/relationships/slide" Target="slides/slide45.xml"/><Relationship Id="rId55" Type="http://schemas.openxmlformats.org/officeDocument/2006/relationships/slide" Target="slides/slide46.xml"/><Relationship Id="rId56" Type="http://schemas.openxmlformats.org/officeDocument/2006/relationships/slide" Target="slides/slide47.xml"/><Relationship Id="rId57" Type="http://schemas.openxmlformats.org/officeDocument/2006/relationships/slide" Target="slides/slide48.xml"/><Relationship Id="rId58" Type="http://schemas.openxmlformats.org/officeDocument/2006/relationships/slide" Target="slides/slide49.xml"/><Relationship Id="rId59" Type="http://schemas.openxmlformats.org/officeDocument/2006/relationships/slide" Target="slides/slide50.xml"/><Relationship Id="rId60" Type="http://schemas.openxmlformats.org/officeDocument/2006/relationships/slide" Target="slides/slide51.xml"/><Relationship Id="rId61" Type="http://schemas.openxmlformats.org/officeDocument/2006/relationships/slide" Target="slides/slide52.xml"/><Relationship Id="rId62" Type="http://schemas.openxmlformats.org/officeDocument/2006/relationships/slide" Target="slides/slide53.xml"/><Relationship Id="rId63" Type="http://schemas.openxmlformats.org/officeDocument/2006/relationships/slide" Target="slides/slide54.xml"/><Relationship Id="rId144" Type="http://schemas.openxmlformats.org/officeDocument/2006/relationships/font" Target="fonts/font144.fntdata"/><Relationship Id="rId145" Type="http://schemas.openxmlformats.org/officeDocument/2006/relationships/font" Target="fonts/font145.fntdata"/><Relationship Id="rId146" Type="http://schemas.openxmlformats.org/officeDocument/2006/relationships/font" Target="fonts/font146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 minutos. Aquecimento, e garante que o ambiente da Aula 1 sobreviveu</a:t>
            </a:r>
          </a:p>
          <a:p>
            <a:r>
              <a:t>à semana. Quem não subir o banco aqui vai travar em tudo depois.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última linha é a diferença de filosofia. No Rails a fonte da verdade é</a:t>
            </a:r>
          </a:p>
          <a:p>
            <a:r>
              <a:t>a migration; a classe lê as colunas do banco em tempo de execução.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pegadinha do 0 e da string vazia derruba quem vem de Python. Vale</a:t>
            </a:r>
          </a:p>
          <a:p>
            <a:r>
              <a:t>rodar no irb ao vivo.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minutos, a prática mais longa do dia.</a:t>
            </a:r>
          </a:p>
          <a:p>
            <a:r>
              <a:t>Erro campeão: PG::DuplicateTable, de quem rodou duas vezes. A saída é</a:t>
            </a:r>
          </a:p>
          <a:p>
            <a:r>
              <a:t>db:drop db:create db:migrate — perde dados, e tudo bem agora.</a:t>
            </a:r>
          </a:p>
          <a:p>
            <a:r>
              <a:t>Insista: quando uma migration falha, a resposta está na LINHA SEGUINTE</a:t>
            </a:r>
          </a:p>
          <a:p>
            <a:r>
              <a:t>do erro, não na primeira.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~10 minutos, sem escrever arquivo nenhum. É o que faz a seção de senha</a:t>
            </a:r>
          </a:p>
          <a:p>
            <a:r>
              <a:t>parar de ser teoria.</a:t>
            </a:r>
          </a:p>
          <a:p>
            <a:r>
              <a:t>A comparação é o argumento, e o comando é feito para não depender da</a:t>
            </a:r>
          </a:p>
          <a:p>
            <a:r>
              <a:t>máquina: mil SHA-256 terminam muito antes de UM bcrypt. Quem rouba um</a:t>
            </a:r>
          </a:p>
          <a:p>
            <a:r>
              <a:t>banco testa senha em lote, e é isso que o bcrypt inviabiliza.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 minutos somando as duas. É o bloco em que eles mais escrevem hoje.</a:t>
            </a:r>
          </a:p>
          <a:p>
            <a:r>
              <a:t>Repare no validator com eles: tem o self.validate que instancia, o @ de</a:t>
            </a:r>
          </a:p>
          <a:p>
            <a:r>
              <a:t>instância e o private valendo da linha em diante. É a Aula 1 aparecendo.</a:t>
            </a:r>
          </a:p>
          <a:p>
            <a:r>
              <a:t>Quando valid? der false e ninguém souber por quê, a resposta é sempre</a:t>
            </a:r>
          </a:p>
          <a:p>
            <a:r>
              <a:t>p u.errors.full_messages. Ensine o reflexo.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 minutos. É aqui que o banco deixa de ser uma tabela e vira um</a:t>
            </a:r>
          </a:p>
          <a:p>
            <a:r>
              <a:t>modelo de dados.</a:t>
            </a:r>
          </a:p>
          <a:p>
            <a:r>
              <a:t>O dependent: :delete_all é o exercício avançado, e vale fazer ao vivo:</a:t>
            </a:r>
          </a:p>
          <a:p>
            <a:r>
              <a:t>LoginEvent.count antes e depois do destroy.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 minutos. O momento em que o módulo da Aula 1 deixa de ser teoria.</a:t>
            </a:r>
          </a:p>
          <a:p>
            <a:r>
              <a:t>O ponto a martelar: o banco guarda o digest do código, não o código.</a:t>
            </a:r>
          </a:p>
          <a:p>
            <a:r>
              <a:t>Mesma lição da senha, aplicada a outra coisa. Se alguém vazar o banco,</a:t>
            </a:r>
          </a:p>
          <a:p>
            <a:r>
              <a:t>não consegue confirmar a conta de ninguém.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Rode ao vivo. Mostrar o password_digest na tela é o momento em que a</a:t>
            </a:r>
          </a:p>
          <a:p>
            <a:r>
              <a:t>ficha cai sobre hashing.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Guardar esse método: ele é usado na Aula 3, no login.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 minutos. Fecha o dia e é a base da Aula 3.</a:t>
            </a:r>
          </a:p>
          <a:p>
            <a:r>
              <a:t>Erro campeão: teste que passa sozinho e falha junto com os outros. É</a:t>
            </a:r>
          </a:p>
          <a:p>
            <a:r>
              <a:t>quase sempre User.first no teste em vez de users(:ana).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8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9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1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eg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2766"/>
        </a:solidFill>
      </p:bgPr>
    </p:bg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16292903" y="379566"/>
            <a:ext cx="1567796" cy="1398777"/>
          </a:xfrm>
          <a:custGeom>
            <a:avLst/>
            <a:gdLst/>
            <a:ahLst/>
            <a:cxnLst/>
            <a:rect r="r" b="b" t="t" l="l"/>
            <a:pathLst>
              <a:path h="1398777" w="1567796">
                <a:moveTo>
                  <a:pt x="0" y="0"/>
                </a:moveTo>
                <a:lnTo>
                  <a:pt x="1567795" y="0"/>
                </a:lnTo>
                <a:lnTo>
                  <a:pt x="1567795" y="1398777"/>
                </a:lnTo>
                <a:lnTo>
                  <a:pt x="0" y="13987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7261"/>
            <a:ext cx="16459200" cy="29743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Banco de Dados,</a:t>
            </a:r>
          </a:p>
          <a:p>
            <a:pPr algn="ctr">
              <a:lnSpc>
                <a:spcPts val="10145"/>
              </a:lnSpc>
            </a:pPr>
            <a:r>
              <a:rPr lang="en-US" sz="7246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ActiveRecord e o model User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8398135" y="4707572"/>
            <a:ext cx="6999886" cy="378841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Capacitação Back-end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Aula 2 de 4</a:t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/>
            </a:r>
          </a:p>
          <a:p>
            <a:pPr algn="l">
              <a:lnSpc>
                <a:spcPts val="4339"/>
              </a:lnSpc>
            </a:pPr>
            <a:r>
              <a:rPr lang="en-US" sz="3099">
                <a:solidFill>
                  <a:srgbClr val="FFFFFF"/>
                </a:solidFill>
                <a:latin typeface="Montaser Arabic"/>
                <a:ea typeface="Montaser Arabic"/>
                <a:cs typeface="Montaser Arabic"/>
                <a:sym typeface="Montaser Arabic"/>
              </a:rPr>
              <a:t>Fabrício Siqueira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847725"/>
            <a:ext cx="16459200" cy="16360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694"/>
              </a:lnSpc>
            </a:pPr>
            <a:r>
              <a:rPr lang="en-US" sz="763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OBJETIVOS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3090975" y="3800250"/>
            <a:ext cx="12106050" cy="25912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Guardar dados de verdade, num Postgres.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Entender migrations e ActiveRecord.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mais guardar senha em texto.</a:t>
            </a:r>
          </a:p>
          <a:p>
            <a:pPr algn="l" marL="1071776" indent="-535888" lvl="1">
              <a:lnSpc>
                <a:spcPts val="4169"/>
              </a:lnSpc>
              <a:buFont typeface="Arial"/>
              <a:buChar char="•"/>
            </a:pPr>
            <a:r>
              <a:rPr lang="en-US" b="true" sz="2978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Criar o model User completo.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 ONDE PARAMOS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Temos uma API que responde GET /api/v1/status.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Ela não guarda nada. Reiniciou, esqueceu tudo.</a:t>
            </a:r>
          </a:p>
          <a:p>
            <a:pPr algn="l" marL="1136378" indent="-568189" lvl="1">
              <a:lnSpc>
                <a:spcPts val="7900"/>
              </a:lnSpc>
              <a:buFont typeface="Arial"/>
              <a:buChar char="•"/>
            </a:pPr>
            <a:r>
              <a:rPr lang="en-US" sz="4999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Hoje ela ganha memória.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MODELO RELACIONAL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Tabela é uma planilha: colunas fixas, linhas variáveis.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linha tem um id único: a chave primária.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aponta para outra por chave estrangeira.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é o sumário do livro: acha sem ler tudo.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 é a linguagem: SELECT, INSERT, UPDATE, DELETE.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bloco de operações que acontece INTEIRO ou não acontece.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Deu erro no meio? O banco desfaz tudo. Chama-se rollback.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exemplo clássico: transferir dinheiro.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de um e creditar no outro têm que ser a mesma coisa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debitar sozinho é dinheiro que sumiu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Aula 3, trocar a senha vai precisar exatamente disso.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TRANSAÇÃO EM RAILS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41963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68811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User.transaction do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user.invalidate_sessions!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 user.clear_password_reset_code!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As três, ou nenhuma.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Repare no `!`: dentro da transação você QUER que estoure.</a:t>
            </a:r>
          </a:p>
          <a:p>
            <a:pPr>
              <a:lnSpc>
                <a:spcPct val="125000"/>
              </a:lnSpc>
            </a:pPr>
            <a:r>
              <a:rPr sz="1953">
                <a:solidFill>
                  <a:srgbClr val="E6EAF2"/>
                </a:solidFill>
                <a:latin typeface="Consolas"/>
              </a:rPr>
              <a:t># `save` devolve false em silêncio e a transação seguiria feliz.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POSTGRES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SQLite é um arquivo. Ótimo para app de celular e script.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servidor ele trava: uma escrita por vez no banco inteiro.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Postgres é servidor: aguenta concorrência de verdade.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Tipos ricos (jsonb, arrays), índices parciais, transações.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seem-backend usa em produção.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Desenvolver no mesmo banco da produção evita bug que só aparece no deploy.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VAI NUM CONTAINER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e pronto.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mundo com a mesma versão, no mesmo comando.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Desinstalar é docker compose down -v.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Já tem Postgres na máquina ocupando a 5432?</a:t>
            </a:r>
          </a:p>
          <a:p>
            <a:pPr algn="l" marL="2272757" indent="-757586" lvl="2">
              <a:lnSpc>
                <a:spcPts val="6236"/>
              </a:lnSpc>
              <a:buFont typeface="Arial"/>
              <a:buChar char="◦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DB_PORT=5433 docker compose up -d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1: O BANCO DE PÉ, E O BCRYPT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docker compose up -d  -&gt;  o status tem que ser healthy.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Gemfile: gem "bcrypt", "~&gt; 3.1.7"  e  bundle install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runner 'puts BCrypt::Password.create("teste")[0,7]'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Tem que sair $2a$12$ — o algoritmo e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1.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ACTIVERECORD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É UM ORM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Object-Relational Mapping.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classe é uma tabela. Cada objeto é uma linha.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escreve Ruby; ele escreve SQL.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Não é para nunca mais ver SQL. É para não escrever o trivial.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Quando a query fica esquisita, escreva SQL. É legítimo.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16226225" y="278137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5"/>
                </a:lnTo>
                <a:lnTo>
                  <a:pt x="0" y="149325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TextBox 4" id="4"/>
          <p:cNvSpPr txBox="true"/>
          <p:nvPr/>
        </p:nvSpPr>
        <p:spPr>
          <a:xfrm rot="0">
            <a:off x="914400" y="567694"/>
            <a:ext cx="1645920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515"/>
              </a:lnSpc>
            </a:pPr>
            <a:r>
              <a:rPr lang="en-US" sz="3939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 ORM  ×  ACTIVERECORD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28700" y="3729915"/>
            <a:ext cx="7768319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User.objects.filter(role='admin')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User.objects.get(id=1)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order_by('-created_at')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User.objects.count()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Campos declarados na classe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9522666" y="3729915"/>
            <a:ext cx="8234023" cy="53809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User.where(role: 'admin')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User.find(1)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order(created_at: :desc)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User.count</a:t>
            </a:r>
          </a:p>
          <a:p>
            <a:pPr algn="l" marL="734069" indent="-367035" lvl="1">
              <a:lnSpc>
                <a:spcPts val="4760"/>
              </a:lnSpc>
              <a:buFont typeface="Arial"/>
              <a:buChar char="•"/>
            </a:pPr>
            <a:r>
              <a:rPr lang="en-US" sz="3400">
                <a:solidFill>
                  <a:srgbClr val="282829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não declara nada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1897771" y="2214168"/>
            <a:ext cx="3293898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RAILS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87718" y="2214168"/>
            <a:ext cx="3752860" cy="83628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6895"/>
              </a:lnSpc>
            </a:pPr>
            <a:r>
              <a:rPr lang="en-US" sz="4925">
                <a:solidFill>
                  <a:srgbClr val="012B67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DJANGO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CLASSE VAZIA JÁ SABE TUDO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52619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21099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Isso já tem name, email, id, created_at, updated_at —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tudo que existir na tabela users.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# A fonte da verdade é a migration, não a classe.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ACTIVESUPPORT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adiciona métodos às classes do próprio Ruby.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15.minutes  ·  1.day.ago  ·  2.weeks.from_now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Time.current (respeita o fuso da app; Time.now não)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"texto".blank?  ·  lista.present?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a gem activesupport, não é Ruby puro.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 sair do Rails, esses métodos somem.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NIL, BLANK? E PRESENT?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79171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6019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nil.blank?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"".blank?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   ".blank?     # true   ← só espaço também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[].blank?        # true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0.blank?         # false  ← zero NÃO é vazio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"oi".present?    # true — present? é o contrário de blank?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Em Ruby puro, só nil e false são falsos.</a:t>
            </a:r>
          </a:p>
          <a:p>
            <a:pPr>
              <a:lnSpc>
                <a:spcPct val="125000"/>
              </a:lnSpc>
            </a:pPr>
            <a:r>
              <a:rPr sz="2155">
                <a:solidFill>
                  <a:srgbClr val="E6EAF2"/>
                </a:solidFill>
                <a:latin typeface="Consolas"/>
              </a:rPr>
              <a:t># if 0 executa. if "" executa. Diferente de Python.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mudança no banco, versionada em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Roda uma vez, em ordem, em todas as máquinas.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sua, na do colega e no servidor.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generate migration CreateUsers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db:migrate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número no nome do arquivo é a data. É ele que define a ordem.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CRIANDO A TABELA USERS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97543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824391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CreateUsers &lt; ActiveRecord::Migration[8.1]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def change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create_table :users do |t|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:name,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:email,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:password_digest,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:course,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t.string   :matricula,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t.datetime :terms_accepted_at, null: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  t.timestamps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:email,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  add_index :users, :matricula, unique: true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DETALHES DA MIGRATION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t.timestamps cria created_at e updated_at, e o Rails mantém sozinho.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add_index unique: true é restrição no BANCO, não no model.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importa: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duas requisições simultâneas passam pela validação juntas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duas consultam, as duas não acham ninguém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só uma vence o índice único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Validação é para mensagem bonita. Índice é para garantir.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SCHEMA.RB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de migrar, o Rails reescreve db/schema.rb.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retrato atual do banco.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ele que cria o banco de teste. Por isso vai versionado.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nunca edita esse arquivo à mão.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edite migration que já rodou em produção. Crie outra.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2: AS TRÊS MIGRATIONS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CreateUsers / AddEmailVerification / AddPasswordReset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de cada vez, e db:migrate entre elas.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bin/rails db:migrate:status  -&gt;  três linhas "up"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Abra o db/schema.rb e leia. Ele é o retrato do banco AGORA.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a tabela users fica com 16 colunas.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2.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QUE NUNCA FAZER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Nunca guarde senha em texto.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Bancos vazam. É questão de quando.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Vazou em texto, você entregou a senha de todo mundo.</a:t>
            </a:r>
          </a:p>
          <a:p>
            <a:pPr algn="l" marL="1136378" indent="-568189" lvl="1">
              <a:lnSpc>
                <a:spcPts val="6236"/>
              </a:lnSpc>
              <a:buFont typeface="Arial"/>
              <a:buChar char="•"/>
            </a:pPr>
            <a:r>
              <a:rPr lang="en-US" sz="394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como as pessoas repetem senha, entregou o e-mail e o banco delas junto.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É CRIPTOGRAFIA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Criptografia tem volta, com a chave.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Hash não tem volta. É caminho só de ida.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Você não guarda a senha; guarda o resultado da função.</a:t>
            </a:r>
          </a:p>
          <a:p>
            <a:pPr algn="l" marL="1136378" indent="-568189" lvl="1">
              <a:lnSpc>
                <a:spcPts val="6652"/>
              </a:lnSpc>
              <a:buFont typeface="Arial"/>
              <a:buChar char="•"/>
            </a:pPr>
            <a:r>
              <a:rPr lang="en-US" sz="421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login, passa de novo e compara os resultados.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QUE BCRYPT E NÃO SHA-256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SHA-256 é rápido: e é esse o problema.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GPU testa bilhões por segundo.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 é lento de propósito, com custo ajustável.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Melhorou o hardware? Você aumenta o custo.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 gera um salt aleatório por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salt, mesma senha = mesmo hash, e uma tabela pronta quebra as duas.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ANATOMIA DE UM HASH BCRYPT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2332386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160086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$2a$12$R9h/cIPz0gi.URNNX3kh2OPST9/PgBkqquzi.Ss7KIUgO2t0jWMUW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│  └─────────────── salt + hash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│   └────────────────── fator de custo (12 = 2^12 iterações)</a:t>
            </a:r>
          </a:p>
          <a:p>
            <a:pPr>
              <a:lnSpc>
                <a:spcPct val="125000"/>
              </a:lnSpc>
            </a:pPr>
            <a:r>
              <a:rPr sz="2049">
                <a:solidFill>
                  <a:srgbClr val="E6EAF2"/>
                </a:solidFill>
                <a:latin typeface="Consolas"/>
              </a:rPr>
              <a:t> └────────────────────── versão do algoritmo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HAS_SECURE_PASSWORD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7057204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63256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Gemfile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gem "bcrypt", "~&gt; 3.1.7"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app/models/user.rb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 has_secure_password validations: false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Isso dá ao model: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user.password = "..."         grava o digest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  user.authenticate("...")      confere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2604">
                <a:solidFill>
                  <a:srgbClr val="E6EAF2"/>
                </a:solidFill>
                <a:latin typeface="Consolas"/>
              </a:rPr>
              <a:t># A senha em texto NUNCA toca o banco.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3: O BCRYPT NO CONSOLE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BCrypt::Password.create("Automic@2026") duas vezes. Deu diferente?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Isso é o salt. Ninguém descobre que dois usuários têm a mesma senha.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BCrypt::Password.new(digest) == "Automic@2026"  -&gt;  true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Compare: UM bcrypt contra MIL SHA-256, com Benchmark.realtime.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diga em voz alta por que a lentidão é uma CARACTERÍSTICA.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3.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 REGRAS DO USER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6439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287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:name, presence: true, length: { maximum: 120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:email, presence: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uniqueness: { case_sensitive: false },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format: { with: URI::MailTo::EMAIL_REGEXP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:course, presence: true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:matricula, presence: true, uniqueness: true,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                      format: { with: /\A\d{7}\z/ }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validates :terms_accepted_at, presence: true, on: :create</a:t>
            </a:r>
          </a:p>
          <a:p>
            <a:pPr>
              <a:lnSpc>
                <a:spcPct val="125000"/>
              </a:lnSpc>
            </a:pPr>
            <a:r>
              <a:rPr sz="2016">
                <a:solidFill>
                  <a:srgbClr val="E6EAF2"/>
                </a:solidFill>
                <a:latin typeface="Consolas"/>
              </a:rPr>
              <a:t>validate  :password_meets_policy, if: -&gt; { password.present? }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LENDO AS VALIDAÇÕES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validates (plural) usa um validador pronto.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validate (singular) chama um método seu.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on: :create só valida na criação. Termos se aceitam uma vez.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if: recebe um lambda. Na edição de perfil não há senha para validar.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u.valid? e u.errors.full_messages no console.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Ana@UFOP.br e ana@ufop.br são o mesmo e-mail.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20.112-34 e 2011234 são a mesma matrícula.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normalize_email: strip + downcase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normalize_matricula: só os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Sem isso o índice único não serve para nada: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banco acha que são valores diferentes.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PRÁTICAS 4 E 5: O VALIDADOR E O MODEL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app/validators/password_policy_validator.rb — o seu primeiro arquivo Ruby.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validate("abc") devolve a lista; validate("Automic@2026") devolve []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Depois o app/models/user.rb: has_secure_password, validações, normalizes.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Confere: um User novo é valid? e tem digest começando em $2a$12$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Agora QUEBRE: User.new(email: "NAO-E-EMAIL").valid? e leia errors.full_messages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Práticas 4 e 5.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ASSOCIAÇÕES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TABELA NUNCA BASTA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sistema real tem tabelas que se referem umas às outras.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Usuário tem muitos pedidos. Pedido pertence a um usuário.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Palestra acontece numa sala. Sala tem muitas palestras.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Vamos criar a segunda tabela do projeto: login_events.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histórico de acessos da conta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que o banco te manda por e-mail: 'novo acesso detectado'.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GUARDA A CHAVE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relação um-para-muitos mora numa coluna só: a chave estrangeira.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login_events.user_id aponta para users.id.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CARREGA a coluna usa belongs_to.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Quem é apontado usa has_many.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Regra prática: a chave fica sempre no lado 'muitos'.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MIGRATION DA SEGUNDA TABELA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826220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0947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create_table :login_events do |t|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t.references :user, null: false, foreign_key: true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:client,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t.string   :ip_address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t.datetime :occurred_at, null: false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 t.timestamps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add_index :login_events, [ :user_id, :occurred_at ]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t.references cria a coluna user_id, o índice E a chave estrangeira.</a:t>
            </a:r>
          </a:p>
          <a:p>
            <a:pPr>
              <a:lnSpc>
                <a:spcPct val="125000"/>
              </a:lnSpc>
            </a:pPr>
            <a:r>
              <a:rPr sz="1811">
                <a:solidFill>
                  <a:srgbClr val="E6EAF2"/>
                </a:solidFill>
                <a:latin typeface="Consolas"/>
              </a:rPr>
              <a:t># foreign_key: true faz o BANCO recusar linha órfã.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OS DOIS LADOS NO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22360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49208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User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has_many :login_events, dependent: :delete_all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class LoginEvent &lt; ApplicationRecord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belongs_to :user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scope :recentes, -&gt; { order(occurred_at: :desc)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dependent: :delete_all — apagar o usuário apaga o histórico junto.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Sem isso sobram linhas apontando para um id que não existe mais.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# belongs_to já exige presença: LoginEvent sem user é inválido.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USANDO A ASSOCIAÇÃO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3782513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0509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Criar PELA associação já preenche o user_id: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user.login_events.create!(client: "mobile", occurred_at: Time.current)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user.login_events.count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user.login_events.recentes.limit(5)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evento.user.name              # navega para o outro lado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# Scope é consulta com nome, e encadeia:</a:t>
            </a:r>
          </a:p>
          <a:p>
            <a:pPr>
              <a:lnSpc>
                <a:spcPct val="125000"/>
              </a:lnSpc>
            </a:pPr>
            <a:r>
              <a:rPr sz="1785">
                <a:solidFill>
                  <a:srgbClr val="E6EAF2"/>
                </a:solidFill>
                <a:latin typeface="Consolas"/>
              </a:rPr>
              <a:t>user.login_events.recentes.limit(10)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ARMADILHA N+1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users.each { |u| puts u.login_events.count }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Com 100 usuários, isso são 101 consultas ao banco.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 para buscar os usuários</a:t>
            </a:r>
          </a:p>
          <a:p>
            <a:pPr algn="l" marL="2272757" indent="-757586" lvl="2">
              <a:lnSpc>
                <a:spcPts val="4573"/>
              </a:lnSpc>
              <a:buFont typeface="Arial"/>
              <a:buChar char="◦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100 para buscar o histórico de cada um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 correção é uma palavra: User.includes(:login_events)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Aí são 2 consultas, sempre.</a:t>
            </a:r>
          </a:p>
          <a:p>
            <a:pPr algn="l" marL="1136378" indent="-568189" lvl="1">
              <a:lnSpc>
                <a:spcPts val="4573"/>
              </a:lnSpc>
              <a:buFont typeface="Arial"/>
              <a:buChar char="•"/>
            </a:pPr>
            <a:r>
              <a:rPr lang="en-US" sz="289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É o problema de performance nº 1 de app Rails. E o mais fácil de achar.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6: A SEGUNDA TABELA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generate migration CreateLoginEvents, e o model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belongs_to :user de um lado, has_many :login_events do outro.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u.login_events.create!(client: "mobile", occurred_at: Time.current)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u.login_events.recentes.first.user.name  -&gt;  navega para o outro lado.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Avançado: apague o usuário e confira que os eventos foram junto.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6.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CONCERNS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MIXIN DA AULA 1, NA PRÁTICA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User vai ganhar confirmação de e-mail e recuperação de senha.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Dois assuntos que não conversam entre si.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Juntos no user.rb viram um arquivo de 800 linhas.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Cada assunto vira um módulo em app/models/concerns/.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Rails isso tem nome: concern.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 CONCERN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8270202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753868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module EmailVerifiable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extend ActiveSupport::Concern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CODE_TTL = 15.minutes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included do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scope :email_verified, -&gt; { where.not(email_verified_at: nil) }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email_verified?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email_verified_at.present?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def issue_email_verification_code!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 = format("%06d", SecureRandom.random_number(1_000_000))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update!(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email_verification_code_digest: BCrypt::Password.create(code),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  email_verification_expires_at: CODE_TTL.from_now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)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  code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  end</a:t>
            </a:r>
          </a:p>
          <a:p>
            <a:pPr>
              <a:lnSpc>
                <a:spcPct val="125000"/>
              </a:lnSpc>
            </a:pPr>
            <a:r>
              <a:rPr sz="1838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TRÊS DECISÕES DENTRO DO CONCERN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de 6 dígitos também vira digest bcrypt.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ele é uma senha temporária; quem lê o banco não pode usar.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código em texto só existe no retorno do método.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vai para o e-mail e some. Não fica em coluna nem em log.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email_verified_at é data, não booleano.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booleano responde 'sim'; data responde 'sim, dia 12 às 14h'.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7: OS DOIS CONCERNS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app/models/concerns/email_verifiable.rb e password_resettable.rb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include os dois no User.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codigo = u.issue_email_verification_code!  -&gt;  6 dígitos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u.email_verification_code_digest  -&gt;  o HASH, nunca o código.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u.verify_email_code!(codigo) duas vezes: true, depois false.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7.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225756"/>
            <a:ext cx="16459200" cy="345448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22775"/>
              </a:lnSpc>
              <a:spcBef>
                <a:spcPct val="0"/>
              </a:spcBef>
            </a:pPr>
            <a:r>
              <a:rPr lang="en-US" sz="16267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CONSOLE</a:t>
            </a:r>
          </a:p>
        </p:txBody>
      </p:sp>
      <p:sp>
        <p:nvSpPr>
          <p:cNvPr name="Freeform 4" id="4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BRINCANDO COM O MODEL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5632848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49013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bin/rails console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 = User.new(name: "Ana Souza", email: "ana@aluno.ufop.edu.br",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password: "Automic@2026", course: "Automação",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            matricula: "2011234", terms_accepted_at: Time.current)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u.valid?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u.save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u.password_digest              # o hash, não a senha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u.authenticate("Automic@2026") # devolve o user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u.authenticate("errada")       # false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codigo = u.issue_email_verification_code!</a:t>
            </a:r>
          </a:p>
          <a:p>
            <a:pPr>
              <a:lnSpc>
                <a:spcPct val="125000"/>
              </a:lnSpc>
            </a:pPr>
            <a:r>
              <a:rPr sz="1865">
                <a:solidFill>
                  <a:srgbClr val="E6EAF2"/>
                </a:solidFill>
                <a:latin typeface="Consolas"/>
              </a:rPr>
              <a:t>u.verify_email_code!(codigo)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E FIXTURES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Seeds povoam o banco de desenvolvimento: bin/rails db:seed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Fixtures são os dados dos testes, em test/fixtures/users.yml.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Rails carrega antes de cada teste e limpa depois.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Todo teste começa do mesmo estado.</a:t>
            </a:r>
          </a:p>
          <a:p>
            <a:pPr algn="l" marL="1136378" indent="-568189" lvl="1">
              <a:lnSpc>
                <a:spcPts val="5821"/>
              </a:lnSpc>
              <a:buFont typeface="Arial"/>
              <a:buChar char="•"/>
            </a:pPr>
            <a:r>
              <a:rPr lang="en-US" sz="3684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 teste, users(:ana) devolve o registro.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O TESTE QUE IMPORTA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id="6" name="Rounded Rectangle 5"/>
          <p:cNvSpPr/>
          <p:nvPr/>
        </p:nvSpPr>
        <p:spPr>
          <a:xfrm>
            <a:off x="2926080" y="2377440"/>
            <a:ext cx="12435840" cy="4171141"/>
          </a:xfrm>
          <a:prstGeom prst="roundRect">
            <a:avLst>
              <a:gd name="adj" fmla="val 4000"/>
            </a:avLst>
          </a:prstGeom>
          <a:solidFill>
            <a:srgbClr val="0E27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383280" y="2743200"/>
            <a:ext cx="11521440" cy="3439621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test "guarda o digest e nunca a senha em texto" do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 = build_user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user.save!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assert_not_equal "Automic@2026", user.password_digest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 user.authenticate("Automic@2026")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  assert_not user.authenticate("outra-senha")</a:t>
            </a:r>
          </a:p>
          <a:p>
            <a:pPr>
              <a:lnSpc>
                <a:spcPct val="125000"/>
              </a:lnSpc>
            </a:pPr>
            <a:r>
              <a:rPr sz="2272">
                <a:solidFill>
                  <a:srgbClr val="E6EAF2"/>
                </a:solidFill>
                <a:latin typeface="Consolas"/>
              </a:rPr>
              <a:t>end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UMA SUTILEZA DE SEGURANÇA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authenticate_by_email roda o bcrypt SEMPRE.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Mesmo quando o e-mail não existe, com um digest descartável.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Por quê? bcrypt é lento de propósito.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não existe → resposta em 1ms</a:t>
            </a:r>
          </a:p>
          <a:p>
            <a:pPr algn="l" marL="2272757" indent="-757586" lvl="2">
              <a:lnSpc>
                <a:spcPts val="4989"/>
              </a:lnSpc>
              <a:buFont typeface="Arial"/>
              <a:buChar char="◦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e-mail existe, senha errada → resposta em 100ms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Cronometrando, dá para descobrir quem tem conta. É ataque de temporização.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48B1F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PRÁTICA 8: FIXTURES, TESTES E COMMIT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test/fixtures/users.yml com dois usuários: um verificado, outro não.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Escreva os testes do User, dos concerns, do validador e do LoginEvent.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bin/rails test  -&gt;  meta: 30 verdes.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bin/rubocop  (o -a conserta a maioria sozinho)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git commit e push.</a:t>
            </a:r>
          </a:p>
          <a:p>
            <a:pPr algn="l" marL="1136378" indent="-568189" lvl="1">
              <a:lnSpc>
                <a:spcPts val="4989"/>
              </a:lnSpc>
              <a:buFont typeface="Arial"/>
              <a:buChar char="•"/>
            </a:pPr>
            <a:r>
              <a:rPr lang="en-US" sz="3157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Apostila: Prática 8, com a tabela de erros de fixture.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1271761"/>
            <a:ext cx="16459200" cy="9128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39"/>
              </a:lnSpc>
            </a:pPr>
            <a:r>
              <a:rPr lang="en-US" sz="4242">
                <a:solidFill>
                  <a:srgbClr val="FF751F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RECAPITULANDO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1028700" y="3112207"/>
            <a:ext cx="15503549" cy="412748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Migration é a fonte da verdade. O model não declara colunas.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Índice único garante; validação dá mensagem bonita. Use os dois.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Senha vira hash bcrypt, com salt, e não volta.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Concern é o mixin do Rails: um assunto por arquivo.</a:t>
            </a:r>
          </a:p>
          <a:p>
            <a:pPr algn="l" marL="1136378" indent="-568189" lvl="1">
              <a:lnSpc>
                <a:spcPts val="5405"/>
              </a:lnSpc>
              <a:buFont typeface="Arial"/>
              <a:buChar char="•"/>
            </a:pPr>
            <a:r>
              <a:rPr lang="en-US" sz="3420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Normalize antes de validar.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name="Freeform 2" id="2"/>
          <p:cNvSpPr/>
          <p:nvPr/>
        </p:nvSpPr>
        <p:spPr>
          <a:xfrm flipH="false" flipV="false" rot="0">
            <a:off x="0" y="0"/>
            <a:ext cx="18288000" cy="10287000"/>
          </a:xfrm>
          <a:custGeom>
            <a:avLst/>
            <a:gdLst/>
            <a:ahLst/>
            <a:cxnLst/>
            <a:rect r="r" b="b" t="t" l="l"/>
            <a:pathLst>
              <a:path h="10287000" w="18288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-38888" r="0" b="-38888"/>
            </a:stretch>
          </a:blipFill>
        </p:spPr>
      </p:sp>
      <p:sp>
        <p:nvSpPr>
          <p:cNvPr name="TextBox 3" id="3"/>
          <p:cNvSpPr txBox="true"/>
          <p:nvPr/>
        </p:nvSpPr>
        <p:spPr>
          <a:xfrm rot="0">
            <a:off x="914400" y="3705520"/>
            <a:ext cx="16459200" cy="116893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621"/>
              </a:lnSpc>
            </a:pPr>
            <a:r>
              <a:rPr lang="en-US" sz="5443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ATÉ A PRÓXIMA!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7017618" y="5057775"/>
            <a:ext cx="4252764" cy="7375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642"/>
              </a:lnSpc>
              <a:spcBef>
                <a:spcPct val="0"/>
              </a:spcBef>
            </a:pPr>
            <a:r>
              <a:rPr lang="en-US" sz="2601">
                <a:solidFill>
                  <a:srgbClr val="000000"/>
                </a:solidFill>
                <a:latin typeface="Open Sans Extra Bold"/>
                <a:ea typeface="Open Sans Extra Bold"/>
                <a:cs typeface="Open Sans Extra Bold"/>
                <a:sym typeface="Open Sans Extra Bold"/>
              </a:rPr>
              <a:t>NA PRÓXIMA: AUTENTICAÇÃO</a:t>
            </a:r>
          </a:p>
        </p:txBody>
      </p:sp>
      <p:sp>
        <p:nvSpPr>
          <p:cNvPr name="Freeform 5" id="5"/>
          <p:cNvSpPr/>
          <p:nvPr/>
        </p:nvSpPr>
        <p:spPr>
          <a:xfrm flipH="false" flipV="false" rot="0">
            <a:off x="16096853" y="282073"/>
            <a:ext cx="1788433" cy="1493254"/>
          </a:xfrm>
          <a:custGeom>
            <a:avLst/>
            <a:gdLst/>
            <a:ahLst/>
            <a:cxnLst/>
            <a:rect r="r" b="b" t="t" l="l"/>
            <a:pathLst>
              <a:path h="1493254" w="1788433">
                <a:moveTo>
                  <a:pt x="0" y="0"/>
                </a:moveTo>
                <a:lnTo>
                  <a:pt x="1788433" y="0"/>
                </a:lnTo>
                <a:lnTo>
                  <a:pt x="1788433" y="1493254"/>
                </a:lnTo>
                <a:lnTo>
                  <a:pt x="0" y="149325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DAGwwFUwDmM</dc:identifier>
  <dcterms:modified xsi:type="dcterms:W3CDTF">2011-08-01T06:04:30Z</dcterms:modified>
  <cp:revision>1</cp:revision>
  <dc:title> Capacitação Front-end</dc:title>
</cp:coreProperties>
</file>