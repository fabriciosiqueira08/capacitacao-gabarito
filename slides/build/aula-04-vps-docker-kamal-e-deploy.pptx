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9"/>
    <p:sldId id="257" r:id="rId10"/>
    <p:sldId id="258" r:id="rId11"/>
    <p:sldId id="259" r:id="rId12"/>
    <p:sldId id="260" r:id="rId13"/>
    <p:sldId id="261" r:id="rId14"/>
    <p:sldId id="262" r:id="rId16"/>
    <p:sldId id="263" r:id="rId17"/>
    <p:sldId id="264" r:id="rId18"/>
    <p:sldId id="265" r:id="rId19"/>
    <p:sldId id="266" r:id="rId20"/>
    <p:sldId id="267" r:id="rId21"/>
    <p:sldId id="268" r:id="rId22"/>
    <p:sldId id="269" r:id="rId23"/>
    <p:sldId id="270" r:id="rId24"/>
    <p:sldId id="271" r:id="rId25"/>
    <p:sldId id="272" r:id="rId26"/>
    <p:sldId id="273" r:id="rId27"/>
    <p:sldId id="274" r:id="rId28"/>
    <p:sldId id="275" r:id="rId29"/>
    <p:sldId id="276" r:id="rId30"/>
    <p:sldId id="277" r:id="rId31"/>
    <p:sldId id="278" r:id="rId32"/>
    <p:sldId id="279" r:id="rId33"/>
    <p:sldId id="280" r:id="rId34"/>
    <p:sldId id="281" r:id="rId35"/>
    <p:sldId id="282" r:id="rId36"/>
    <p:sldId id="283" r:id="rId37"/>
    <p:sldId id="284" r:id="rId38"/>
    <p:sldId id="285" r:id="rId39"/>
    <p:sldId id="286" r:id="rId40"/>
    <p:sldId id="287" r:id="rId41"/>
    <p:sldId id="288" r:id="rId42"/>
    <p:sldId id="289" r:id="rId43"/>
    <p:sldId id="290" r:id="rId44"/>
    <p:sldId id="291" r:id="rId45"/>
    <p:sldId id="292" r:id="rId46"/>
    <p:sldId id="293" r:id="rId47"/>
    <p:sldId id="294" r:id="rId48"/>
    <p:sldId id="295" r:id="rId49"/>
    <p:sldId id="296" r:id="rId50"/>
    <p:sldId id="297" r:id="rId51"/>
    <p:sldId id="298" r:id="rId52"/>
    <p:sldId id="299" r:id="rId53"/>
    <p:sldId id="300" r:id="rId54"/>
    <p:sldId id="301" r:id="rId55"/>
    <p:sldId id="302" r:id="rId56"/>
    <p:sldId id="303" r:id="rId57"/>
    <p:sldId id="304" r:id="rId58"/>
    <p:sldId id="305" r:id="rId59"/>
    <p:sldId id="306" r:id="rId60"/>
    <p:sldId id="307" r:id="rId61"/>
    <p:sldId id="308" r:id="rId62"/>
  </p:sldIdLst>
  <p:sldSz cx="18288000" cy="10287000"/>
  <p:notesSz cx="6858000" cy="9144000"/>
  <p:embeddedFontLst>
    <p:embeddedFont>
      <p:font typeface="Montaser Arabic" charset="1" panose="00000500000000000000"/>
      <p:regular r:id="rId144"/>
    </p:embeddedFont>
    <p:embeddedFont>
      <p:font typeface="Open Sans Extra Bold" charset="1" panose="020B0906030804020204"/>
      <p:regular r:id="rId145"/>
    </p:embeddedFont>
    <p:embeddedFont>
      <p:font typeface="Montaser Arabic Semi-Bold" charset="1" panose="00000700000000000000"/>
      <p:regular r:id="rId14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9" Type="http://schemas.openxmlformats.org/officeDocument/2006/relationships/slide" Target="slides/slide1.xml"/><Relationship Id="rId10" Type="http://schemas.openxmlformats.org/officeDocument/2006/relationships/slide" Target="slides/slide2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4" Type="http://schemas.openxmlformats.org/officeDocument/2006/relationships/slide" Target="slides/slide6.xml"/><Relationship Id="rId15" Type="http://schemas.openxmlformats.org/officeDocument/2006/relationships/notesMaster" Target="notesMasters/notesMaster1.xml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0" Type="http://schemas.openxmlformats.org/officeDocument/2006/relationships/slide" Target="slides/slide11.xml"/><Relationship Id="rId21" Type="http://schemas.openxmlformats.org/officeDocument/2006/relationships/slide" Target="slides/slide12.xml"/><Relationship Id="rId22" Type="http://schemas.openxmlformats.org/officeDocument/2006/relationships/slide" Target="slides/slide13.xml"/><Relationship Id="rId23" Type="http://schemas.openxmlformats.org/officeDocument/2006/relationships/slide" Target="slides/slide14.xml"/><Relationship Id="rId24" Type="http://schemas.openxmlformats.org/officeDocument/2006/relationships/slide" Target="slides/slide15.xml"/><Relationship Id="rId25" Type="http://schemas.openxmlformats.org/officeDocument/2006/relationships/slide" Target="slides/slide16.xml"/><Relationship Id="rId26" Type="http://schemas.openxmlformats.org/officeDocument/2006/relationships/slide" Target="slides/slide17.xml"/><Relationship Id="rId27" Type="http://schemas.openxmlformats.org/officeDocument/2006/relationships/slide" Target="slides/slide18.xml"/><Relationship Id="rId28" Type="http://schemas.openxmlformats.org/officeDocument/2006/relationships/slide" Target="slides/slide19.xml"/><Relationship Id="rId29" Type="http://schemas.openxmlformats.org/officeDocument/2006/relationships/slide" Target="slides/slide20.xml"/><Relationship Id="rId30" Type="http://schemas.openxmlformats.org/officeDocument/2006/relationships/slide" Target="slides/slide21.xml"/><Relationship Id="rId31" Type="http://schemas.openxmlformats.org/officeDocument/2006/relationships/slide" Target="slides/slide22.xml"/><Relationship Id="rId32" Type="http://schemas.openxmlformats.org/officeDocument/2006/relationships/slide" Target="slides/slide23.xml"/><Relationship Id="rId33" Type="http://schemas.openxmlformats.org/officeDocument/2006/relationships/slide" Target="slides/slide24.xml"/><Relationship Id="rId34" Type="http://schemas.openxmlformats.org/officeDocument/2006/relationships/slide" Target="slides/slide25.xml"/><Relationship Id="rId35" Type="http://schemas.openxmlformats.org/officeDocument/2006/relationships/slide" Target="slides/slide26.xml"/><Relationship Id="rId36" Type="http://schemas.openxmlformats.org/officeDocument/2006/relationships/slide" Target="slides/slide27.xml"/><Relationship Id="rId37" Type="http://schemas.openxmlformats.org/officeDocument/2006/relationships/slide" Target="slides/slide28.xml"/><Relationship Id="rId38" Type="http://schemas.openxmlformats.org/officeDocument/2006/relationships/slide" Target="slides/slide29.xml"/><Relationship Id="rId39" Type="http://schemas.openxmlformats.org/officeDocument/2006/relationships/slide" Target="slides/slide30.xml"/><Relationship Id="rId40" Type="http://schemas.openxmlformats.org/officeDocument/2006/relationships/slide" Target="slides/slide31.xml"/><Relationship Id="rId41" Type="http://schemas.openxmlformats.org/officeDocument/2006/relationships/slide" Target="slides/slide32.xml"/><Relationship Id="rId42" Type="http://schemas.openxmlformats.org/officeDocument/2006/relationships/slide" Target="slides/slide33.xml"/><Relationship Id="rId43" Type="http://schemas.openxmlformats.org/officeDocument/2006/relationships/slide" Target="slides/slide34.xml"/><Relationship Id="rId44" Type="http://schemas.openxmlformats.org/officeDocument/2006/relationships/slide" Target="slides/slide35.xml"/><Relationship Id="rId45" Type="http://schemas.openxmlformats.org/officeDocument/2006/relationships/slide" Target="slides/slide36.xml"/><Relationship Id="rId46" Type="http://schemas.openxmlformats.org/officeDocument/2006/relationships/slide" Target="slides/slide37.xml"/><Relationship Id="rId47" Type="http://schemas.openxmlformats.org/officeDocument/2006/relationships/slide" Target="slides/slide38.xml"/><Relationship Id="rId48" Type="http://schemas.openxmlformats.org/officeDocument/2006/relationships/slide" Target="slides/slide39.xml"/><Relationship Id="rId49" Type="http://schemas.openxmlformats.org/officeDocument/2006/relationships/slide" Target="slides/slide40.xml"/><Relationship Id="rId50" Type="http://schemas.openxmlformats.org/officeDocument/2006/relationships/slide" Target="slides/slide41.xml"/><Relationship Id="rId51" Type="http://schemas.openxmlformats.org/officeDocument/2006/relationships/slide" Target="slides/slide42.xml"/><Relationship Id="rId52" Type="http://schemas.openxmlformats.org/officeDocument/2006/relationships/slide" Target="slides/slide43.xml"/><Relationship Id="rId53" Type="http://schemas.openxmlformats.org/officeDocument/2006/relationships/slide" Target="slides/slide44.xml"/><Relationship Id="rId54" Type="http://schemas.openxmlformats.org/officeDocument/2006/relationships/slide" Target="slides/slide45.xml"/><Relationship Id="rId55" Type="http://schemas.openxmlformats.org/officeDocument/2006/relationships/slide" Target="slides/slide46.xml"/><Relationship Id="rId56" Type="http://schemas.openxmlformats.org/officeDocument/2006/relationships/slide" Target="slides/slide47.xml"/><Relationship Id="rId57" Type="http://schemas.openxmlformats.org/officeDocument/2006/relationships/slide" Target="slides/slide48.xml"/><Relationship Id="rId58" Type="http://schemas.openxmlformats.org/officeDocument/2006/relationships/slide" Target="slides/slide49.xml"/><Relationship Id="rId59" Type="http://schemas.openxmlformats.org/officeDocument/2006/relationships/slide" Target="slides/slide50.xml"/><Relationship Id="rId60" Type="http://schemas.openxmlformats.org/officeDocument/2006/relationships/slide" Target="slides/slide51.xml"/><Relationship Id="rId61" Type="http://schemas.openxmlformats.org/officeDocument/2006/relationships/slide" Target="slides/slide52.xml"/><Relationship Id="rId62" Type="http://schemas.openxmlformats.org/officeDocument/2006/relationships/slide" Target="slides/slide53.xml"/><Relationship Id="rId144" Type="http://schemas.openxmlformats.org/officeDocument/2006/relationships/font" Target="fonts/font144.fntdata"/><Relationship Id="rId145" Type="http://schemas.openxmlformats.org/officeDocument/2006/relationships/font" Target="fonts/font145.fntdata"/><Relationship Id="rId146" Type="http://schemas.openxmlformats.org/officeDocument/2006/relationships/font" Target="fonts/font146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Escolher a ferramenta grande antes do problema grande é a forma mais</a:t>
            </a:r>
          </a:p>
          <a:p>
            <a:r>
              <a:t>cara de errar. Vale insistir nisso.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portal oferece o download uma vez só. Chave privada não vai por</a:t>
            </a:r>
          </a:p>
          <a:p>
            <a:r>
              <a:t>e-mail, não vai por WhatsApp, não vai para o Git.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Mantenha a sessão atual aberta e teste em outro terminal. Errar a</a:t>
            </a:r>
          </a:p>
          <a:p>
            <a:r>
              <a:t>config do SSH com uma sessão só é o jeito clássico de perder a máquina.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e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2766"/>
        </a:solidFill>
      </p:bgPr>
    </p:bg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16292903" y="379566"/>
            <a:ext cx="1567796" cy="1398777"/>
          </a:xfrm>
          <a:custGeom>
            <a:avLst/>
            <a:gdLst/>
            <a:ahLst/>
            <a:cxnLst/>
            <a:rect r="r" b="b" t="t" l="l"/>
            <a:pathLst>
              <a:path h="1398777" w="1567796">
                <a:moveTo>
                  <a:pt x="0" y="0"/>
                </a:moveTo>
                <a:lnTo>
                  <a:pt x="1567795" y="0"/>
                </a:lnTo>
                <a:lnTo>
                  <a:pt x="1567795" y="1398777"/>
                </a:lnTo>
                <a:lnTo>
                  <a:pt x="0" y="139877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77261"/>
            <a:ext cx="16459200" cy="29743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0145"/>
              </a:lnSpc>
            </a:pPr>
            <a:r>
              <a:rPr lang="en-US" sz="7246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VPS, Docker, Kamal</a:t>
            </a:r>
          </a:p>
          <a:p>
            <a:pPr algn="ctr">
              <a:lnSpc>
                <a:spcPts val="10145"/>
              </a:lnSpc>
            </a:pPr>
            <a:r>
              <a:rPr lang="en-US" sz="7246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e Deploy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8398135" y="4707572"/>
            <a:ext cx="6999886" cy="37884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339"/>
              </a:lnSpc>
            </a:pPr>
            <a:r>
              <a:rPr lang="en-US" sz="3099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Capacitação Back-end</a:t>
            </a:r>
          </a:p>
          <a:p>
            <a:pPr algn="l">
              <a:lnSpc>
                <a:spcPts val="4339"/>
              </a:lnSpc>
            </a:pPr>
            <a:r>
              <a:rPr lang="en-US" sz="3099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Aula 4 de 4</a:t>
            </a:r>
          </a:p>
          <a:p>
            <a:pPr algn="l">
              <a:lnSpc>
                <a:spcPts val="4339"/>
              </a:lnSpc>
            </a:pPr>
            <a:r>
              <a:rPr lang="en-US" sz="3099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/>
            </a:r>
          </a:p>
          <a:p>
            <a:pPr algn="l">
              <a:lnSpc>
                <a:spcPts val="4339"/>
              </a:lnSpc>
            </a:pPr>
            <a:r>
              <a:rPr lang="en-US" sz="3099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Fabrício Siqueira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847725"/>
            <a:ext cx="16459200" cy="1636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0694"/>
              </a:lnSpc>
            </a:pPr>
            <a:r>
              <a:rPr lang="en-US" sz="7638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OBJETIVOS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3090975" y="3800250"/>
            <a:ext cx="12106050" cy="25912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071776" indent="-535888" lvl="1">
              <a:lnSpc>
                <a:spcPts val="4169"/>
              </a:lnSpc>
              <a:buFont typeface="Arial"/>
              <a:buChar char="•"/>
            </a:pPr>
            <a:r>
              <a:rPr lang="en-US" b="true" sz="2978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Subir a sua própria máquina na nuvem.</a:t>
            </a:r>
          </a:p>
          <a:p>
            <a:pPr algn="l" marL="1071776" indent="-535888" lvl="1">
              <a:lnSpc>
                <a:spcPts val="4169"/>
              </a:lnSpc>
              <a:buFont typeface="Arial"/>
              <a:buChar char="•"/>
            </a:pPr>
            <a:r>
              <a:rPr lang="en-US" b="true" sz="2978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Entender Docker e Kamal de verdade.</a:t>
            </a:r>
          </a:p>
          <a:p>
            <a:pPr algn="l" marL="1071776" indent="-535888" lvl="1">
              <a:lnSpc>
                <a:spcPts val="4169"/>
              </a:lnSpc>
              <a:buFont typeface="Arial"/>
              <a:buChar char="•"/>
            </a:pPr>
            <a:r>
              <a:rPr lang="en-US" b="true" sz="2978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Colocar a sua API no ar, com HTTPS.</a:t>
            </a:r>
          </a:p>
          <a:p>
            <a:pPr algn="l" marL="1071776" indent="-535888" lvl="1">
              <a:lnSpc>
                <a:spcPts val="4169"/>
              </a:lnSpc>
              <a:buFont typeface="Arial"/>
              <a:buChar char="•"/>
            </a:pPr>
            <a:r>
              <a:rPr lang="en-US" b="true" sz="2978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Deploy automático a cada push.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225756"/>
            <a:ext cx="16459200" cy="34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775"/>
              </a:lnSpc>
              <a:spcBef>
                <a:spcPct val="0"/>
              </a:spcBef>
            </a:pPr>
            <a:r>
              <a:rPr lang="en-US" sz="16267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VPS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QUE É UMA VPS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Virtual Private Server.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Um computador virtual dentro do servidor físico de um provedor.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seu: acesso root, escolhe o sistema, instala o que quiser.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Cobra por hora ligada, não por uso.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AS QUATRO OPÇÕES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Hospedagem compartilhada — você não controla nada.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PaaS (Heroku, Render, Fly) — controla o app, opera nada.</a:t>
            </a:r>
          </a:p>
          <a:p>
            <a:pPr algn="l" marL="2272757" indent="-757586" lvl="2">
              <a:lnSpc>
                <a:spcPts val="6236"/>
              </a:lnSpc>
              <a:buFont typeface="Arial"/>
              <a:buChar char="◦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paga mais e obedece as regras deles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VPS — controla tudo, e opera tudo.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Kubernetes — controla tudo, em escala, e opera muito mais.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POR QUE VM, E NÃO KUBERNETES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seem-backend atende ~500 usuários num evento de uma semana.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Kubernetes adicionaria custo e operação sem resolver problema nenhum.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Menos peças para monitorar.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Deploy reproduzível com Docker e Kamal.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Banco e aplicação perto um do outro.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Evoluir só quando uma métrica real pedir.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 O QUE ISSO CUSTA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7484"/>
              </a:lnSpc>
              <a:buFont typeface="Arial"/>
              <a:buChar char="•"/>
            </a:pPr>
            <a:r>
              <a:rPr lang="en-US" sz="4736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Uma VM é ponto único de falha.</a:t>
            </a:r>
          </a:p>
          <a:p>
            <a:pPr algn="l" marL="1136378" indent="-568189" lvl="1">
              <a:lnSpc>
                <a:spcPts val="7484"/>
              </a:lnSpc>
              <a:buFont typeface="Arial"/>
              <a:buChar char="•"/>
            </a:pPr>
            <a:r>
              <a:rPr lang="en-US" sz="4736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Volume Docker não é backup.</a:t>
            </a:r>
          </a:p>
          <a:p>
            <a:pPr algn="l" marL="1136378" indent="-568189" lvl="1">
              <a:lnSpc>
                <a:spcPts val="7484"/>
              </a:lnSpc>
              <a:buFont typeface="Arial"/>
              <a:buChar char="•"/>
            </a:pPr>
            <a:r>
              <a:rPr lang="en-US" sz="4736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Postgres não é gerenciado — quem cuida é você.</a:t>
            </a:r>
          </a:p>
          <a:p>
            <a:pPr algn="l" marL="1136378" indent="-568189" lvl="1">
              <a:lnSpc>
                <a:spcPts val="7484"/>
              </a:lnSpc>
              <a:buFont typeface="Arial"/>
              <a:buChar char="•"/>
            </a:pPr>
            <a:r>
              <a:rPr lang="en-US" sz="4736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Admitir o custo faz parte da decisão.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225756"/>
            <a:ext cx="16459200" cy="34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775"/>
              </a:lnSpc>
              <a:spcBef>
                <a:spcPct val="0"/>
              </a:spcBef>
            </a:pPr>
            <a:r>
              <a:rPr lang="en-US" sz="16267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MÁQUINA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COTAS ANTES DE TUDO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Azure for Students não oferece todo tamanho em toda região.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portal responde: NotAvailableForSubscription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Assinaturas → Uso + cotas → filtre por Compute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Escolha uma região onde o tamanho aparece.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Não insista: pedir aumento de cota não resolve oferta desabilitada.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CRIANDO A VM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Ubuntu Server 24.04 LTS — x64 Gen2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Standard_B1s (1 vCPU, 1 GiB) ou maior, se houver crédito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Autenticação: chave pública SSH, tipo Ed25519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Usuário: azureuser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Portas públicas de entrada: NENHUMA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567"/>
              </a:lnSpc>
            </a:pPr>
            <a:r>
              <a:rPr lang="en-US" sz="3977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'NENHUMA' É A ESCOLHA MAIS IMPORTANTE DA TELA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assistente, se deixado, libera SSH para a internet inteira.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Bots varrem a porta 22 do IPv4 todo, o dia todo.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Vamos abrir a 22 só para o seu IP.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curl -4 ifconfig.me descobre qual é.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/32 na regra significa 'exatamente este endereço'.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CHAVE PRIVADA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4111352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33798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mkdir -p ~/.ssh</a:t>
            </a:r>
          </a:p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mv ~/Downloads/vm-capacita_key.pem ~/.ssh/azure-capacita</a:t>
            </a:r>
          </a:p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chmod 600 ~/.ssh/azure-capacita</a:t>
            </a:r>
          </a:p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ssh -i ~/.ssh/azure-capacita azureuser@SEU_IP</a:t>
            </a:r>
          </a:p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# chmod 600 = só você lê.</a:t>
            </a:r>
          </a:p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# O SSH RECUSA usar chave com permissão frouxa.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225756"/>
            <a:ext cx="16459200" cy="34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775"/>
              </a:lnSpc>
              <a:spcBef>
                <a:spcPct val="0"/>
              </a:spcBef>
            </a:pPr>
            <a:r>
              <a:rPr lang="en-US" sz="16267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UBUNTU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LINUX BÁSICO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apt update / apt install — o gerenciador de pacotes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sudo — executar como root, uma vez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systemctl status / restart — serviços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journalctl -u ssh — logs de um serviço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free -h e df -h — memória e disco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chmod 600 arquivo — só o dono lê e escreve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DOCKER, DO REPOSITÓRIO OFICIAL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6020742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528922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# O apt install docker.io do Ubuntu instala versão velha.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sudo install -m 0755 -d /etc/apt/keyrings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sudo curl -fsSL https://download.docker.com/linux/ubuntu/gpg \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  -o /etc/apt/keyrings/docker.asc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sudo chmod a+r /etc/apt/keyrings/docker.asc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# (adiciona o repositório — ver docs/04-deploy.md)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sudo apt install -y docker-ce docker-ce-cli containerd.io \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  docker-buildx-plugin docker-compose-plugin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sudo usermod -aG docker azureuser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exit   # grupo só vale em sessão nova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SWAP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scripts/server-swap.sh cria 2 GiB e persiste no boot.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Numa VM de 1 GiB, Rails + Postgres + build estouram a RAM.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kernel mata o processo que estiver na frente. É o OOM killer.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 a mensagem de erro não explica nada.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swappiness 10: só usa swap quando a RAM acabar mesmo.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ENDURECER O SSH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3869559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313803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sudo tee /etc/ssh/sshd_config.d/99-hardening.conf &gt;/dev/null &lt;&lt;'EOF'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PermitRootLogin no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PasswordAuthentication no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KbdInteractiveAuthentication no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PubkeyAuthentication yes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EOF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sudo sshd -t              # valida a sintaxe ANTES de recarregar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sudo systemctl reload ssh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225756"/>
            <a:ext cx="16459200" cy="34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775"/>
              </a:lnSpc>
              <a:spcBef>
                <a:spcPct val="0"/>
              </a:spcBef>
            </a:pPr>
            <a:r>
              <a:rPr lang="en-US" sz="16267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DOCKER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IMAGEM  ×  CONTAINER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Imagem é a receita: sistema, Ruby, gems e o seu código, congelados.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Container é o bolo: uma instância rodando.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Uma imagem, muitos containers.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Imagem é imutável. Container é descartável.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DOCKERFILE DO RAILS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7141832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6410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450">
                <a:solidFill>
                  <a:srgbClr val="E6EAF2"/>
                </a:solidFill>
                <a:latin typeface="Consolas"/>
              </a:rPr>
              <a:t>FROM ruby:3.4.9-slim AS base</a:t>
            </a:r>
          </a:p>
          <a:p>
            <a:pPr>
              <a:lnSpc>
                <a:spcPct val="125000"/>
              </a:lnSpc>
            </a:pPr>
            <a:r>
              <a:rPr sz="2450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450">
                <a:solidFill>
                  <a:srgbClr val="E6EAF2"/>
                </a:solidFill>
                <a:latin typeface="Consolas"/>
              </a:rPr>
              <a:t>FROM base AS build</a:t>
            </a:r>
          </a:p>
          <a:p>
            <a:pPr>
              <a:lnSpc>
                <a:spcPct val="125000"/>
              </a:lnSpc>
            </a:pPr>
            <a:r>
              <a:rPr sz="2450">
                <a:solidFill>
                  <a:srgbClr val="E6EAF2"/>
                </a:solidFill>
                <a:latin typeface="Consolas"/>
              </a:rPr>
              <a:t>RUN apt-get install -y build-essential libpq-dev</a:t>
            </a:r>
          </a:p>
          <a:p>
            <a:pPr>
              <a:lnSpc>
                <a:spcPct val="125000"/>
              </a:lnSpc>
            </a:pPr>
            <a:r>
              <a:rPr sz="2450">
                <a:solidFill>
                  <a:srgbClr val="E6EAF2"/>
                </a:solidFill>
                <a:latin typeface="Consolas"/>
              </a:rPr>
              <a:t>COPY Gemfile Gemfile.lock ./</a:t>
            </a:r>
          </a:p>
          <a:p>
            <a:pPr>
              <a:lnSpc>
                <a:spcPct val="125000"/>
              </a:lnSpc>
            </a:pPr>
            <a:r>
              <a:rPr sz="2450">
                <a:solidFill>
                  <a:srgbClr val="E6EAF2"/>
                </a:solidFill>
                <a:latin typeface="Consolas"/>
              </a:rPr>
              <a:t>RUN bundle install</a:t>
            </a:r>
          </a:p>
          <a:p>
            <a:pPr>
              <a:lnSpc>
                <a:spcPct val="125000"/>
              </a:lnSpc>
            </a:pPr>
            <a:r>
              <a:rPr sz="2450">
                <a:solidFill>
                  <a:srgbClr val="E6EAF2"/>
                </a:solidFill>
                <a:latin typeface="Consolas"/>
              </a:rPr>
              <a:t>COPY . .</a:t>
            </a:r>
          </a:p>
          <a:p>
            <a:pPr>
              <a:lnSpc>
                <a:spcPct val="125000"/>
              </a:lnSpc>
            </a:pPr>
            <a:r>
              <a:rPr sz="2450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450">
                <a:solidFill>
                  <a:srgbClr val="E6EAF2"/>
                </a:solidFill>
                <a:latin typeface="Consolas"/>
              </a:rPr>
              <a:t>FROM base</a:t>
            </a:r>
          </a:p>
          <a:p>
            <a:pPr>
              <a:lnSpc>
                <a:spcPct val="125000"/>
              </a:lnSpc>
            </a:pPr>
            <a:r>
              <a:rPr sz="2450">
                <a:solidFill>
                  <a:srgbClr val="E6EAF2"/>
                </a:solidFill>
                <a:latin typeface="Consolas"/>
              </a:rPr>
              <a:t>RUN groupadd --system --gid 1000 rails &amp;&amp; \</a:t>
            </a:r>
          </a:p>
          <a:p>
            <a:pPr>
              <a:lnSpc>
                <a:spcPct val="125000"/>
              </a:lnSpc>
            </a:pPr>
            <a:r>
              <a:rPr sz="2450">
                <a:solidFill>
                  <a:srgbClr val="E6EAF2"/>
                </a:solidFill>
                <a:latin typeface="Consolas"/>
              </a:rPr>
              <a:t>    useradd rails --uid 1000 --gid 1000</a:t>
            </a:r>
          </a:p>
          <a:p>
            <a:pPr>
              <a:lnSpc>
                <a:spcPct val="125000"/>
              </a:lnSpc>
            </a:pPr>
            <a:r>
              <a:rPr sz="2450">
                <a:solidFill>
                  <a:srgbClr val="E6EAF2"/>
                </a:solidFill>
                <a:latin typeface="Consolas"/>
              </a:rPr>
              <a:t>USER 1000:1000</a:t>
            </a:r>
          </a:p>
          <a:p>
            <a:pPr>
              <a:lnSpc>
                <a:spcPct val="125000"/>
              </a:lnSpc>
            </a:pPr>
            <a:r>
              <a:rPr sz="2450">
                <a:solidFill>
                  <a:srgbClr val="E6EAF2"/>
                </a:solidFill>
                <a:latin typeface="Consolas"/>
              </a:rPr>
              <a:t>COPY --from=build "${BUNDLE_PATH}" "${BUNDLE_PATH}"</a:t>
            </a:r>
          </a:p>
          <a:p>
            <a:pPr>
              <a:lnSpc>
                <a:spcPct val="125000"/>
              </a:lnSpc>
            </a:pPr>
            <a:r>
              <a:rPr sz="2450">
                <a:solidFill>
                  <a:srgbClr val="E6EAF2"/>
                </a:solidFill>
                <a:latin typeface="Consolas"/>
              </a:rPr>
              <a:t>COPY --from=build /rails /rails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DUAS DECISÕES DO DOCKERFILE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Multi-stage: o estágio build tem compilador; a imagem final não.</a:t>
            </a:r>
          </a:p>
          <a:p>
            <a:pPr algn="l" marL="2272757" indent="-757586" lvl="2">
              <a:lnSpc>
                <a:spcPts val="5405"/>
              </a:lnSpc>
              <a:buFont typeface="Arial"/>
              <a:buChar char="◦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menos peso, e menos ferramenta à mão de quem invadir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Usuário não-root: se escaparem da aplicação, caem sem privilégio.</a:t>
            </a:r>
          </a:p>
          <a:p>
            <a:pPr algn="l" marL="2272757" indent="-757586" lvl="2">
              <a:lnSpc>
                <a:spcPts val="5405"/>
              </a:lnSpc>
              <a:buFont typeface="Arial"/>
              <a:buChar char="◦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uma linha que muda o tamanho do estrago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.dockerignore: sem ele, o histórico do Git vai junto na imagem.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REGISTRY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o 'GitHub das imagens'.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Usamos o ghcr.io: já vem com a conta do GitHub.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Actions autentica sozinho com o GITHUB_TOKEN.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fluxo: Actions builda → empurra pro ghcr.io → a VM puxa e roda.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sua máquina nunca faz o build de produção.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225756"/>
            <a:ext cx="16459200" cy="34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775"/>
              </a:lnSpc>
              <a:spcBef>
                <a:spcPct val="0"/>
              </a:spcBef>
            </a:pPr>
            <a:r>
              <a:rPr lang="en-US" sz="16267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KAMAL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QUE O KAMAL FAZ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Feito pela mesma turma do Rails. Deploy com Docker, via SSH.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Sem agente na máquina, sem painel.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Ele conecta na sua VM e roda docker.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Zero-downtime: sobe o novo AO LADO do antigo.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Espera o health check passar, aí troca o tráfego.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Falhou o health check? Não troca. O antigo continua servindo.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DEPLOY.YML — SERVIDOR E IMAGEM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6379210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564769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service: automic-auth-api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image: &lt;%= ENV.fetch("GHCR_USER") %&gt;/automic-auth-api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ssh: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  user: azureuser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run_directory: /home/azureuser/.kamal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servers: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  web: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    hosts: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      - &lt;%= ENV.fetch("AZURE_VM_IP") %&gt;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# O arquivo é ERB. Por isso ele é IGUAL para toda a turma: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# o que muda vem das variables do Actions.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DEPLOY.YML — ENV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3959352" y="2377440"/>
            <a:ext cx="10369296" cy="5537200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16552" y="2743200"/>
            <a:ext cx="9454896" cy="4805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3200">
                <a:solidFill>
                  <a:srgbClr val="E6EAF2"/>
                </a:solidFill>
                <a:latin typeface="Consolas"/>
              </a:rPr>
              <a:t>env:</a:t>
            </a:r>
          </a:p>
          <a:p>
            <a:pPr>
              <a:lnSpc>
                <a:spcPct val="125000"/>
              </a:lnSpc>
            </a:pPr>
            <a:r>
              <a:rPr sz="3200">
                <a:solidFill>
                  <a:srgbClr val="E6EAF2"/>
                </a:solidFill>
                <a:latin typeface="Consolas"/>
              </a:rPr>
              <a:t>  clear:</a:t>
            </a:r>
          </a:p>
          <a:p>
            <a:pPr>
              <a:lnSpc>
                <a:spcPct val="125000"/>
              </a:lnSpc>
            </a:pPr>
            <a:r>
              <a:rPr sz="3200">
                <a:solidFill>
                  <a:srgbClr val="E6EAF2"/>
                </a:solidFill>
                <a:latin typeface="Consolas"/>
              </a:rPr>
              <a:t>    SOLID_QUEUE_IN_PUMA: "true"</a:t>
            </a:r>
          </a:p>
          <a:p>
            <a:pPr>
              <a:lnSpc>
                <a:spcPct val="125000"/>
              </a:lnSpc>
            </a:pPr>
            <a:r>
              <a:rPr sz="3200">
                <a:solidFill>
                  <a:srgbClr val="E6EAF2"/>
                </a:solidFill>
                <a:latin typeface="Consolas"/>
              </a:rPr>
              <a:t>    WEB_CONCURRENCY: "1"</a:t>
            </a:r>
          </a:p>
          <a:p>
            <a:pPr>
              <a:lnSpc>
                <a:spcPct val="125000"/>
              </a:lnSpc>
            </a:pPr>
            <a:r>
              <a:rPr sz="3200">
                <a:solidFill>
                  <a:srgbClr val="E6EAF2"/>
                </a:solidFill>
                <a:latin typeface="Consolas"/>
              </a:rPr>
              <a:t>    DB_HOST: automic-auth-api-db</a:t>
            </a:r>
          </a:p>
          <a:p>
            <a:pPr>
              <a:lnSpc>
                <a:spcPct val="125000"/>
              </a:lnSpc>
            </a:pPr>
            <a:r>
              <a:rPr sz="3200">
                <a:solidFill>
                  <a:srgbClr val="E6EAF2"/>
                </a:solidFill>
                <a:latin typeface="Consolas"/>
              </a:rPr>
              <a:t>  secret:</a:t>
            </a:r>
          </a:p>
          <a:p>
            <a:pPr>
              <a:lnSpc>
                <a:spcPct val="125000"/>
              </a:lnSpc>
            </a:pPr>
            <a:r>
              <a:rPr sz="3200">
                <a:solidFill>
                  <a:srgbClr val="E6EAF2"/>
                </a:solidFill>
                <a:latin typeface="Consolas"/>
              </a:rPr>
              <a:t>    - RAILS_MASTER_KEY</a:t>
            </a:r>
          </a:p>
          <a:p>
            <a:pPr>
              <a:lnSpc>
                <a:spcPct val="125000"/>
              </a:lnSpc>
            </a:pPr>
            <a:r>
              <a:rPr sz="3200">
                <a:solidFill>
                  <a:srgbClr val="E6EAF2"/>
                </a:solidFill>
                <a:latin typeface="Consolas"/>
              </a:rPr>
              <a:t>    - JWT_SECRET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CLEAR  ×  SECRET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clear vai como texto no comando docker run. É configuração.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secret vai por arquivo de ambiente, com permissão restrita.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JWT_SECRET no clear seria o mesmo que publicá-lo: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apareceria em docker inspect e no histórico do shell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DB_HOST é o NOME do container do banco.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containers na mesma rede Docker se enxergam por nome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BANCO COMO ACCESSORY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6577647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58461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accessories: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 db: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   image: postgres:16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   host: &lt;%= ENV.fetch("AZURE_VM_IP") %&gt;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   env: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     clear: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       POSTGRES_USER: automic_auth_api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       POSTGRES_DB: automic_auth_api_production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     secret: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       - POSTGRES_PASSWORD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   directories: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     - data:/var/lib/postgresql/data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ACCESSORY E VOLUME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Accessory é container que o Kamal gerencia, mas não faz deploy junto.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directories cria o volume.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o volume que faz os dados sobreviverem a deploy e a rebuild.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Sem ele, cada deploy apagaria o banco.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kamal deploy NÃO sobe accessories.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depois de mudar env: kamal accessory reboot db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AS TRÊS CAMADAS DE SEGREDO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4219169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348764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GitHub Actions Secrets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        ↓  viram variáveis de ambiente no runner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.kamal/secrets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        ↓  só referencia — nenhum valor, por isso vai pro Git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config/deploy.yml (env.secret)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        ↓  o Kamal injeta no container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ENV["JWT_SECRET"] no Rails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# Nenhum valor real toca o repositório em ponto nenhum.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CREDENTIALS  ×  ENV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bin/rails credentials:edit abre um YAML criptografado.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credentials.yml.enc é seguro no Git; master.key nunca vai.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Credentials: segredo estável e do app (chave de API de terceiro).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ENV: o que muda por ambiente ou máquina (senha do banco, SMTP).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Gere o JWT_SECRET com: bin/rails secret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225756"/>
            <a:ext cx="16459200" cy="34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775"/>
              </a:lnSpc>
              <a:spcBef>
                <a:spcPct val="0"/>
              </a:spcBef>
            </a:pPr>
            <a:r>
              <a:rPr lang="en-US" sz="16267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CI/CD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CI: O PORTÃO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Roda em todo push e todo pull request.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scan_ruby — Brakeman e bundler-audit.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lint — RuboCop.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test — bin/rails test contra um Postgres descartável.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Falhou qualquer um, não entra na main.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isso que faz 'deploy automático' não ser 'publicar bug automático'.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DEPLOY: O PONTO DELICADO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7900"/>
              </a:lnSpc>
              <a:buFont typeface="Arial"/>
              <a:buChar char="•"/>
            </a:pPr>
            <a:r>
              <a:rPr lang="en-US" sz="4999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porta 22 está fechada para a internet.</a:t>
            </a:r>
          </a:p>
          <a:p>
            <a:pPr algn="l" marL="1136378" indent="-568189" lvl="1">
              <a:lnSpc>
                <a:spcPts val="7900"/>
              </a:lnSpc>
              <a:buFont typeface="Arial"/>
              <a:buChar char="•"/>
            </a:pPr>
            <a:r>
              <a:rPr lang="en-US" sz="4999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runner do GitHub tem IP diferente a cada execução.</a:t>
            </a:r>
          </a:p>
          <a:p>
            <a:pPr algn="l" marL="1136378" indent="-568189" lvl="1">
              <a:lnSpc>
                <a:spcPts val="7900"/>
              </a:lnSpc>
              <a:buFont typeface="Arial"/>
              <a:buChar char="•"/>
            </a:pPr>
            <a:r>
              <a:rPr lang="en-US" sz="4999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Não dá para liberar antes.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SEQUÊNCIA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4724443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399292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118">
                <a:solidFill>
                  <a:srgbClr val="E6EAF2"/>
                </a:solidFill>
                <a:latin typeface="Consolas"/>
              </a:rPr>
              <a:t>1. autentica na Azure (OIDC)</a:t>
            </a:r>
          </a:p>
          <a:p>
            <a:pPr>
              <a:lnSpc>
                <a:spcPct val="125000"/>
              </a:lnSpc>
            </a:pPr>
            <a:r>
              <a:rPr sz="2118">
                <a:solidFill>
                  <a:srgbClr val="E6EAF2"/>
                </a:solidFill>
                <a:latin typeface="Consolas"/>
              </a:rPr>
              <a:t>2. descobre o próprio IP público</a:t>
            </a:r>
          </a:p>
          <a:p>
            <a:pPr>
              <a:lnSpc>
                <a:spcPct val="125000"/>
              </a:lnSpc>
            </a:pPr>
            <a:r>
              <a:rPr sz="2118">
                <a:solidFill>
                  <a:srgbClr val="E6EAF2"/>
                </a:solidFill>
                <a:latin typeface="Consolas"/>
              </a:rPr>
              <a:t>3. cria regra no NSG liberando a 22 só para esse IP/32</a:t>
            </a:r>
          </a:p>
          <a:p>
            <a:pPr>
              <a:lnSpc>
                <a:spcPct val="125000"/>
              </a:lnSpc>
            </a:pPr>
            <a:r>
              <a:rPr sz="2118">
                <a:solidFill>
                  <a:srgbClr val="E6EAF2"/>
                </a:solidFill>
                <a:latin typeface="Consolas"/>
              </a:rPr>
              <a:t>4. faz o deploy</a:t>
            </a:r>
          </a:p>
          <a:p>
            <a:pPr>
              <a:lnSpc>
                <a:spcPct val="125000"/>
              </a:lnSpc>
            </a:pPr>
            <a:r>
              <a:rPr sz="2118">
                <a:solidFill>
                  <a:srgbClr val="E6EAF2"/>
                </a:solidFill>
                <a:latin typeface="Consolas"/>
              </a:rPr>
              <a:t>5. APAGA a regra — mesmo se o deploy falhar</a:t>
            </a:r>
          </a:p>
          <a:p>
            <a:pPr>
              <a:lnSpc>
                <a:spcPct val="125000"/>
              </a:lnSpc>
            </a:pPr>
            <a:r>
              <a:rPr sz="2118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118">
                <a:solidFill>
                  <a:srgbClr val="E6EAF2"/>
                </a:solidFill>
                <a:latin typeface="Consolas"/>
              </a:rPr>
              <a:t># O passo 5 tem `if: always()`.</a:t>
            </a:r>
          </a:p>
          <a:p>
            <a:pPr>
              <a:lnSpc>
                <a:spcPct val="125000"/>
              </a:lnSpc>
            </a:pPr>
            <a:r>
              <a:rPr sz="2118">
                <a:solidFill>
                  <a:srgbClr val="E6EAF2"/>
                </a:solidFill>
                <a:latin typeface="Consolas"/>
              </a:rPr>
              <a:t>#</a:t>
            </a:r>
          </a:p>
          <a:p>
            <a:pPr>
              <a:lnSpc>
                <a:spcPct val="125000"/>
              </a:lnSpc>
            </a:pPr>
            <a:r>
              <a:rPr sz="2118">
                <a:solidFill>
                  <a:srgbClr val="E6EAF2"/>
                </a:solidFill>
                <a:latin typeface="Consolas"/>
              </a:rPr>
              <a:t># Deixar a 22 aberta é o erro que transforma um deploy ruim</a:t>
            </a:r>
          </a:p>
          <a:p>
            <a:pPr>
              <a:lnSpc>
                <a:spcPct val="125000"/>
              </a:lnSpc>
            </a:pPr>
            <a:r>
              <a:rPr sz="2118">
                <a:solidFill>
                  <a:srgbClr val="E6EAF2"/>
                </a:solidFill>
                <a:latin typeface="Consolas"/>
              </a:rPr>
              <a:t># num incidente de segurança.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225756"/>
            <a:ext cx="16459200" cy="34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775"/>
              </a:lnSpc>
              <a:spcBef>
                <a:spcPct val="0"/>
              </a:spcBef>
            </a:pPr>
            <a:r>
              <a:rPr lang="en-US" sz="16267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OIDC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POR QUE NÃO USAR SENHA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jeito comum: criar um client secret e guardar no GitHub.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Ele é longo, vale por meses.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 quem tiver acesso ao repositório tem acesso à sua Azure.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OIDC INVERTE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GitHub emite, a cada execução, um token de curta duração.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Ele diz: 'sou o workflow do repositório X, na branch Y'.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Azure verifica e devolve um acesso temporário.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Não existe segredo de longa duração em lugar nenhum.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CREDENCIAL FEDERADA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4535661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380414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# Microsoft Entra ID → Registros de aplicativo → Novo registro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# NÃO crie segredo do cliente.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#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# Credenciais federadas → cenário GitHub Actions: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repo:SEU-USUARIO/SEU-REPO:ref:refs/heads/main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# Precisa bater CARACTERE POR CARACTERE.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# Erro de maiúscula, de nome ou de branch dá AADSTS700213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# — e a mensagem não ajuda em nada.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PERMISSÃO MÍNIMA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atribuição de função vai no NSG, não na assinatura.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Função: Colaborador de Rede.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 a credencial vazar, o estrago se limita a regras de firewall.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daquela máquina, e só.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chave SSH do CI também é separada da sua.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dá para revogar o acesso do CI sem trocar o seu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225756"/>
            <a:ext cx="16459200" cy="34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775"/>
              </a:lnSpc>
              <a:spcBef>
                <a:spcPct val="0"/>
              </a:spcBef>
            </a:pPr>
            <a:r>
              <a:rPr lang="en-US" sz="16267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TLS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DNS NO CLOUDFLARE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Registro A, apontando para o IP público da VM.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Proxy: Proxied — a nuvem laranja.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tráfego passa pelo Cloudflare antes de chegar na sua VM.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Cache, proteção contra DDoS,</a:t>
            </a:r>
          </a:p>
          <a:p>
            <a:pPr algn="l" marL="2272757" indent="-757586" lvl="2">
              <a:lnSpc>
                <a:spcPts val="6236"/>
              </a:lnSpc>
              <a:buFont typeface="Arial"/>
              <a:buChar char="◦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 o IP real da sua máquina não aparece no DNS.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OS TRÊS MODOS DE TLS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Flexible — Cloudflare → sua VM em TEXTO PURO. Não use.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Full — criptografado, mas aceita certificado inválido.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Full (strict) — criptografado E o certificado é validado.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Com Flexible, o cadeado aparece e a senha trafega em claro no fim.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pior que não ter HTTPS, porque mente.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POR QUE NÃO LET'S ENCRYPT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Kamal sabe emitir Let's Encrypt sozinho. Aqui não dá.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Com o DNS proxied, o desafio HTTP-01 não chega como esperado.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Daria para tirar o proxy durante a emissão — mas expõe o IP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 vira ritual manual a cada renovação.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Origin CA: protege Cloudflare → Azure, sem desafio, e vale anos.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certificado que o usuário vê é o público do Cloudflare.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225756"/>
            <a:ext cx="16459200" cy="34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775"/>
              </a:lnSpc>
              <a:spcBef>
                <a:spcPct val="0"/>
              </a:spcBef>
            </a:pPr>
            <a:r>
              <a:rPr lang="en-US" sz="16267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DEPLOY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PRIMEIRO DEPLOY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4791710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406019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# Valida o deploy.yml sem tocar em nada: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GHCR_USER=... AZURE_VM_IP=... APP_HOST=... \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  bundle exec kamal config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# Actions → Deploy (Kamal) → Run workflow → command: setup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#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# `setup` instala o Docker se faltar, sobe os accessories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# e faz o primeiro deploy. Só na primeira vez.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curl https://seunome.capacita.exemplo.tech/api/v1/status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OPERAR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3289254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25577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kamal app logs -f</a:t>
            </a:r>
          </a:p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kamal app exec --interactive --reuse "bin/rails console"</a:t>
            </a:r>
          </a:p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kamal app exec "bin/rails db:migrate"</a:t>
            </a:r>
          </a:p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kamal app details</a:t>
            </a:r>
          </a:p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kamal accessory reboot db</a:t>
            </a:r>
          </a:p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kamal rollback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BACKUP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Volume Docker NÃO é backup. Se a VM sumir, o volume some junto.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pg_dump pela SSH, compactado, guardado fora da máquina.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 o que quase ninguém faz: restaure num banco de teste.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Backup que nunca foi restaurado não é backup, é esperança.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48B1F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PRÁTICA — A MÁQUINA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7900"/>
              </a:lnSpc>
              <a:buFont typeface="Arial"/>
              <a:buChar char="•"/>
            </a:pPr>
            <a:r>
              <a:rPr lang="en-US" sz="4999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Crie a VM, sem porta pública nenhuma.</a:t>
            </a:r>
          </a:p>
          <a:p>
            <a:pPr algn="l" marL="1136378" indent="-568189" lvl="1">
              <a:lnSpc>
                <a:spcPts val="7900"/>
              </a:lnSpc>
              <a:buFont typeface="Arial"/>
              <a:buChar char="•"/>
            </a:pPr>
            <a:r>
              <a:rPr lang="en-US" sz="4999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Abra a 22 só para o seu IP, mais 80 e 443.</a:t>
            </a:r>
          </a:p>
          <a:p>
            <a:pPr algn="l" marL="1136378" indent="-568189" lvl="1">
              <a:lnSpc>
                <a:spcPts val="7900"/>
              </a:lnSpc>
              <a:buFont typeface="Arial"/>
              <a:buChar char="•"/>
            </a:pPr>
            <a:r>
              <a:rPr lang="en-US" sz="4999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Instale o Docker e rode o hello-world.</a:t>
            </a:r>
          </a:p>
          <a:p>
            <a:pPr algn="l" marL="1136378" indent="-568189" lvl="1">
              <a:lnSpc>
                <a:spcPts val="7900"/>
              </a:lnSpc>
              <a:buFont typeface="Arial"/>
              <a:buChar char="•"/>
            </a:pPr>
            <a:r>
              <a:rPr lang="en-US" sz="4999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Rode o server-swap.sh e endureça o SSH.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48B1F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PRÁTICA — O DEPLOY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Configure o OIDC e cadastre secrets e variables.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Crie o DNS e o Origin CA. Ligue o Full (strict).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Rode o workflow com command: setup.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Faça o fluxo da Aula 3 contra a SUA API em produção.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Mude a rota de status, dê push, e veja o deploy sozinho.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RECAPITULANDO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VPS: você controla tudo, e opera tudo.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Escolha a ferramenta do tamanho do problema.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Multi-stage e usuário não-root.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clear é configuração, secret é segredo.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Volume salva o dado do deploy — e ainda assim não é backup.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OIDC troca segredo longo por token curto.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porta 22 abre por um minuto e fecha, inclusive quando dá errado.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QUE O SEEM-BACKEND TEM A MAIS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Datadog — logs centralizados e Error Tracking.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rack-attack — bloqueia scanner e rajada de erro por IP.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Active Storage — foto de perfil em volume persistente.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Audit log — histórico de toda mutação de admin.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Export .xlsx e OpenAPI/Swagger.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Nenhum é difícil depois do que você viu. Agora dá para ler o código.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705520"/>
            <a:ext cx="16459200" cy="116893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621"/>
              </a:lnSpc>
            </a:pPr>
            <a:r>
              <a:rPr lang="en-US" sz="5443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MUITO OBRIGADO!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7017618" y="5057775"/>
            <a:ext cx="4252764" cy="7375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856"/>
              </a:lnSpc>
              <a:spcBef>
                <a:spcPct val="0"/>
              </a:spcBef>
            </a:pPr>
            <a:r>
              <a:rPr lang="en-US" sz="3468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BONS ESTUDOS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DAGwwFUwDmM</dc:identifier>
  <dcterms:modified xsi:type="dcterms:W3CDTF">2011-08-01T06:04:30Z</dcterms:modified>
  <cp:revision>1</cp:revision>
  <dc:title> Capacitação Front-end</dc:title>
</cp:coreProperties>
</file>