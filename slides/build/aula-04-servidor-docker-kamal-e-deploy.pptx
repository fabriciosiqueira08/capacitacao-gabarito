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9"/>
    <p:sldId id="257" r:id="rId10"/>
    <p:sldId id="258" r:id="rId11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5" r:id="rId59"/>
    <p:sldId id="306" r:id="rId60"/>
    <p:sldId id="307" r:id="rId61"/>
    <p:sldId id="308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</p:sldIdLst>
  <p:sldSz cx="18288000" cy="10287000"/>
  <p:notesSz cx="6858000" cy="9144000"/>
  <p:embeddedFontLst>
    <p:embeddedFont>
      <p:font typeface="Montaser Arabic" charset="1" panose="00000500000000000000"/>
      <p:regular r:id="rId144"/>
    </p:embeddedFont>
    <p:embeddedFont>
      <p:font typeface="Open Sans Extra Bold" charset="1" panose="020B0906030804020204"/>
      <p:regular r:id="rId145"/>
    </p:embeddedFont>
    <p:embeddedFont>
      <p:font typeface="Montaser Arabic Semi-Bold" charset="1" panose="00000700000000000000"/>
      <p:regular r:id="rId1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144" Type="http://schemas.openxmlformats.org/officeDocument/2006/relationships/font" Target="fonts/font144.fntdata"/><Relationship Id="rId145" Type="http://schemas.openxmlformats.org/officeDocument/2006/relationships/font" Target="fonts/font145.fntdata"/><Relationship Id="rId146" Type="http://schemas.openxmlformats.org/officeDocument/2006/relationships/font" Target="fonts/font14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frase sobre se sentir mais perdido é importante e é verdade. Diga</a:t>
            </a:r>
          </a:p>
          <a:p>
            <a:r>
              <a:t>com naturalidade — ela impede que alguém conclua sozinho que "não leva</a:t>
            </a:r>
          </a:p>
          <a:p>
            <a:r>
              <a:t>jeito para back-end" quando na verdade é assunto novo mesmo.</a:t>
            </a:r>
          </a:p>
          <a:p>
            <a:r>
              <a:t>A dica do prompt você vai repetir umas cinco vezes hoje. Comece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Escolher a ferramenta grande antes do problema grande é a forma mais</a:t>
            </a:r>
          </a:p>
          <a:p>
            <a:r>
              <a:t>cara de errar. Vale insistir nisso.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isso com todas as letras: não é faz de conta e não é atalho. É a</a:t>
            </a:r>
          </a:p>
          <a:p>
            <a:r>
              <a:t>mesma conexão SSH, o mesmo deploy.yml, os mesmos comandos.</a:t>
            </a:r>
          </a:p>
          <a:p>
            <a:r>
              <a:t>O que um servidor alugado acrescenta são DUAS LINHAS do .env, e o</a:t>
            </a:r>
          </a:p>
          <a:p>
            <a:r>
              <a:t>trabalho de provisionar a máquina — que está no apêndice.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Mesma matemática da assinatura do JWT da Aula 3, onde a chave é</a:t>
            </a:r>
          </a:p>
          <a:p>
            <a:r>
              <a:t>simétrica (HS256) porque quem assina e quem confere são o mesmo</a:t>
            </a:r>
          </a:p>
          <a:p>
            <a:r>
              <a:t>servidor. Vale fazer a ponte.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WSL2: o sshd NÃO sobe sozinho a cada boot do Windows, a menos que o</a:t>
            </a:r>
          </a:p>
          <a:p>
            <a:r>
              <a:t>systemd esteja habilitado. Quando alguém disser "funcionava ontem", é</a:t>
            </a:r>
          </a:p>
          <a:p>
            <a:r>
              <a:t>isso, e a saída é sudo service ssh start.</a:t>
            </a:r>
          </a:p>
          <a:p>
            <a:r>
              <a:t>Avise ANTES de alguém apanhar.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exatamente o que se faria num servidor alugado: a mesma chave, o</a:t>
            </a:r>
          </a:p>
          <a:p>
            <a:r>
              <a:t>mesmo authorized_keys, o mesmo comando. A diferença é o endereço.</a:t>
            </a:r>
          </a:p>
          <a:p>
            <a:r>
              <a:t>O IdentitiesOnly=yes evita "Too many authentication failures" de quem</a:t>
            </a:r>
          </a:p>
          <a:p>
            <a:r>
              <a:t>tem várias chaves no agente.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Circule. Os dois erros do bloco: sshd parado (Connection refused) e</a:t>
            </a:r>
          </a:p>
          <a:p>
            <a:r>
              <a:t>permissão frouxa na chave (Permission denied publickey).</a:t>
            </a:r>
          </a:p>
          <a:p>
            <a:r>
              <a:t>Windows: tudo dentro do WSL2. Repita isso quantas vezes precisar.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minutos.</a:t>
            </a:r>
          </a:p>
          <a:p>
            <a:r>
              <a:t>Cobre o tipo do token: fine-grained NÃO funciona no ghcr.io, tem que</a:t>
            </a:r>
          </a:p>
          <a:p>
            <a:r>
              <a:t>ser classic. É meia hora perdida se ninguém avisar.</a:t>
            </a:r>
          </a:p>
          <a:p>
            <a:r>
              <a:t>Circule também na arquitetura: quem tem Mac M precisa de arm64.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minutos, e errar aqui é o que causa quase toda falha da Prática 6.</a:t>
            </a:r>
          </a:p>
          <a:p>
            <a:r>
              <a:t>Pare a turma no git status. Se o .env aparecer para alguém, conserte o</a:t>
            </a:r>
          </a:p>
          <a:p>
            <a:r>
              <a:t>.gitignore ANTES de qualquer commit — segredo commitado não sai do</a:t>
            </a:r>
          </a:p>
          <a:p>
            <a:r>
              <a:t>histórico apagando o arquivo.</a:t>
            </a:r>
          </a:p>
          <a:p>
            <a:r>
              <a:t>Lembre que source .env vale só naquele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 a deixa para o certificado autoassinado: eles não têm domínio</a:t>
            </a:r>
          </a:p>
          <a:p>
            <a:r>
              <a:t>nenhum apontando para a VM, então não tem como provar nada. E é</a:t>
            </a:r>
          </a:p>
          <a:p>
            <a:r>
              <a:t>exatamente isso que vamos ver na tela daqui a três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Windows: repetir no C:\Windows\System32\drivers\etc\hosts, com o</a:t>
            </a:r>
          </a:p>
          <a:p>
            <a:r>
              <a:t>Bloco de Notas como administrador. É esse que o navegador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slide da aula. Uma CA é exatamente isso: alguém em quem o seu</a:t>
            </a:r>
          </a:p>
          <a:p>
            <a:r>
              <a:t>sistema já decidiu confiar, de fábrica. O Let's Encrypt não tem</a:t>
            </a:r>
          </a:p>
          <a:p>
            <a:r>
              <a:t>mágica que o openssl deles não tenha. Tem o navegador do mundo</a:t>
            </a:r>
          </a:p>
          <a:p>
            <a:r>
              <a:t>inteiro com a chave dele na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minutos.</a:t>
            </a:r>
          </a:p>
          <a:p>
            <a:r>
              <a:t>.test é reservado por RFC para testes: ninguém consegue registrar, e</a:t>
            </a:r>
          </a:p>
          <a:p>
            <a:r>
              <a:t>por isso nunca colide com um site real. Vale a curiosidade.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momento da aula. O código deles está rodando num container, num</a:t>
            </a:r>
          </a:p>
          <a:p>
            <a:r>
              <a:t>Ubuntu que eles provisionaram, atrás de um proxy TLS, com um Postgres</a:t>
            </a:r>
          </a:p>
          <a:p>
            <a:r>
              <a:t>com volume. Em produção, é 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~25 minutos, sendo ~5 de build. É o momento da aula.</a:t>
            </a:r>
          </a:p>
          <a:p>
            <a:r>
              <a:t>Use a espera do build para o bloco de backup e para perguntas.</a:t>
            </a:r>
          </a:p>
          <a:p>
            <a:r>
              <a:t>Quando aparecer, diga o que está na frente deles: o código deles</a:t>
            </a:r>
          </a:p>
          <a:p>
            <a:r>
              <a:t>rodando num container, num Ubuntu que eles provisionaram, atrás de um</a:t>
            </a:r>
          </a:p>
          <a:p>
            <a:r>
              <a:t>proxy TLS, com um Postgres com volume. Isto é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~10 minutos, e é a prática que mais ensina do dia. Não passe rápido.</a:t>
            </a:r>
          </a:p>
          <a:p>
            <a:r>
              <a:t>A frase que fixa: o -k desliga a conferência; o --cacert não desliga</a:t>
            </a:r>
          </a:p>
          <a:p>
            <a:r>
              <a:t>nada, ele diz em quem confiar. Uma CA é isso e só isso — alguém em quem</a:t>
            </a:r>
          </a:p>
          <a:p>
            <a:r>
              <a:t>o seu sistema já decidiu confiar, de fábrica.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Isto é demonstração, não exercício. O passo a passo completo está em</a:t>
            </a:r>
          </a:p>
          <a:p>
            <a:r>
              <a:t>docs/apendice-azure.md, para eles fazerem em casa com a Azure for</a:t>
            </a:r>
          </a:p>
          <a:p>
            <a:r>
              <a:t>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 a capacitação: o que eles construíram nas Aulas 2 e 3, rodando em</a:t>
            </a:r>
          </a:p>
          <a:p>
            <a:r>
              <a:t>produção.</a:t>
            </a:r>
          </a:p>
          <a:p>
            <a:r>
              <a:t>O backup é o fecho honesto da aula. Volume Docker não é backup: um</a:t>
            </a:r>
          </a:p>
          <a:p>
            <a:r>
              <a:t>docker volume rm sem querer leva tudo, e backup é a cópia que vive</a:t>
            </a:r>
          </a:p>
          <a:p>
            <a:r>
              <a:t>FORA dali. Vale perguntar quem já perdeu alguma coisa assim.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Reserve os cinco minutos e leia isto devagar, olhando para eles.</a:t>
            </a:r>
          </a:p>
          <a:p>
            <a:r>
              <a:t>Quem fez raramente percebe o tamanho do que fez — o esforço esconde a</a:t>
            </a:r>
          </a:p>
          <a:p>
            <a:r>
              <a:t>conquista. Este slide existe para devolver a perspectiva.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o canal aberto de verdade, e diga isso em voz alta. A pergunta</a:t>
            </a:r>
          </a:p>
          <a:p>
            <a:r>
              <a:t>que chega três semanas depois costuma ser a mais importante da</a:t>
            </a:r>
          </a:p>
          <a:p>
            <a:r>
              <a:t>capacitação inteira, porque é a primeira que veio de um problema real</a:t>
            </a:r>
          </a:p>
          <a:p>
            <a:r>
              <a:t>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66"/>
        </a:solidFill>
      </p:bgPr>
    </p:bg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16292903" y="379566"/>
            <a:ext cx="1567796" cy="1398777"/>
          </a:xfrm>
          <a:custGeom>
            <a:avLst/>
            <a:gdLst/>
            <a:ahLst/>
            <a:cxnLst/>
            <a:rect r="r" b="b" t="t" l="l"/>
            <a:pathLst>
              <a:path h="1398777" w="1567796">
                <a:moveTo>
                  <a:pt x="0" y="0"/>
                </a:moveTo>
                <a:lnTo>
                  <a:pt x="1567795" y="0"/>
                </a:lnTo>
                <a:lnTo>
                  <a:pt x="1567795" y="1398777"/>
                </a:lnTo>
                <a:lnTo>
                  <a:pt x="0" y="13987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7261"/>
            <a:ext cx="16459200" cy="29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Servidor, Docker,</a:t>
            </a:r>
          </a:p>
          <a:p>
            <a:pPr algn="ctr">
              <a:lnSpc>
                <a:spcPts val="10145"/>
              </a:lnSpc>
            </a:pPr>
            <a:r>
              <a:rPr lang="en-US" sz="724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Kamal e Deploy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98135" y="4707572"/>
            <a:ext cx="6999886" cy="378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Capacitação Back-end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Aula 4 de 4</a:t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/>
            </a:r>
          </a:p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Fabrício Siqueira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847725"/>
            <a:ext cx="16459200" cy="16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94"/>
              </a:lnSpc>
            </a:pPr>
            <a:r>
              <a:rPr lang="en-US" sz="7638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90975" y="3800250"/>
            <a:ext cx="12106050" cy="259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1776" indent="-535888" lvl="1">
              <a:lnSpc>
                <a:spcPts val="3821"/>
              </a:lnSpc>
              <a:buFont typeface="Arial"/>
              <a:buChar char="•"/>
            </a:pPr>
            <a:r>
              <a:rPr lang="en-US" b="true" sz="2730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Transformar a sua máquina num servidor: SSH, chave, e entrar nela.</a:t>
            </a:r>
          </a:p>
          <a:p>
            <a:pPr algn="l" marL="1071776" indent="-535888" lvl="1">
              <a:lnSpc>
                <a:spcPts val="3821"/>
              </a:lnSpc>
              <a:buFont typeface="Arial"/>
              <a:buChar char="•"/>
            </a:pPr>
            <a:r>
              <a:rPr lang="en-US" b="true" sz="2730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Empacotar a API numa imagem Docker, e publicá-la num registry.</a:t>
            </a:r>
          </a:p>
          <a:p>
            <a:pPr algn="l" marL="1071776" indent="-535888" lvl="1">
              <a:lnSpc>
                <a:spcPts val="3821"/>
              </a:lnSpc>
              <a:buFont typeface="Arial"/>
              <a:buChar char="•"/>
            </a:pPr>
            <a:r>
              <a:rPr lang="en-US" b="true" sz="2730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Entender o Kamal: zero-downtime, rollback e segredo.</a:t>
            </a:r>
          </a:p>
          <a:p>
            <a:pPr algn="l" marL="1071776" indent="-535888" lvl="1">
              <a:lnSpc>
                <a:spcPts val="3821"/>
              </a:lnSpc>
              <a:buFont typeface="Arial"/>
              <a:buChar char="•"/>
            </a:pPr>
            <a:r>
              <a:rPr lang="en-US" b="true" sz="2730">
                <a:solidFill>
                  <a:srgbClr val="012B67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Servir com HTTPS, e ver a diferença entre criptografia e confiança.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 ONDE PARAMOS, E O ÚLTIMO DIA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Vocês têm uma API com cinco fluxos de autenticação, testada.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Ela roda com bin/rails server. Hoje ela vira um sistema publicado.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Hoje é a aula mais diferente das quatro: vocês quase não escrevem Ruby.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Vocês operam: chave SSH, imagem Docker, registry, proxy, HTTPS.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vocabulário novo em três horas. É normal se sentir mais perdido hoje.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cada ferramenta vem com o problema que ela resolve, na ordem.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PROBLEMA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server funciona enquanto o seu terminal está aberto.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Produção precisa de mais que isso: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subir sozinho e continuar de pé sem ninguém olhando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mesmas versões de tudo, sempre, em qualquer máquina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atualizar SEM SAIR DO AR, e voltar atrás quando der errado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guardar segredo sem vazar no histórico do shell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Nada disso depende de ONDE a máquina está. É o assunto de hoje.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QUATRO OPÇÕES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Hospedagem compartilhada: você não controla nada.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PaaS (Heroku, Render, Fly): controla o app, opera nada.</a:t>
            </a:r>
          </a:p>
          <a:p>
            <a:pPr algn="l" marL="2272757" indent="-757586" lvl="2">
              <a:lnSpc>
                <a:spcPts val="6236"/>
              </a:lnSpc>
              <a:buFont typeface="Arial"/>
              <a:buChar char="◦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paga mais e obedece as regras deles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VPS: controla tudo, e opera tudo.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Kubernetes: controla tudo, em escala, e opera muito mais.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VM, E NÃO KUBERNETES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seem-backend atende ~500 usuários num evento de uma semana.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Kubernetes adicionaria custo e operação sem resolver problema nenhum.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Menos peças para monitorar.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 reproduzível com Docker e Kamal.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Evoluir só quando uma métrica real pedir.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QUE ISSO CUSTA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máquina só é ponto único de falha.</a:t>
            </a:r>
          </a:p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Volume Docker não é backup.</a:t>
            </a:r>
          </a:p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Postgres não é gerenciado: quem cuida é você.</a:t>
            </a:r>
          </a:p>
          <a:p>
            <a:pPr algn="l" marL="1136378" indent="-568189" lvl="1">
              <a:lnSpc>
                <a:spcPts val="7484"/>
              </a:lnSpc>
              <a:buFont typeface="Arial"/>
              <a:buChar char="•"/>
            </a:pPr>
            <a:r>
              <a:rPr lang="en-US" sz="4736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Admitir o custo faz parte da decisão.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HOJE: A SUA MÁQUINA É O SERVIDOR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Kamal não sabe onde a máquina está.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conecta por SSH e roda docker do outro lado. Só isso.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Endereço 127.0.0.1? Ele conecta na sua máquina.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Endereço público? Na de lá. MESMA conexão, MESMO arquivo.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Windows: o servidor é o seu WSL2. Linux e macOS: o próprio sistema.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não vai instalar máquina virtual nenhuma.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MUDA NUM SERVIDOR ALUGADO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SERVER_IP: de 127.0.0.1 para o IP público.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KAMAL_SSH_USER: do seu login para o usuário que o provedor criou.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trabalho novo: provisionar a máquina, e o firewall.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Certificado: de autoassinado para uma CA pública.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linhas no .env. O resto do arquivo é idêntico.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MÁQUINA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KAMAL PRECISA DE DUAS COISAS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SSH que aceite a sua chave.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Docker rodando.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Docker você já tem desde a Aula 1.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Falta o SSH: você usa o CLIENTE (o comando ssh);</a:t>
            </a:r>
          </a:p>
          <a:p>
            <a:pPr algn="l" marL="2272757" indent="-757586" lvl="2">
              <a:lnSpc>
                <a:spcPts val="5821"/>
              </a:lnSpc>
              <a:buFont typeface="Arial"/>
              <a:buChar char="◦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falta é o SERVIDOR, que escuta na porta 22 e atende.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CHAVES, UM PAR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Criptografia assimétrica: duas chaves que se completam.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PÚBLICA você espalha. A PRIVADA nunca sai da sua máquina.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uma fecha, só a outra abre.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coisas saem daí: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sigilo: fecho com a sua pública, só você abre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assinatura: fecho com a minha privada, todos conferem que fui eu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COMO O SSH FUNCIONA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põe a sua chave PÚBLICA no servidor (authorized_keys).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Ao conectar, o servidor manda um desafio.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responde assinando com a PRIVADA.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servidor confere com a pública que já tinha. Entrou.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senha nunca trafega. Nem existe.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por isso que perder a chave privada é perder o acesso.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INSTALAR O SERVIDOR DE SSH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008187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2766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Ubuntu, Debian e WSL2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sudo apt update &amp;&amp; sudo apt install -y openssh-server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sudo service ssh start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Fedora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sudo dnf install -y openssh-server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sudo systemctl enable --now sshd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macOS: não instala nada.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# Ajustes do Sistema -&gt; Geral -&gt; Compartilhamento -&gt; Sessão remota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893">
                <a:solidFill>
                  <a:srgbClr val="E6EAF2"/>
                </a:solidFill>
                <a:latin typeface="Consolas"/>
              </a:rPr>
              <a:t>ss -tlnp | grep :22        # está escutando?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PAR DE CHAVES, E AUTORIZAR A SI MESMO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520664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78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ssh-keygen -t ed25519 -f ~/.ssh/capacita \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  -C "capacita-servidor" -N ""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chmod 600 ~/.ssh/capacita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mkdir -p ~/.ssh &amp;&amp; chmod 700 ~/.ssh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cat ~/.ssh/capacita.pub &gt;&gt; ~/.ssh/authorized_keys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chmod 600 ~/.ssh/authorized_keys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ssh -i ~/.ssh/capacita -o IdentitiesOnly=yes \</a:t>
            </a:r>
          </a:p>
          <a:p>
            <a:pPr>
              <a:lnSpc>
                <a:spcPct val="125000"/>
              </a:lnSpc>
            </a:pPr>
            <a:r>
              <a:rPr sz="2551">
                <a:solidFill>
                  <a:srgbClr val="E6EAF2"/>
                </a:solidFill>
                <a:latin typeface="Consolas"/>
              </a:rPr>
              <a:t>  "$USER"@127.0.0.1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7"/>
              </a:lnSpc>
            </a:pPr>
            <a:r>
              <a:rPr lang="en-US" sz="397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VOCÊ ACABOU DE ENTRAR NA SUA PRÓPRIA MÁQUINA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é truque: é uma conexão de rede de verdade.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Autenticada por chave, exatamente como a que o Kamal vai abrir.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chmod 600 = só o dono lê e escreve.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SSH RECUSA usar chave com permissão frouxa.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é a primeira coisa a conferir no Permission denied (publickey)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Chave privada que outros leem não é chave privada.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VARIÁVEL DE AMBIENTE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par nome=valor que o sistema operacional entrega ao processo.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export JWT_SECRET=abc123 e o programa lê com ENV['JWT_SECRET'].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que não deixar no código? Porque o código vai para o Git.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Mesmo código, ambientes diferentes, valores diferentes.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padrão dos 12 fatores, e é como o Kamal injeta segredo.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1: A SUA MÁQUINA VIRA O SERVIDOR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Instale o openssh-server e suba com service ssh start.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Gere o par de chaves da capacitação, e chmod 600 nela.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Ponha a sua pública no seu próprio authorized_keys.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Confere, e é o que o Kamal precisa: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ssh -i ~/.ssh/capacita -o IdentitiesOnly=yes "$USER"@127.0.0.1 \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  'echo SSH_OK &amp;&amp; docker -v'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1, com a tabela de erros.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IMAGEM  ×  CONTAINER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Imagem é a receita: sistema, Ruby, gems e o seu código, congelados.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Container é o bolo: uma instância rodando.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imagem, muitos containers.</a:t>
            </a:r>
          </a:p>
          <a:p>
            <a:pPr algn="l" marL="1136378" indent="-568189" lvl="1">
              <a:lnSpc>
                <a:spcPts val="6236"/>
              </a:lnSpc>
              <a:buFont typeface="Arial"/>
              <a:buChar char="•"/>
            </a:pPr>
            <a:r>
              <a:rPr lang="en-US" sz="394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Imagem é imutável. Container é descartável.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DOCKERFILE DO RAILS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714183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64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FROM ruby:3.4.9-slim AS base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FROM base AS build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RUN apt-get install -y build-essential libpq-dev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Gemfile Gemfile.lock ./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RUN bundle install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. .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FROM base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RUN groupadd --system --gid 1000 rails &amp;&amp; \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    useradd rails --uid 1000 --gid 1000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USER 1000:1000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--from=build "${BUNDLE_PATH}" "${BUNDLE_PATH}"</a:t>
            </a:r>
          </a:p>
          <a:p>
            <a:pPr>
              <a:lnSpc>
                <a:spcPct val="125000"/>
              </a:lnSpc>
            </a:pPr>
            <a:r>
              <a:rPr sz="2450">
                <a:solidFill>
                  <a:srgbClr val="E6EAF2"/>
                </a:solidFill>
                <a:latin typeface="Consolas"/>
              </a:rPr>
              <a:t>COPY --from=build /rails /rails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DUAS DECISÕES DO DOCKERFILE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Multi-stage: o estágio build tem compilador; a imagem final não.</a:t>
            </a:r>
          </a:p>
          <a:p>
            <a:pPr algn="l" marL="2272757" indent="-757586" lvl="2">
              <a:lnSpc>
                <a:spcPts val="5405"/>
              </a:lnSpc>
              <a:buFont typeface="Arial"/>
              <a:buChar char="◦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menos peso, e menos ferramenta à mão de quem invadir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Usuário não-root: se escaparem da aplicação, caem sem privilégio.</a:t>
            </a:r>
          </a:p>
          <a:p>
            <a:pPr algn="l" marL="2272757" indent="-757586" lvl="2">
              <a:lnSpc>
                <a:spcPts val="5405"/>
              </a:lnSpc>
              <a:buFont typeface="Arial"/>
              <a:buChar char="◦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uma linha que muda o tamanho do estrago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.dockerignore: sem ele, o histórico do Git vai junto na imagem.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REGISTRY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'GitHub das imagens'. Usamos o ghcr.io.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fluxo: o seu notebook builda, empurra pro ghcr.io,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servidor puxa de lá e roda.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imagem não viaja pela sua rede local: sobe pro GitHub e desce.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que aconteceria com uma VPS do outro lado do mundo.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é o que faz o mesmo deploy.yml servir nos dois casos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TOKEN E A ARQUITETURA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Fora do Actions não existe GITHUB_TOKEN.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um PAT (classic) com write:packages e read:packages.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escopo de pacote e nada mais: quando vazar, o estrago tem tamanho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imagem builda no seu notebook e roda na VM: mesma arquitetura.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Intel ou AMD: SERVER_ARCH=amd64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Mac M1/M2/M3/M4: SERVER_ARCH=arm64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2: ARQUIVOS DE DEPLOY E O TOKEN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rsync -aR do gabarito aula-04, e bundle install.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o -R, o deploy.yml vai pra raiz e o Kamal não acha nada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Crie o PAT (classic): write:packages e read:packages.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aparece UMA VEZ. Guarde agora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ls config/deploy.yml .kamal/secrets .env.example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2.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KAMAL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O KAMAL FAZ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Feito pela mesma turma do Rails. Deploy com Docker, via SSH.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agente na máquina, sem painel.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conecta na máquina que serve e roda docker.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Zero-downtime: sobe o novo AO LADO do antigo.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Espera o health check passar, aí troca o tráfego.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Falhou o health check? Não troca. O antigo continua servindo.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DEPLOY.YML: SERVIDOR E IMAGEM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982335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250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service: automic-auth-api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image: &lt;%= ENV.fetch("GHCR_USER") %&gt;/automic-auth-api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ssh: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user: &lt;%= ENV.fetch("KAMAL_SSH_USER", "ubuntu") %&gt;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servers: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web: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  hosts: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     - &lt;%= ENV.fetch("SERVER_IP") %&gt;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O arquivo é ERB. Por isso ele é IGUAL para toda a turma,</a:t>
            </a:r>
          </a:p>
          <a:p>
            <a:pPr>
              <a:lnSpc>
                <a:spcPct val="125000"/>
              </a:lnSpc>
            </a:pPr>
            <a:r>
              <a:rPr sz="2155">
                <a:solidFill>
                  <a:srgbClr val="E6EAF2"/>
                </a:solidFill>
                <a:latin typeface="Consolas"/>
              </a:rPr>
              <a:t># e o MESMO na sua máquina e num servidor alugado.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DEPLOY.YML: ENV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3959352" y="2377440"/>
            <a:ext cx="10369296" cy="553720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16552" y="2743200"/>
            <a:ext cx="9454896" cy="4805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env: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clear: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SOLID_QUEUE_IN_PUMA: "true"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WEB_CONCURRENCY: "1"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DB_HOST: automic-auth-api-db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secret: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- RAILS_MASTER_KEY</a:t>
            </a:r>
          </a:p>
          <a:p>
            <a:pPr>
              <a:lnSpc>
                <a:spcPct val="125000"/>
              </a:lnSpc>
            </a:pPr>
            <a:r>
              <a:rPr sz="3200">
                <a:solidFill>
                  <a:srgbClr val="E6EAF2"/>
                </a:solidFill>
                <a:latin typeface="Consolas"/>
              </a:rPr>
              <a:t>    - JWT_SECRET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CLEAR  ×  SECRET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clear vai como texto no comando docker run. É configuração.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secret vai por arquivo de ambiente, com permissão restrita.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JWT_SECRET no clear seria o mesmo que publicá-lo: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apareceria em docker inspect e no histórico do shell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DB_HOST é o NOME do container do banco.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containers na mesma rede Docker se enxergam por nome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BANCO COMO ACCESSORY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6577647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8461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accessories: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db: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image: postgres:16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host: &lt;%= ENV.fetch("SERVER_IP") %&gt;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env: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clear: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  POSTGRES_USER: automic_auth_api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  POSTGRES_DB: automic_auth_api_production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secret: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  - POSTGRES_PASSWORD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directories:</a:t>
            </a:r>
          </a:p>
          <a:p>
            <a:pPr>
              <a:lnSpc>
                <a:spcPct val="125000"/>
              </a:lnSpc>
            </a:pPr>
            <a:r>
              <a:rPr sz="2604">
                <a:solidFill>
                  <a:srgbClr val="E6EAF2"/>
                </a:solidFill>
                <a:latin typeface="Consolas"/>
              </a:rPr>
              <a:t>      - data:/var/lib/postgresql/data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ACCESSORY E VOLUME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Accessory é container que o Kamal gerencia, mas não faz deploy junto.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directories cria o volume.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volume que faz os dados sobreviverem a deploy e a rebuild.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Sem ele, cada deploy apagaria o banco.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kamal deploy NÃO sobe accessories.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de mudar env: kamal accessory reboot db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TRÊS CAMADAS DE SEGREDO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596525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8650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o seu shell (source .env)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      ↓  variáveis de ambiente na sua sessão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.kamal/secrets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      ↓  só referencia — nenhum valor, por isso vai pro Git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config/deploy.yml (env.secret)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      ↓  o Kamal injeta no container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ENV["JWT_SECRET"] no Rails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No pipeline, a primeira camada vira Secrets do Actions.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As outras três não mudam nada.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CREDENTIALS  ×  ENV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bin/rails credentials:edit abre um YAML criptografado.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credentials.yml.enc é seguro no Git; master.key nunca vai.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Credentials: segredo estável e do app (chave de API de terceiro).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ENV: o que muda por ambiente ou máquina (senha do banco, SMTP).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Gere o JWT_SECRET com: bin/rails secret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seu .env junta tudo. E ele é o arquivo que não pode vazar.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3: O .ENV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cp .env.example .env, preencha tudo, e source .env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SERVER_IP e KAMAL_SSH_USER já vêm prontos: é a sua máquina e o seu login.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SERVER_ARCH: o uname -m da prática anterior (x86_64 = amd64, aarch64 = arm64).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RAILS_MASTER_KEY é o CONTEÚDO de config/master.key.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git status NÃO pode mostrar o .env.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bundle exec kamal config roda sem erro.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3.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TLS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HTTPS É HTTP DENTRO DE UM TÚNEL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HTTP da Aula 1 é texto puro: quem estiver no caminho lê tudo.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TLS embrulha esse texto num túnel criptografado.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Mesmo protocolo, mesmos verbos, mesmos cabeçalhos, só que fechado.</a:t>
            </a:r>
          </a:p>
          <a:p>
            <a:pPr algn="l" marL="1136378" indent="-568189" lvl="1">
              <a:lnSpc>
                <a:spcPts val="5821"/>
              </a:lnSpc>
              <a:buFont typeface="Arial"/>
              <a:buChar char="•"/>
            </a:pPr>
            <a:r>
              <a:rPr lang="en-US" sz="368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'S' de HTTPS é isso, e mais nada.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HANDSHAKE, EM TRÊS PASSOS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1. O servidor apresenta o certificado dele.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2. O cliente confere se confia em QUEM ASSINOU aquele certificado.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3. Os dois combinam uma chave temporária e conversam com ela.</a:t>
            </a:r>
          </a:p>
          <a:p>
            <a:pPr algn="l" marL="1136378" indent="-568189" lvl="1">
              <a:lnSpc>
                <a:spcPts val="5405"/>
              </a:lnSpc>
              <a:buFont typeface="Arial"/>
              <a:buChar char="•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 chaves do par (assimétricas) só servem para o passo 3.</a:t>
            </a:r>
          </a:p>
          <a:p>
            <a:pPr algn="l" marL="2272757" indent="-757586" lvl="2">
              <a:lnSpc>
                <a:spcPts val="5405"/>
              </a:lnSpc>
              <a:buFont typeface="Arial"/>
              <a:buChar char="◦"/>
            </a:pPr>
            <a:r>
              <a:rPr lang="en-US" sz="3420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depois disso é criptografia simétrica, que é muito mais rápida.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CERTIFICADO E AUTORIDADE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certificado diz: 'esta chave pública pertence a este domínio'.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vem assinado por uma Autoridade Certificadora (CA).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seu navegador já nasce com uma lista de CAs em que confia.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Confia na CA → confia em quem ela assinou. É uma cadeia.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Autoassinado é você jurando que é você.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Para uma CA pública assinar, você tem que PROVAR que o domínio é seu.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PROXY REVERSO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Proxy comum fica na frente do CLIENTE. Reverso fica na frente do SERVIDOR.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Recebe tudo na 443, termina o TLS, e repassa para a app em HTTP interno.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Assim o Rails não precisa saber nada de certificado.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É o kamal-proxy, rodando na máquina que serve.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Por isso config.assume_ssl: avisa o Rails que o 'http' que chegou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já veio de um https lá fora.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GERAR O CERTIFICADO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384181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1102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openssl req -x509 -newkey rsa:2048 -sha256 -days 365 -nodes \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-keyout tls/capacita-key.pem -out tls/capacita-cert.pem \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-subj "/CN=seunome.test" \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 -addext "subjectAltName=DNS:seunome.test"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O subjectAltName não é opcional.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Cliente moderno nenhum olha só o CN: sem SAN,</a:t>
            </a:r>
          </a:p>
          <a:p>
            <a:pPr>
              <a:lnSpc>
                <a:spcPct val="125000"/>
              </a:lnSpc>
            </a:pPr>
            <a:r>
              <a:rPr sz="2049">
                <a:solidFill>
                  <a:srgbClr val="E6EAF2"/>
                </a:solidFill>
                <a:latin typeface="Consolas"/>
              </a:rPr>
              <a:t># o certificado é inválido mesmo estando certo.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.TEST E O /ETC/HOSTS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659418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927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echo "SEU_IP  seunome.test" | sudo tee -a /etc/hosts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getent hosts seunome.test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# .test é um domínio RESERVADO para testes (RFC 6761).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# Ninguém consegue registrar, então nunca colide com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# um site de verdade.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# Quem resolve o nome é o /etc/hosts, que o sistema</a:t>
            </a:r>
          </a:p>
          <a:p>
            <a:pPr>
              <a:lnSpc>
                <a:spcPct val="125000"/>
              </a:lnSpc>
            </a:pPr>
            <a:r>
              <a:rPr sz="2314">
                <a:solidFill>
                  <a:srgbClr val="E6EAF2"/>
                </a:solidFill>
                <a:latin typeface="Consolas"/>
              </a:rPr>
              <a:t># consulta ANTES de perguntar ao DNS.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AUTOASSINADO, NA PRÁTICA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659418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9278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curl https://seunome.test/api/v1/status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# curl: (60) ... self-signed certificate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# O TÚNEL SUBIU. O que falhou foi a CONFIANÇA.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curl -k https://seunome.test/api/v1/status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# funciona. -k = criptografa, mas não confere quem é.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curl --cacert tls/capacita-cert.pem https://seunome.test/...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# funciona, CONFERINDO. Você não desligou nada:</a:t>
            </a:r>
          </a:p>
          <a:p>
            <a:pPr>
              <a:lnSpc>
                <a:spcPct val="125000"/>
              </a:lnSpc>
            </a:pPr>
            <a:r>
              <a:rPr sz="2083">
                <a:solidFill>
                  <a:srgbClr val="E6EAF2"/>
                </a:solidFill>
                <a:latin typeface="Consolas"/>
              </a:rPr>
              <a:t># você disse ao curl em quem confiar.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4: CERTIFICADO E /ETC/HOSTS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openssl req -x509 ... -addext "subjectAltName=DNS:seunome.test"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subjectAltName NÃO é opcional. Sem ele, nenhum cliente aceita.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echo "SEU_IP  seunome.test" | sudo tee -a /etc/hosts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getent hosts seunome.test devolve o IP da VM.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Windows: repita no hosts do WINDOWS, é ele que o navegador lê.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4.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75"/>
              </a:lnSpc>
              <a:spcBef>
                <a:spcPct val="0"/>
              </a:spcBef>
            </a:pPr>
            <a:r>
              <a:rPr lang="en-US" sz="16267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CI: O PORTÃO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Roda em todo push e todo pull request.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scan_ruby: Brakeman e bundler-audit. lint: RuboCop.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test: bin/rails test contra um Postgres descartável.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Falhou qualquer um, não entra na main.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depende de onde o servidor mora.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Servidor sem CI publica bug automaticamente. CI sem servidor te avisa.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PRIMEIRO DEPLOY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845232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51137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source .env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bundle exec kamal config     # valida sem tocar em nada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bundle exec kamal setup      # só na primeira vez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curl --cacert tls/capacita-cert.pem \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 https://seunome.test/api/v1/status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{"status":"ok","service":"automic-auth-api",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"environment":"production"}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72">
                <a:solidFill>
                  <a:srgbClr val="E6EAF2"/>
                </a:solidFill>
                <a:latin typeface="Consolas"/>
              </a:rPr>
              <a:t># daqui pra frente: source .env &amp;&amp; kamal deploy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OPERAR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5344500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46129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source .env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logs -f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exec --interactive --reuse "bin/rails console"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exec "bin/rails db:migrate"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details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accessory reboot db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rollback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app stop             # para o app</a:t>
            </a:r>
          </a:p>
          <a:p>
            <a:pPr>
              <a:lnSpc>
                <a:spcPct val="125000"/>
              </a:lnSpc>
            </a:pPr>
            <a:r>
              <a:rPr sz="2232">
                <a:solidFill>
                  <a:srgbClr val="E6EAF2"/>
                </a:solidFill>
                <a:latin typeface="Consolas"/>
              </a:rPr>
              <a:t>kamal accessory stop db    # para o banco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Volume Docker NÃO é backup.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docker volume rm sem querer leva tudo junto.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a máquina que morre leva também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Backup é a cópia que vive FORA dali: pg_dump, compactado, em outro lugar.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que quase ninguém faz: restaure num banco de teste.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Backup que nunca foi restaurado não é backup, é esperança.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5: O PRIMEIRO DEPLOY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source .env  ·  bundle exec kamal config  (valida sem tocar em nada)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bundle exec kamal setup   — só na primeira vez.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Confere: curl --cacert tls/capacita-cert.pem https://seunome.test/...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{"status":"ok", ..., "environment":"production"}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5, com a maior tabela de erros da capacitação.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6: O CERTIFICADO, COM OS OLHOS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https://seunome.test/...   -&gt;  FALHA: erro 60, self-signed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Isso é o TLS funcionando. O que falhou foi a CONFIANÇA.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-k ...   -&gt;  funciona, sem conferir nada.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curl --cacert tls/capacita-cert.pem ...   -&gt;  funciona, CONFERINDO.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Abra no navegador e leia o aviso vermelho.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Escreva a diferença entre o segundo e o terceiro comando.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6.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225756"/>
            <a:ext cx="16459200" cy="3454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87"/>
              </a:lnSpc>
              <a:spcBef>
                <a:spcPct val="0"/>
              </a:spcBef>
            </a:pPr>
            <a:r>
              <a:rPr lang="en-US" sz="8133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NUM SERVIDOR DE VERDADE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ENTRA QUANDO A MÁQUINA NÃO É SUA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No .env, DUAS linhas: SERVER_IP e KAMAL_SSH_USER.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trabalho novo, que hoje não existiu: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provisionar um Ubuntu cru: apt upgrade, Docker, usuário, swap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firewall: o ufw dentro, e o do provedor fora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endurecer o sshd, sem senha e sem root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DNS de verdade, e certificado de uma CA pública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 pelo Actions, por OIDC, sem senha guardada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SEQUÊNCIA DO DEPLOY AUTOMÁTICO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" name="Rounded Rectangle 5"/>
          <p:cNvSpPr/>
          <p:nvPr/>
        </p:nvSpPr>
        <p:spPr>
          <a:xfrm>
            <a:off x="2926080" y="2377440"/>
            <a:ext cx="12435840" cy="4724443"/>
          </a:xfrm>
          <a:prstGeom prst="roundRect">
            <a:avLst>
              <a:gd name="adj" fmla="val 4000"/>
            </a:avLst>
          </a:prstGeom>
          <a:solidFill>
            <a:srgbClr val="0E2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743200"/>
            <a:ext cx="11521440" cy="39929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1. autentica na nuvem (OIDC)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2. descobre o próprio IP público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3. cria regra no firewall liberando a 22 só para esse IP/32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4. faz o deploy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5. APAGA a regra — mesmo se o deploy falhar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O passo 5 tem `if: always()`.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Deixar a 22 aberta é o erro que transforma um deploy ruim</a:t>
            </a:r>
          </a:p>
          <a:p>
            <a:pPr>
              <a:lnSpc>
                <a:spcPct val="125000"/>
              </a:lnSpc>
            </a:pPr>
            <a:r>
              <a:rPr sz="2118">
                <a:solidFill>
                  <a:srgbClr val="E6EAF2"/>
                </a:solidFill>
                <a:latin typeface="Consolas"/>
              </a:rPr>
              <a:t># num incidente de segurança.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OIDC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jeito comum: criar um client secret e guardar no GitHub.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é longo, vale por meses, e quem lê o repositório entra na sua nuvem.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OIDC inverte: o GitHub emite um token curto a cada execução.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Ele diz: 'sou o workflow do repositório X, na branch main'.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 nuvem verifica e devolve um acesso temporário.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Não existe segredo de longa duração em lugar nenhum.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48B1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PRÁTICA 7: O SISTEMA INTEIRO, E O 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Refaça o fluxo da Aula 3 contra a SUA API em produção.</a:t>
            </a:r>
          </a:p>
          <a:p>
            <a:pPr algn="l" marL="2272757" indent="-757586" lvl="2">
              <a:lnSpc>
                <a:spcPts val="4573"/>
              </a:lnSpc>
              <a:buFont typeface="Arial"/>
              <a:buChar char="◦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desta vez o e-mail chega na sua caixa de entrada de verdade.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Mude a rota de status, commite, dê push (o CI roda) e kamal deploy.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kamal app logs -f enquanto acontece: veja o novo subir AO LADO.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docker exec ... pg_dump ... | gzip: e confira que o arquivo não está vazio.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kamal app stop e kamal accessory stop db liberam a máquina depois.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Apostila: Prática 7.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RECAPITULANDO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Publicar é empacotar, versionar, e poder voltar atrás.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Escolha a ferramenta do tamanho do problema.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Multi-stage, e usuário não-root.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clear é configuração, secret é segredo.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Volume salva o dado do deploy. E ainda assim não é backup.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TLS criptografa. CA é confiança. São coisas separadas.</a:t>
            </a:r>
          </a:p>
          <a:p>
            <a:pPr algn="l" marL="1136378" indent="-568189" lvl="1">
              <a:lnSpc>
                <a:spcPts val="4573"/>
              </a:lnSpc>
              <a:buFont typeface="Arial"/>
              <a:buChar char="•"/>
            </a:pPr>
            <a:r>
              <a:rPr lang="en-US" sz="2894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CI é o portão: avisa antes, com ou sem deploy automático.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O SEEM-BACKEND TEM A MAIS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Datadog: logs centralizados e Error Tracking.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rack-attack: bloqueia scanner e rajada de erro por IP.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Active Storage: foto de perfil em volume persistente.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Audit log: histórico de toda mutação de admin.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Export .xlsx e OpenAPI/Swagger.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Nenhum é difícil depois do que você viu. Agora dá para ler o código.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QUE VOCÊS FIZERAM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Uma API REST com cinco fluxos de autenticação. Testada.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Senha hasheada, token assinado, sessão revogável de verdade.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Um servidor Linux provisionado por vocês: firewall, Docker, SSH.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Deploy com zero-downtime, HTTPS, banco com volume e backup.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Do zero. Em quatro encontros.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Está tudo no GitHub de vocês. É portfólio.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1271761"/>
            <a:ext cx="16459200" cy="91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9"/>
              </a:lnSpc>
            </a:pPr>
            <a:r>
              <a:rPr lang="en-US" sz="4242">
                <a:solidFill>
                  <a:srgbClr val="FF751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AGORA?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12207"/>
            <a:ext cx="15503549" cy="412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O seem-backend está aberto. Agora vocês conseguem ler.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Peguem uma coisa da lista anterior e implementem no projeto de vocês.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Alugem uma VPS de verdade quando quiserem: o apêndice tem o caminho.</a:t>
            </a:r>
          </a:p>
          <a:p>
            <a:pPr algn="l" marL="2272757" indent="-757586" lvl="2">
              <a:lnSpc>
                <a:spcPts val="4989"/>
              </a:lnSpc>
              <a:buFont typeface="Arial"/>
              <a:buChar char="◦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e o deploy.yml é o mesmo. Muda uma variável.</a:t>
            </a:r>
          </a:p>
          <a:p>
            <a:pPr algn="l" marL="1136378" indent="-568189" lvl="1">
              <a:lnSpc>
                <a:spcPts val="4989"/>
              </a:lnSpc>
              <a:buFont typeface="Arial"/>
              <a:buChar char="•"/>
            </a:pPr>
            <a:r>
              <a:rPr lang="en-US" sz="3157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Dúvida daqui a três semanas ainda é dúvida. Podem me chamar.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3705520"/>
            <a:ext cx="16459200" cy="1168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1"/>
              </a:lnSpc>
            </a:pPr>
            <a:r>
              <a:rPr lang="en-US" sz="5443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MUITO OBRIGADO!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17618" y="5057775"/>
            <a:ext cx="4252764" cy="737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6"/>
              </a:lnSpc>
              <a:spcBef>
                <a:spcPct val="0"/>
              </a:spcBef>
            </a:pPr>
            <a:r>
              <a:rPr lang="en-US" sz="3468">
                <a:solidFill>
                  <a:srgbClr val="00000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BONS ESTUDOS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96853" y="282073"/>
            <a:ext cx="1788433" cy="1493254"/>
          </a:xfrm>
          <a:custGeom>
            <a:avLst/>
            <a:gdLst/>
            <a:ahLst/>
            <a:cxnLst/>
            <a:rect r="r" b="b" t="t" l="l"/>
            <a:pathLst>
              <a:path h="1493254" w="1788433">
                <a:moveTo>
                  <a:pt x="0" y="0"/>
                </a:moveTo>
                <a:lnTo>
                  <a:pt x="1788433" y="0"/>
                </a:lnTo>
                <a:lnTo>
                  <a:pt x="1788433" y="1493254"/>
                </a:lnTo>
                <a:lnTo>
                  <a:pt x="0" y="1493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DAGwwFUwDmM</dc:identifier>
  <dcterms:modified xsi:type="dcterms:W3CDTF">2011-08-01T06:04:30Z</dcterms:modified>
  <cp:revision>1</cp:revision>
  <dc:title> Capacitação Front-end</dc:title>
</cp:coreProperties>
</file>