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</p:sldIdLst>
  <p:sldSz cx="18288000" cy="10287000"/>
  <p:notesSz cx="6858000" cy="9144000"/>
  <p:embeddedFontLst>
    <p:embeddedFont>
      <p:font typeface="Montaser Arabic" charset="1" panose="00000500000000000000"/>
      <p:regular r:id="rId144"/>
    </p:embeddedFont>
    <p:embeddedFont>
      <p:font typeface="Open Sans Extra Bold" charset="1" panose="020B0906030804020204"/>
      <p:regular r:id="rId145"/>
    </p:embeddedFont>
    <p:embeddedFont>
      <p:font typeface="Montaser Arabic Semi-Bold" charset="1" panose="00000700000000000000"/>
      <p:regular r:id="rId1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144" Type="http://schemas.openxmlformats.org/officeDocument/2006/relationships/font" Target="fonts/font144.fntdata"/><Relationship Id="rId145" Type="http://schemas.openxmlformats.org/officeDocument/2006/relationships/font" Target="fonts/font145.fntdata"/><Relationship Id="rId146" Type="http://schemas.openxmlformats.org/officeDocument/2006/relationships/font" Target="fonts/font14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Diga isto explicitamente, ou parte da turma vai sentir que está sendo</a:t>
            </a:r>
          </a:p>
          <a:p>
            <a:r>
              <a:t>passada para trás ("não vou escrever o código?").</a:t>
            </a:r>
          </a:p>
          <a:p>
            <a:r>
              <a:t>O argumento honesto: digitar 1400 linhas copiando ensina menos que as</a:t>
            </a:r>
          </a:p>
          <a:p>
            <a:r>
              <a:t>oito práticas de hoje. E ler código alheio é literalmente 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minutos: 5 de comando, 15 de leitura. A leitura é a parte que conta.</a:t>
            </a:r>
          </a:p>
          <a:p>
            <a:r>
              <a:t>Se o Gemfile não for junto no rsync, dá uninitialized constant</a:t>
            </a:r>
          </a:p>
          <a:p>
            <a:r>
              <a:t>Rack::Cors. É o erro número um deste bloco.</a:t>
            </a:r>
          </a:p>
          <a:p>
            <a:r>
              <a:t>Faça a leitura guiada projetando os cinco arquivos, um por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assunto volta mais três vezes hoje. Vale marcar.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minutos. Primeira rota que cria alguma coisa.</a:t>
            </a:r>
          </a:p>
          <a:p>
            <a:r>
              <a:t>Erros campeões: 400 por campo faltando (o params.expect é rígido de</a:t>
            </a:r>
          </a:p>
          <a:p>
            <a:r>
              <a:t>propósito) e 415 por esquecer o Content-Type.</a:t>
            </a:r>
          </a:p>
          <a:p>
            <a:r>
              <a:t>Quem apanhar de aspas no shell, mande usar o Insomnia — é para isso</a:t>
            </a:r>
          </a:p>
          <a:p>
            <a:r>
              <a:t>que ele está na lista de ferramentas.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minutos. É aqui que fica claro por que existe conta não ativada.</a:t>
            </a:r>
          </a:p>
          <a:p>
            <a:r>
              <a:t>O avançado amarra com a Prática 7 da Aula 2: o código é apagado ao ser</a:t>
            </a:r>
          </a:p>
          <a:p>
            <a:r>
              <a:t>usado. Se alguém não lembrar, mande voltar lá.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Escolhemos token porque o cliente principal é um app nativo — que não</a:t>
            </a:r>
          </a:p>
          <a:p>
            <a:r>
              <a:t>tem cookie e roda em milhares de celulares.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minutos, o núcleo da aula.</a:t>
            </a:r>
          </a:p>
          <a:p>
            <a:r>
              <a:t>Se $TOKEN sair vazio, mande rodar o curl -i sozinho e olhar se o</a:t>
            </a:r>
          </a:p>
          <a:p>
            <a:r>
              <a:t>cabeçalho Authorization está lá.</a:t>
            </a:r>
          </a:p>
          <a:p>
            <a:r>
              <a:t>No jwt.io ele vai dizer "invalid signature" — é esperado, ele não tem o</a:t>
            </a:r>
          </a:p>
          <a:p>
            <a:r>
              <a:t>segredo. Eles só querem LER o payload, e ver que é público.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minutos. É A prática que mostra a diferença entre apagar no</a:t>
            </a:r>
          </a:p>
          <a:p>
            <a:r>
              <a:t>cliente e revogar no servidor.</a:t>
            </a:r>
          </a:p>
          <a:p>
            <a:r>
              <a:t>O avançado leva à pergunta boa: por que a entrada da denylist tem TTL,</a:t>
            </a:r>
          </a:p>
          <a:p>
            <a:r>
              <a:t>e por que o TTL é exatamente o que restava do token? Porque depois do</a:t>
            </a:r>
          </a:p>
          <a:p>
            <a:r>
              <a:t>exp o token já não vale por si — guardar mais seria lixo eterno.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minutos, o fluxo mais completo do sistema.</a:t>
            </a:r>
          </a:p>
          <a:p>
            <a:r>
              <a:t>O segundo confere é o mais importante da prática, e o mais fácil de</a:t>
            </a:r>
          </a:p>
          <a:p>
            <a:r>
              <a:t>pular. Faça ao vivo, lado a lado: e-mail que existe e e-mail que não</a:t>
            </a:r>
          </a:p>
          <a:p>
            <a:r>
              <a:t>existe, mesma resposta, byte por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minutos.</a:t>
            </a:r>
          </a:p>
          <a:p>
            <a:r>
              <a:t>Quebrar de propósito e ver o teste específico acusar é o que transforma</a:t>
            </a:r>
          </a:p>
          <a:p>
            <a:r>
              <a:t>"teste é chato" em "teste é rede de segurança". Não pule.</a:t>
            </a:r>
          </a:p>
          <a:p>
            <a:r>
              <a:t>git checkout . desfaz tudo o que não foi commitado, se alguém se perder.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minutos, se sobrou tempo. É o exercício que faz entender o que uma</a:t>
            </a:r>
          </a:p>
          <a:p>
            <a:r>
              <a:t>assinatura garante.</a:t>
            </a:r>
          </a:p>
          <a:p>
            <a:r>
              <a:t>Cobre o desfazer em voz alta: git checkout app/services/auth/decode_token.rb.</a:t>
            </a:r>
          </a:p>
          <a:p>
            <a:r>
              <a:t>Ninguém pode sair da sala com essa linha em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66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292903" y="379566"/>
            <a:ext cx="1567796" cy="1398777"/>
          </a:xfrm>
          <a:custGeom>
            <a:avLst/>
            <a:gdLst/>
            <a:ahLst/>
            <a:cxnLst/>
            <a:rect r="r" b="b" t="t" l="l"/>
            <a:pathLst>
              <a:path h="1398777" w="1567796">
                <a:moveTo>
                  <a:pt x="0" y="0"/>
                </a:moveTo>
                <a:lnTo>
                  <a:pt x="1567795" y="0"/>
                </a:lnTo>
                <a:lnTo>
                  <a:pt x="1567795" y="1398777"/>
                </a:lnTo>
                <a:lnTo>
                  <a:pt x="0" y="1398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77261"/>
            <a:ext cx="16459200" cy="29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5"/>
              </a:lnSpc>
            </a:pPr>
            <a:r>
              <a:rPr lang="en-US" sz="724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As Rotas de</a:t>
            </a:r>
          </a:p>
          <a:p>
            <a:pPr algn="ctr">
              <a:lnSpc>
                <a:spcPts val="10145"/>
              </a:lnSpc>
            </a:pPr>
            <a:r>
              <a:rPr lang="en-US" sz="724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Autenticação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98135" y="4707572"/>
            <a:ext cx="6999886" cy="378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Capacitação Back-end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Aula 3 de 4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/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Fabrício Siqueira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847725"/>
            <a:ext cx="16459200" cy="163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4"/>
              </a:lnSpc>
            </a:pPr>
            <a:r>
              <a:rPr lang="en-US" sz="763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OBJETIVOS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90975" y="3800250"/>
            <a:ext cx="12106050" cy="259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Cadastro, ativação, login, logout e recuperação de senha.</a:t>
            </a:r>
          </a:p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Entender JWT de verdade: e o que ele não é.</a:t>
            </a:r>
          </a:p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Descobrir por que logout é o problema difícil.</a:t>
            </a:r>
          </a:p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Aprender a não vazar informação nas respostas.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 ONDE PARAMOS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Aula 1: uma API que responde JSON.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Aula 2: um User que sabe guardar senha do jeito certo.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Hoje: as duas viram um sistema de autenticação de verdade.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Cadastro, ativação por e-mail, login, logout e recuperação de senha.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mesmo código que roda no seem-backend, num evento com ~500 pessoas.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COMBINADO DE HOJE É DIFERENTE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São 1400 linhas em 37 arquivos. Ninguém digita isso em três horas.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Então hoje vocês TRAZEM o código pronto e passam a aula operando.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Operar, quebrar de propósito, e entender por quê.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Isso não é atalho: é o que a gente faz na maior parte do tempo real.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ler código que já existe, descobrir por que é assim, e mexer com segurança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tem que sair daqui é POR QUE cada peça existe.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CAMINHO DE UMA REQUISIÇÃO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700303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29687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requisição → rota → controller → service → model → banco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                       ↓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                  serializer → JSON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# A regra que organiza tudo: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# Controller recebe requisição e devolve resposta.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# Regra de negócio NÃO mora nele.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ARQUITETURA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QUE SERVICE OBJECT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Users::Register faz seis coisas.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Dentro do controller vira um método de 60 linhas.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só dá para testar subindo uma requisição HTTP inteira.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Fora dele: testável direto e reaproveitável.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padrão é sempre igual: um call de classe, um Result.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FORMATO DE UM SERVICE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2773701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20421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result = Users::Register.call(name: "...", email: "...")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result.success?   # true / false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result.user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result.errors     # [{ field: "password", message: "..." }]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QUE SERIALIZER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render json: user manda o objeto INTEIRO.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Incluindo password_digest e os digests dos códigos.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Vazamento em uma linha.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serializer é a lista de convidados: só entra quem está escrito lá.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FORMATO DE ERRO SÓ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961880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23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{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 "error": {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   "code": "validation_failed",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   "message": "Falha na validação",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   "details": [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     { "field": "password", "message": "deve incluir um dígito" }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   ]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 }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LENDO O FORMATO DE ERRO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code é estável: o cliente decide o que fazer com base nele.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message é para o usuário ler. Pode mudar, pode ser traduzida.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details diz qual campo falhou, para o app pintar o input de vermelho.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API que erra de três jeitos força o cliente a tratar os três.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BEFORE_ACTION: O FILTRO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426710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695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class MeController &lt; BaseController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  before_action :authenticate_user!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  def show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    render_user(current_user)   # só roda se passou pelo filtro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  end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# O filtro roda ANTES da action.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# Se ele renderizar alguma coisa (o 401), a action nem é chamada.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# only: e except: limitam a quais actions ele se aplica: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#   before_action :authenticate_user!, only: :destroy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PILHA DE MIDDLEWARE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requisição não cai direto no controller.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Ela atravessa uma pilha de camadas: o middleware.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Cada camada pode ler, alterar, ou responder e cortar o caminho.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onde moram CORS, cookies e rate limit.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middleware lista a pilha inteira do seu app.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modo --api remove várias. Trouxemos os cookies de volta na mão.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CAMINHO COMPLETO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522401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790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requisição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   ↓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[ Rack::Cors ]          ← libera (ou não) a origem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[ ActionDispatch::Cookies ]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[ ... ]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   ↓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rota → before_action → controller → service → model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   ↓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serializer → JSON → resposta (voltando pela mesma pilha)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STRONG PARAMETERS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010171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2786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def registration_params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  expect_root_params(:name, :email, :password, :confirm_password,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                     :course, :matricula, :check_terms_use)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# params.expect EXIGE essas chaves e RECUSA o resto.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# Sem isso alguém manda "role": "admin" no cadastro e vira admin.</a:t>
            </a:r>
          </a:p>
          <a:p>
            <a:pPr>
              <a:lnSpc>
                <a:spcPct val="125000"/>
              </a:lnSpc>
            </a:pPr>
            <a:r>
              <a:rPr sz="1923">
                <a:solidFill>
                  <a:srgbClr val="E6EAF2"/>
                </a:solidFill>
                <a:latin typeface="Consolas"/>
              </a:rPr>
              <a:t># O nome disso é mass assignment.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1: TRAGA O CÓDIGO E LEIA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rsync do gabarito aula-03, bundle install, db:migrate.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bin/rails test  -&gt;  71 verdes. NÃO siga sem isso.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Agora leia cinco arquivos, nesta ordem, abrindo no editor: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register.rb · issue_token.rb · authentication.rb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token_denylist.rb · complete_password_reset.rb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Ache o Struct de retorno e os argumentos nomeados. Estão em todos.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1.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CADASTRO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POST /API/V1/REGISTRATIONS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6577647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58461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840">
                <a:solidFill>
                  <a:srgbClr val="E6EAF2"/>
                </a:solidFill>
                <a:latin typeface="Consolas"/>
              </a:rPr>
              <a:t>{</a:t>
            </a:r>
          </a:p>
          <a:p>
            <a:pPr>
              <a:lnSpc>
                <a:spcPct val="125000"/>
              </a:lnSpc>
            </a:pPr>
            <a:r>
              <a:rPr sz="2840">
                <a:solidFill>
                  <a:srgbClr val="E6EAF2"/>
                </a:solidFill>
                <a:latin typeface="Consolas"/>
              </a:rPr>
              <a:t>  "name": "Diego Reis",</a:t>
            </a:r>
          </a:p>
          <a:p>
            <a:pPr>
              <a:lnSpc>
                <a:spcPct val="125000"/>
              </a:lnSpc>
            </a:pPr>
            <a:r>
              <a:rPr sz="2840">
                <a:solidFill>
                  <a:srgbClr val="E6EAF2"/>
                </a:solidFill>
                <a:latin typeface="Consolas"/>
              </a:rPr>
              <a:t>  "email": "diego@aluno.ufop.edu.br",</a:t>
            </a:r>
          </a:p>
          <a:p>
            <a:pPr>
              <a:lnSpc>
                <a:spcPct val="125000"/>
              </a:lnSpc>
            </a:pPr>
            <a:r>
              <a:rPr sz="2840">
                <a:solidFill>
                  <a:srgbClr val="E6EAF2"/>
                </a:solidFill>
                <a:latin typeface="Consolas"/>
              </a:rPr>
              <a:t>  "password": "Automic@2026",</a:t>
            </a:r>
          </a:p>
          <a:p>
            <a:pPr>
              <a:lnSpc>
                <a:spcPct val="125000"/>
              </a:lnSpc>
            </a:pPr>
            <a:r>
              <a:rPr sz="2840">
                <a:solidFill>
                  <a:srgbClr val="E6EAF2"/>
                </a:solidFill>
                <a:latin typeface="Consolas"/>
              </a:rPr>
              <a:t>  "confirm_password": "Automic@2026",</a:t>
            </a:r>
          </a:p>
          <a:p>
            <a:pPr>
              <a:lnSpc>
                <a:spcPct val="125000"/>
              </a:lnSpc>
            </a:pPr>
            <a:r>
              <a:rPr sz="2840">
                <a:solidFill>
                  <a:srgbClr val="E6EAF2"/>
                </a:solidFill>
                <a:latin typeface="Consolas"/>
              </a:rPr>
              <a:t>  "course": "Engenharia de Minas",</a:t>
            </a:r>
          </a:p>
          <a:p>
            <a:pPr>
              <a:lnSpc>
                <a:spcPct val="125000"/>
              </a:lnSpc>
            </a:pPr>
            <a:r>
              <a:rPr sz="2840">
                <a:solidFill>
                  <a:srgbClr val="E6EAF2"/>
                </a:solidFill>
                <a:latin typeface="Consolas"/>
              </a:rPr>
              <a:t>  "matricula": "2013333",</a:t>
            </a:r>
          </a:p>
          <a:p>
            <a:pPr>
              <a:lnSpc>
                <a:spcPct val="125000"/>
              </a:lnSpc>
            </a:pPr>
            <a:r>
              <a:rPr sz="2840">
                <a:solidFill>
                  <a:srgbClr val="E6EAF2"/>
                </a:solidFill>
                <a:latin typeface="Consolas"/>
              </a:rPr>
              <a:t>  "check_terms_use": true</a:t>
            </a:r>
          </a:p>
          <a:p>
            <a:pPr>
              <a:lnSpc>
                <a:spcPct val="125000"/>
              </a:lnSpc>
            </a:pPr>
            <a:r>
              <a:rPr sz="2840">
                <a:solidFill>
                  <a:srgbClr val="E6EAF2"/>
                </a:solidFill>
                <a:latin typeface="Consolas"/>
              </a:rPr>
              <a:t>}</a:t>
            </a:r>
          </a:p>
          <a:p>
            <a:pPr>
              <a:lnSpc>
                <a:spcPct val="125000"/>
              </a:lnSpc>
            </a:pPr>
            <a:r>
              <a:rPr sz="2840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840">
                <a:solidFill>
                  <a:srgbClr val="E6EAF2"/>
                </a:solidFill>
                <a:latin typeface="Consolas"/>
              </a:rPr>
              <a:t>→ 201 Created + e-mail de ativação a caminho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DECISÃO QUE NÃO É ÓBVIA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E-mail já cadastrado NÃO devolve 'este e-mail já existe'.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 devolvesse, o cadastro viraria um verificador.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Testo mil e-mails e descubro quem tem conta no sistema.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Chama-se enumeração de usuários.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custo é real: quem esqueceu que já tem conta fica sem mensagem clara.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saída é o texto convidar a usar 'esqueci minha senha'.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2: CADASTRO NO TERMINAL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curl -i -X POST $API/registrations com o JSON completo.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201, e o e-mail abriu no navegador. ANOTE o código.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Monte a coleção inteira no Insomnia: são 8 requisições.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Avançado: cadastre o MESMO e-mail de novo. Que status, e que mensagem?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mensagem entrega ao atacante que aquele e-mail já existe?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2.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E-MAIL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MAILER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6034752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530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358">
                <a:solidFill>
                  <a:srgbClr val="E6EAF2"/>
                </a:solidFill>
                <a:latin typeface="Consolas"/>
              </a:rPr>
              <a:t>class UserMailer &lt; ApplicationMailer</a:t>
            </a:r>
          </a:p>
          <a:p>
            <a:pPr>
              <a:lnSpc>
                <a:spcPct val="125000"/>
              </a:lnSpc>
            </a:pPr>
            <a:r>
              <a:rPr sz="2358">
                <a:solidFill>
                  <a:srgbClr val="E6EAF2"/>
                </a:solidFill>
                <a:latin typeface="Consolas"/>
              </a:rPr>
              <a:t>  def email_verification(user, code)</a:t>
            </a:r>
          </a:p>
          <a:p>
            <a:pPr>
              <a:lnSpc>
                <a:spcPct val="125000"/>
              </a:lnSpc>
            </a:pPr>
            <a:r>
              <a:rPr sz="2358">
                <a:solidFill>
                  <a:srgbClr val="E6EAF2"/>
                </a:solidFill>
                <a:latin typeface="Consolas"/>
              </a:rPr>
              <a:t>    @user = user</a:t>
            </a:r>
          </a:p>
          <a:p>
            <a:pPr>
              <a:lnSpc>
                <a:spcPct val="125000"/>
              </a:lnSpc>
            </a:pPr>
            <a:r>
              <a:rPr sz="2358">
                <a:solidFill>
                  <a:srgbClr val="E6EAF2"/>
                </a:solidFill>
                <a:latin typeface="Consolas"/>
              </a:rPr>
              <a:t>    @code = code</a:t>
            </a:r>
          </a:p>
          <a:p>
            <a:pPr>
              <a:lnSpc>
                <a:spcPct val="125000"/>
              </a:lnSpc>
            </a:pPr>
            <a:r>
              <a:rPr sz="2358">
                <a:solidFill>
                  <a:srgbClr val="E6EAF2"/>
                </a:solidFill>
                <a:latin typeface="Consolas"/>
              </a:rPr>
              <a:t>    mail(to: @user.email, subject: "Ative sua conta")</a:t>
            </a:r>
          </a:p>
          <a:p>
            <a:pPr>
              <a:lnSpc>
                <a:spcPct val="125000"/>
              </a:lnSpc>
            </a:pPr>
            <a:r>
              <a:rPr sz="2358">
                <a:solidFill>
                  <a:srgbClr val="E6EAF2"/>
                </a:solidFill>
                <a:latin typeface="Consolas"/>
              </a:rPr>
              <a:t>  end</a:t>
            </a:r>
          </a:p>
          <a:p>
            <a:pPr>
              <a:lnSpc>
                <a:spcPct val="125000"/>
              </a:lnSpc>
            </a:pPr>
            <a:r>
              <a:rPr sz="2358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235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358">
                <a:solidFill>
                  <a:srgbClr val="E6EAF2"/>
                </a:solidFill>
                <a:latin typeface="Consolas"/>
              </a:rPr>
              <a:t># O template fica em:</a:t>
            </a:r>
          </a:p>
          <a:p>
            <a:pPr>
              <a:lnSpc>
                <a:spcPct val="125000"/>
              </a:lnSpc>
            </a:pPr>
            <a:r>
              <a:rPr sz="2358">
                <a:solidFill>
                  <a:srgbClr val="E6EAF2"/>
                </a:solidFill>
                <a:latin typeface="Consolas"/>
              </a:rPr>
              <a:t># app/views/user_mailer/email_verification.text.erb</a:t>
            </a:r>
          </a:p>
          <a:p>
            <a:pPr>
              <a:lnSpc>
                <a:spcPct val="125000"/>
              </a:lnSpc>
            </a:pPr>
            <a:r>
              <a:rPr sz="2358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2358">
                <a:solidFill>
                  <a:srgbClr val="E6EAF2"/>
                </a:solidFill>
                <a:latin typeface="Consolas"/>
              </a:rPr>
              <a:t># Um mailer é um controller cujas views são e-mails.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EM DESENVOLVIMENTO NÃO HÁ SMTP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letter_opener abre o e-mail no navegador.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config.action_mailer.delivery_method = :letter_opener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Em produção, SMTP_ADDRESS e companhia vêm dos secrets do Kamal.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mesmo código, dois comportamentos, decididos por ENV.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DELIVER_NOW, E NÃO DELIVER_LATER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jeito de livro seria jogar numa fila.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Aqui não. O motivo é o código de 6 dígitos.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Numa fila, ele ficaria gravado EM TEXTO na tabela de jobs.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preço é a requisição esperar o SMTP.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isso o service tem rescue: falha de envio não pode virar 500.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3: O E-MAIL E A CONFIRMAÇÃO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Tente logar ANTES de confirmar. Confere: 403 email_unverified.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senha está certa. O que falta é a conta estar ativa.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POST /email_verifications/confirm com o código de 6 dígitos.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Avançado: mande o MESMO código de novo. Funciona duas vezes? Por quê?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3.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SESSÃO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PROBLEMA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Lembra da Aula 1? HTTP não tem memória.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Cada requisição começa do zero.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Então como o servidor sabe que você já entrou?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6225" y="278137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5"/>
                </a:lnTo>
                <a:lnTo>
                  <a:pt x="0" y="1493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" y="567694"/>
            <a:ext cx="1645920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sz="393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DUAS FAMÍLIAS DE RESPOSTA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29915"/>
            <a:ext cx="7768319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servidor guarda a sessão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Manda um id no cookie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Toda requisição consulta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Logout é apagar: imediato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Escalar exige sessão compartilhada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2666" y="3729915"/>
            <a:ext cx="8234023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servidor não guarda nada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Manda um crachá assinado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Só validar a assinatura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Logout é o problema difícil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Qualquer servidor valida sozinho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7771" y="2214168"/>
            <a:ext cx="3293898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TOKEN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7718" y="2214168"/>
            <a:ext cx="375286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SESSÃO NO SERVIDOR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ANATOMIA DE UM JWT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2332386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16008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eyJhbGciOiJIUzI1NiJ9 . eyJzdWIiOjIsInZlciI6MH0 . 4pQ8L_5fT...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  cabeçalho                  payload            assinatura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Três partes em Base64, separadas por ponto.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BASE64 NÃO É SEGREDO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Base64 é uma forma de escrever bytes usando só letras e números.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Serve para caber num cabeçalho HTTP, que é texto.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é criptografia. Não tem chave. Qualquer um desfaz.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echo eyJzdWIiOjJ9 | base64 -d  →  {"sub":2}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Aquele monte de caractere no JWT é isso: texto disfarçado.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PAYLOAD É PÚBLICO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Cole um token em jwt.io e você lê tudo.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assinatura garante que ninguém ALTEROU o conteúdo.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que ninguém LEU.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Assinado não é criptografado.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Nunca ponha no payload nada que não possa ser lido.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nem CPF, nem e-mail, nem permissão sensível.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NOSSO PAYLOAD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752619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0210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{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 sub: user.id,                  # de quem é o token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 ver: user.token_version,       # versão das sessões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 jti: SecureRandom.uuid,        # id único deste token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 exp: 24.hours.from_now.to_i,   # expiração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 iat: Time.current.to_i         # emitido em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DETALHE QUE QUEBRA TUDO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394835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663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JWT.decode(token, secret, true, { algorithm: "HS256" })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                        ^^^^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Esse `true` é a validação da assinatura.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Com `false`, o decode aceita QUALQUER token — e qualquer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pessoa forja o próprio acesso trocando o `sub`.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Já foi CVE em várias bibliotecas.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LOGIN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6225" y="278137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5"/>
                </a:lnTo>
                <a:lnTo>
                  <a:pt x="0" y="1493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" y="567694"/>
            <a:ext cx="1645920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5"/>
              </a:lnSpc>
            </a:pPr>
            <a:r>
              <a:rPr lang="en-US" sz="3939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DOIS CLIENTES, DOIS TRANSPORTES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29915"/>
            <a:ext cx="7768319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Authorization: Bearer &lt;token&gt;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App nativo não tem cookie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app guarda no keychain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2666" y="3729915"/>
            <a:ext cx="8234023" cy="538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Cookie assinado e httpOnly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JavaScript não lê o cookie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>
                <a:solidFill>
                  <a:srgbClr val="282829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XSS não rouba o token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97771" y="2214168"/>
            <a:ext cx="3293898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WEB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7718" y="2214168"/>
            <a:ext cx="3752860" cy="83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5"/>
              </a:lnSpc>
            </a:pPr>
            <a:r>
              <a:rPr lang="en-US" sz="4925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MOBILE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É UM COOKIE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par nome=valor que o servidor manda no cabeçalho Set-Cookie.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navegador guarda e reenvia SOZINHO, em toda requisição àquele site.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a memória que o HTTP não tem, colada por fora.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Quem manda é o navegador: o app nativo não participa disso.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assinado (signed): o Rails carimba o valor;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alterou na mão, o Rails recusa.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COOKIE DO CLIENTE WEB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124835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2393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cookies.signed[AUTH_COOKIE] = {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 value: token,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 httponly: true,                   # JavaScript não enxerga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 secure: Rails.env.production?,    # só trafega em HTTPS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 same_site: :lax                   # mitiga CSRF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XSS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Cross-Site Scripting.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atacante consegue rodar JavaScript DENTRO da sua página.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Como? Você exibiu texto de usuário sem escapar.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alguém salva &lt;script&gt;...&lt;/script&gt; como nome e você imprime cru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 JS rodando na página, ele lê tudo que o JS lê.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por isso que httponly existe: o token no cookie fica fora do alcance.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CSRF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Cross-Site Request Forgery.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Lembra que o navegador reenvia o cookie SOZINHO?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site malicioso monta um formulário que aponta para a sua API.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vítima clica; o navegador anexa o cookie dela; a API obedece.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same_site: :lax manda o navegador não enviar o cookie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quando a requisição vem de outro site.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API com token no cabeçalho não sofre disso: ninguém anexa por você.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401  ×  403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401 Unauthorized: não sabemos quem é você.</a:t>
            </a:r>
          </a:p>
          <a:p>
            <a:pPr algn="l" marL="2272757" indent="-757586" lvl="2">
              <a:lnSpc>
                <a:spcPts val="6236"/>
              </a:lnSpc>
              <a:buFont typeface="Arial"/>
              <a:buChar char="◦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senha errada, token ausente, token inválido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403 Forbidden: sabemos quem é você, e você não pode.</a:t>
            </a:r>
          </a:p>
          <a:p>
            <a:pPr algn="l" marL="2272757" indent="-757586" lvl="2">
              <a:lnSpc>
                <a:spcPts val="6236"/>
              </a:lnSpc>
              <a:buFont typeface="Arial"/>
              <a:buChar char="◦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conta sem e-mail confirmado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Trocar os dois é o erro mais comum em API.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MESMA MENSAGEM PARA OS DOIS ERROS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E-mail inexistente e senha errada: mesmo código, mesma mensagem.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invalid_credentials para os dois. Terceira vez que isso aparece.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lembra do DUMMY_PASSWORD_DIGEST da Aula 2?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fecha o buraco pelo lado do TEMPO.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adianta a mensagem ser igual se a resposta volta em 1ms num caso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em 100ms no outro.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4: LOGIN, E O TOKEN NA MÃO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Faça login e capture o token do cabeçalho Authorization.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curl $API/me -H "Authorization: Bearer $TOKEN"  -&gt;  200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servidor não guardou sessão nenhuma. Ele LEU o token.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Cole o token em jwt.io. Ache o sub, o jti, o ver e o exp.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Avançado: troque UM caractere do token e chame /me. Que status?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4.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LOGOUT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PROBLEMA DIFÍCIL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JWT é válido até expirar.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servidor não guarda sessão.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Então 'sair' não existe.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token continua funcionando por até 24 horas.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TRÊS RESPOSTAS POSSÍVEIS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a) Apagar no cliente.</a:t>
            </a:r>
          </a:p>
          <a:p>
            <a:pPr algn="l" marL="2272757" indent="-757586" lvl="2">
              <a:lnSpc>
                <a:spcPts val="5821"/>
              </a:lnSpc>
              <a:buFont typeface="Arial"/>
              <a:buChar char="◦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resolve o caso normal, não resolve nada se copiaram o token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b) Denylist por jti: revoga aquele token.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c) token_version: derruba todos os tokens do usuário.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Usamos b e c.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DENYLIST POR JTI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043064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311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def revoke(payload)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 jti = payload[:jti]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 ttl = payload[:exp].to_i - Time.current.to_i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 return false if jti.blank? || ttl &lt;= 0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 Rails.cache.write(key(jti), true, expires_in: ttl.seconds)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def revoked?(jti)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 Rails.cache.exist?(key(jti))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end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SACADA ESTÁ NO TTL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Cada entrada vive o tempo que faltava para o token expirar.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Depois disso o token morre sozinho e a entrada não serve mais.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lista se limpa sem varredura e sem lixo acumulado.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Isso revoga UM token.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Logout no celular não derruba o notebook. E é o certo.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TOKEN_VERSION: DERRUBA TUDO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114591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383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def token_version_matches?(submitted_version)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  token_version == submitted_version.to_i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def invalidate_sessions!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  update!(token_version: token_version + 1)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# O token carrega o `ver` de quando foi emitido.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# Incrementar a coluna invalida TODOS os tokens do usuário,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# em todos os dispositivos.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VERIFICAÇÃO COMPLETA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660888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2929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712">
                <a:solidFill>
                  <a:srgbClr val="E6EAF2"/>
                </a:solidFill>
                <a:latin typeface="Consolas"/>
              </a:rPr>
              <a:t>def user_from_token(token)</a:t>
            </a:r>
          </a:p>
          <a:p>
            <a:pPr>
              <a:lnSpc>
                <a:spcPct val="125000"/>
              </a:lnSpc>
            </a:pPr>
            <a:r>
              <a:rPr sz="1712">
                <a:solidFill>
                  <a:srgbClr val="E6EAF2"/>
                </a:solidFill>
                <a:latin typeface="Consolas"/>
              </a:rPr>
              <a:t>  payload = Auth::DecodeToken.call(token)              # 1. assinatura?</a:t>
            </a:r>
          </a:p>
          <a:p>
            <a:pPr>
              <a:lnSpc>
                <a:spcPct val="125000"/>
              </a:lnSpc>
            </a:pPr>
            <a:r>
              <a:rPr sz="1712">
                <a:solidFill>
                  <a:srgbClr val="E6EAF2"/>
                </a:solidFill>
                <a:latin typeface="Consolas"/>
              </a:rPr>
              <a:t>  return if Auth::TokenDenylist.revoked?(payload[:jti]) # 2. revogado?</a:t>
            </a:r>
          </a:p>
          <a:p>
            <a:pPr>
              <a:lnSpc>
                <a:spcPct val="125000"/>
              </a:lnSpc>
            </a:pPr>
            <a:r>
              <a:rPr sz="171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712">
                <a:solidFill>
                  <a:srgbClr val="E6EAF2"/>
                </a:solidFill>
                <a:latin typeface="Consolas"/>
              </a:rPr>
              <a:t>  user = User.find_by(id: payload[:sub])</a:t>
            </a:r>
          </a:p>
          <a:p>
            <a:pPr>
              <a:lnSpc>
                <a:spcPct val="125000"/>
              </a:lnSpc>
            </a:pPr>
            <a:r>
              <a:rPr sz="1712">
                <a:solidFill>
                  <a:srgbClr val="E6EAF2"/>
                </a:solidFill>
                <a:latin typeface="Consolas"/>
              </a:rPr>
              <a:t>  user if user&amp;.token_version_matches?(payload[:ver])   # 3. versão bate?</a:t>
            </a:r>
          </a:p>
          <a:p>
            <a:pPr>
              <a:lnSpc>
                <a:spcPct val="125000"/>
              </a:lnSpc>
            </a:pPr>
            <a:r>
              <a:rPr sz="1712">
                <a:solidFill>
                  <a:srgbClr val="E6EAF2"/>
                </a:solidFill>
                <a:latin typeface="Consolas"/>
              </a:rPr>
              <a:t>rescue Auth::DecodeToken::InvalidToken</a:t>
            </a:r>
          </a:p>
          <a:p>
            <a:pPr>
              <a:lnSpc>
                <a:spcPct val="125000"/>
              </a:lnSpc>
            </a:pPr>
            <a:r>
              <a:rPr sz="1712">
                <a:solidFill>
                  <a:srgbClr val="E6EAF2"/>
                </a:solidFill>
                <a:latin typeface="Consolas"/>
              </a:rPr>
              <a:t>  nil</a:t>
            </a:r>
          </a:p>
          <a:p>
            <a:pPr>
              <a:lnSpc>
                <a:spcPct val="125000"/>
              </a:lnSpc>
            </a:pPr>
            <a:r>
              <a:rPr sz="1712">
                <a:solidFill>
                  <a:srgbClr val="E6EAF2"/>
                </a:solidFill>
                <a:latin typeface="Consolas"/>
              </a:rPr>
              <a:t>end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5: LOGOUT QUE REVOGA DE VERDADE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DELETE /sessions com o token.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Depois: curl -i $API/me com o MESMO token.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401. O token ainda é válido e ainda não expirou.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 a denylist, isso responderia 200 até o exp chegar.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Avançado: Rails.cache.read("denylist:&lt;o-seu-jti&gt;") no console.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5.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SENHA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RECUPERAÇÃO EM DOIS PASSOS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POST /password_resets/request  { email }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POST /password_resets/confirm  { email, code, password, confirm_password }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Público: quem esqueceu a senha não consegue se autenticar para pedir.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REQUEST SEMPRE RESPONDE 200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E-mail inexistente, não verificado, em cooldown, SMTP fora do ar.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Mesma resposta, mesmo status, sempre.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 respondesse 404, esta rota pública viraria verificador de cadastro.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Quarta vez que o assunto aparece hoje: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em autenticação, resposta diferente vaza informação.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DUAS GUARDAS DENTRO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Só conta verificada recebe código.</a:t>
            </a:r>
          </a:p>
          <a:p>
            <a:pPr algn="l" marL="2272757" indent="-757586" lvl="2">
              <a:lnSpc>
                <a:spcPts val="5821"/>
              </a:lnSpc>
              <a:buFont typeface="Arial"/>
              <a:buChar char="◦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senão dá para sequestrar cadastro feito com o e-mail de outra pessoa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Cooldown de 1 minuto.</a:t>
            </a:r>
          </a:p>
          <a:p>
            <a:pPr algn="l" marL="2272757" indent="-757586" lvl="2">
              <a:lnSpc>
                <a:spcPts val="5821"/>
              </a:lnSpc>
              <a:buFont typeface="Arial"/>
              <a:buChar char="◦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senão usam o seu servidor de e-mail para incomodar terceiros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CONFIRM: A TRANSAÇÃO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596525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8650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User.transaction do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user.save!                       # troca a senha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user.invalidate_sessions!        # derruba todas as sessões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user.clear_password_reset_code!  # consome o código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end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As três juntas ou nenhuma.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Sem a transação, uma falha no meio deixa a senha trocada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com o código ainda valendo.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DUAS SUTILEZAS DE ORDEM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política de senha é conferida ANTES de consumir o código.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senão quem digita a senha nova errada perde o código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invalidate_sessions! é o ponto do fluxo inteiro.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 alguém invadiu a conta, trocar a senha tem que expulsar o invasor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 essa linha, ele continua logado com o token antigo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6: RECUPERAÇÃO DE SENHA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Faça login, guarde o token. Peça a recuperação e confirme a nova senha.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Depois chame /me com o token ANTIGO.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401. Trocar a senha derrubou todas as sessões abertas.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token_version subindo. Quem roubou o seu token acabou de perdê-lo.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 também: peça recuperação para um e-mail que NÃO existe.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resposta é idêntica. Isso é resistência a enumeração.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6.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TESTES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TESTE QUE RESUME A AULA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973882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2423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test "logout revoga o token apresentado" do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token = login_as(users(:ana))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get "/api/v1/me", headers: auth_headers(token)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assert_response :ok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delete "/api/v1/sessions", headers: auth_headers(token)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get "/api/v1/me", headers: auth_headers(token)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assert_response :unauthorized   # sem a denylist, daria 200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end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PEGADINHA DE TESTE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Em teste, o Rails.cache padrão é o null_store.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não guarda nada.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teste acima passaria de graça, provando nada.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isso o test_helper troca por um MemoryStore.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Teste que passa sem exercitar a lógica é pior que teste nenhum.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FERRAMENTAS DE QUALIDADE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bin/rubocop: estilo. O black/ruff do Ruby.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bin/brakeman: análise estática de segurança.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bundler-audit: gems com CVE conhecido.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três rodam no CI, na Aula 4.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navegador bloqueia página em painel.exemplo.com chamar api.exemplo.com.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Esta config é a API dizendo quais origens aceita.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app nativo NÃO passa por CORS. É regra de navegador.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 prática, existe por causa do painel web.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7: TESTES E QUALIDADE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test · bin/rubocop · bin/brakeman --no-pager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Agora QUEBRE: comente a linha da denylist no authentication.rb.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Rode os testes e veja QUAL fica vermelho.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Era ele que estava te protegendo. Depois desfaça.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git commit e push.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7.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8: AVANÇADO: QUEBRE A ASSINATURA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Em decode_token.rb, troque o true por false (é o "verifique a assinatura?").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Forje um token assinado com OUTRO segredo, pelo rails runner.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Chame /me com ele. Confere: 200.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acabou de entrar como outra pessoa, sem saber a senha dela.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DESFAÇA, e rode os testes: um deles estava te protegendo disso.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8.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RECAPITULANDO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Controller recebe e responde; a regra mora no service.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Serializer é a lista de convidados. Sem ele o digest vaza.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payload do JWT é público. Assinado ≠ criptografado.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Logout de verdade precisa de denylist por jti.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token_version derruba tudo, e é o que a troca de senha usa.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Em autenticação, resposta diferente vaza informação.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705520"/>
            <a:ext cx="16459200" cy="116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1"/>
              </a:lnSpc>
            </a:pPr>
            <a:r>
              <a:rPr lang="en-US" sz="54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ATÉ A PRÓXIMA!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17618" y="5057775"/>
            <a:ext cx="4252764" cy="73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3"/>
              </a:lnSpc>
              <a:spcBef>
                <a:spcPct val="0"/>
              </a:spcBef>
            </a:pPr>
            <a:r>
              <a:rPr lang="en-US" sz="3251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VAMOS COLOCAR NO AR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DAGwwFUwDmM</dc:identifier>
  <dcterms:modified xsi:type="dcterms:W3CDTF">2011-08-01T06:04:30Z</dcterms:modified>
  <cp:revision>1</cp:revision>
  <dc:title> Capacitação Front-end</dc:title>
</cp:coreProperties>
</file>