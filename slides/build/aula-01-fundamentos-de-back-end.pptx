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9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</p:sldIdLst>
  <p:sldSz cx="18288000" cy="10287000"/>
  <p:notesSz cx="6858000" cy="9144000"/>
  <p:embeddedFontLst>
    <p:embeddedFont>
      <p:font typeface="Montaser Arabic" charset="1" panose="00000500000000000000"/>
      <p:regular r:id="rId144"/>
    </p:embeddedFont>
    <p:embeddedFont>
      <p:font typeface="Open Sans Extra Bold" charset="1" panose="020B0906030804020204"/>
      <p:regular r:id="rId145"/>
    </p:embeddedFont>
    <p:embeddedFont>
      <p:font typeface="Montaser Arabic Semi-Bold" charset="1" panose="00000700000000000000"/>
      <p:regular r:id="rId1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144" Type="http://schemas.openxmlformats.org/officeDocument/2006/relationships/font" Target="fonts/font144.fntdata"/><Relationship Id="rId145" Type="http://schemas.openxmlformats.org/officeDocument/2006/relationships/font" Target="fonts/font145.fntdata"/><Relationship Id="rId146" Type="http://schemas.openxmlformats.org/officeDocument/2006/relationships/font" Target="fonts/font14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Trocar os colchetes pelos seus dados. A foto do doador foi removida —</a:t>
            </a:r>
          </a:p>
          <a:p>
            <a:r>
              <a:t>adicione a sua no Canva, no espaço à esquerda.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quatro objetivos são as quatro aulas. Deixe claro que no fim do</a:t>
            </a:r>
          </a:p>
          <a:p>
            <a:r>
              <a:t>encontro 4 cada um vai ter uma URL https:// própria,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PULE ESTE SLIDE. São 90 segundos e mudam o resto do dia.</a:t>
            </a:r>
          </a:p>
          <a:p>
            <a:r>
              <a:t>A frase que precisa sair da sua boca, olhando para eles:</a:t>
            </a:r>
          </a:p>
          <a:p>
            <a:r>
              <a:t>"vocês vão travar hoje; todo mundo trava; quando travar levanta a mão,</a:t>
            </a:r>
          </a:p>
          <a:p>
            <a:r>
              <a:t>porque é para isso que eu estou aqui, e não para vocês fingirem que</a:t>
            </a:r>
          </a:p>
          <a:p>
            <a:r>
              <a:t>está tudo bem."</a:t>
            </a:r>
          </a:p>
          <a:p>
            <a:r>
              <a:t>Sem ela, metade da turma passa a aula escondendo que está perdida, e</a:t>
            </a:r>
          </a:p>
          <a:p>
            <a:r>
              <a:t>você só descobre na hora da prática, quando já custou caro.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Mesmo editor da capacitação de front. A diferença são as extensões.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alguém já usa Postman, tanto faz. O que não pode é testar API</a:t>
            </a:r>
          </a:p>
          <a:p>
            <a:r>
              <a:t>digitando URL no navegador — o navegador só sabe fazer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explicar Docker a fundo agora — isso é a Aula 4. Aqui é só</a:t>
            </a:r>
          </a:p>
          <a:p>
            <a:r>
              <a:t>"o banco roda num container e você não precisa saber mais que isso".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alguém ainda não fez, este é o momento. Todo mundo roda os quatro</a:t>
            </a:r>
          </a:p>
          <a:p>
            <a:r>
              <a:t>comandos e mostra a saída antes de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Retomar o slide 9 da capacitação do Fiuza — é literalmente a continuação</a:t>
            </a:r>
          </a:p>
          <a:p>
            <a:r>
              <a:t>dele. Front-end foi o "o que o usuário vê"; agora é o outro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último ponto é o mais importante. Qualquer coisa que roda no</a:t>
            </a:r>
          </a:p>
          <a:p>
            <a:r>
              <a:t>navegador o usuário consegue ler e alterar. Por isso a validação de</a:t>
            </a:r>
          </a:p>
          <a:p>
            <a:r>
              <a:t>senha do front é conveniência; a que vale é a do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Analogia física, no estilo dos slides do Fiuza ("HTML são os tijolos").</a:t>
            </a:r>
          </a:p>
          <a:p>
            <a:r>
              <a:t>Vale voltar nela quando falar de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"Sem memória" (stateless) é a semente do problema de autenticação da</a:t>
            </a:r>
          </a:p>
          <a:p>
            <a:r>
              <a:t>Aula 3: se o servidor esquece tudo entre uma requisição e outra, como</a:t>
            </a:r>
          </a:p>
          <a:p>
            <a:r>
              <a:t>ele sabe que você já fez login? Guarde essa 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401 = "quem é você?". 403 = "sei quem você é, e você não pode".</a:t>
            </a:r>
          </a:p>
          <a:p>
            <a:r>
              <a:t>Vamos usar os dois na Aula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Rodar ao vivo. É a API do SEEM, está no ar. Mostra que "back-end" não é</a:t>
            </a:r>
          </a:p>
          <a:p>
            <a:r>
              <a:t>abstração: é um endereço que responde.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seem-backend é --api: não tem view nenhuma. Quem desenha tela é o</a:t>
            </a:r>
          </a:p>
          <a:p>
            <a:r>
              <a:t>app React Native e o painel admin. É o que vamos construir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minutos. Primeira vez que eles falam com um servidor sem navegador</a:t>
            </a:r>
          </a:p>
          <a:p>
            <a:r>
              <a:t>no meio. Circule e cobre que LEIAM a saída, não só que rode.</a:t>
            </a:r>
          </a:p>
          <a:p>
            <a:r>
              <a:t>A pergunta de fechamento: "404 é erro de conexão?" Não: é uma resposta</a:t>
            </a:r>
          </a:p>
          <a:p>
            <a:r>
              <a:t>bem-sucedida dizendo que o recurso não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Insistir: quem sabe Python já sabe 80% de Ruby. A curva é de sintaxe e</a:t>
            </a:r>
          </a:p>
          <a:p>
            <a:r>
              <a:t>de convenção, não de conceito.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diferenças para apontar: o `end`, o `if` no final da linha</a:t>
            </a:r>
          </a:p>
          <a:p>
            <a:r>
              <a:t>(modificador), e a última linha ser o retorno sem escrever `return`.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 prática: se é conteúdo que o usuário lê, string. Se é nome de</a:t>
            </a:r>
          </a:p>
          <a:p>
            <a:r>
              <a:t>alguma coisa no código, símbolo.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map/select/reject/reduce existem nos dois. A diferença é que em Ruby</a:t>
            </a:r>
          </a:p>
          <a:p>
            <a:r>
              <a:t>isso é o caminho normal, não uma alternativa "elegante".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atalho aparece em TODO service do projeto — `Result.new(success?: true, user:)`.</a:t>
            </a:r>
          </a:p>
          <a:p>
            <a:r>
              <a:t>Sem explicar, eles leem como erro de digitação.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`class InvalidToken &lt; StandardError; end` aparece em Auth::DecodeToken na</a:t>
            </a:r>
          </a:p>
          <a:p>
            <a:r>
              <a:t>Aula 3. Sempre herde de StandardError, nunca de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seta aparece pela primeira vez na Aula 2 (scope e validate condicional).</a:t>
            </a:r>
          </a:p>
          <a:p>
            <a:r>
              <a:t>Sem este slide, ela lê como símbolo mágico. A ideia: o Rails guarda aquele</a:t>
            </a:r>
          </a:p>
          <a:p>
            <a:r>
              <a:t>pedaço de código para executar na hora da consulta ou da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escrever dois módulos desses na Aula 2. Guarde o nome: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Gemfile.lock é o requirements.txt travado, só que automático e</a:t>
            </a:r>
          </a:p>
          <a:p>
            <a:r>
              <a:t>obrigatoriamente versionado. Ele é a garantia de que a sua máquina e o</a:t>
            </a:r>
          </a:p>
          <a:p>
            <a:r>
              <a:t>servidor rodam exatamente as mesmas versões.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minutos. É a única vez na capacitação em que eles mexem em Ruby sem</a:t>
            </a:r>
          </a:p>
          <a:p>
            <a:r>
              <a:t>Rails no caminho. Não corte.</a:t>
            </a:r>
          </a:p>
          <a:p>
            <a:r>
              <a:t>As duas perguntas que fixam: por que usuario["nome"] deu nil, e por que</a:t>
            </a:r>
          </a:p>
          <a:p>
            <a:r>
              <a:t>saudacao("Ana") deu ArgumentError. Peça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 maior diferença cultural em relação a Flask/FastAPI, onde você</a:t>
            </a:r>
          </a:p>
          <a:p>
            <a:r>
              <a:t>monta cada peça. Aqui o framework já decidiu — e decidiu bem.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vem de Flask ou FastAPI vai sentir mais diferença: lá você monta</a:t>
            </a:r>
          </a:p>
          <a:p>
            <a:r>
              <a:t>cada peça, aqui elas já vêm encaixadas.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o --api o Rails traz o pacote completo de site com telas. Não</a:t>
            </a:r>
          </a:p>
          <a:p>
            <a:r>
              <a:t>precisamos de nada disso, e cada peça a menos é uma peça a menos para</a:t>
            </a:r>
          </a:p>
          <a:p>
            <a:r>
              <a:t>dar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console é a ferramenta mais subestimada do Rails. Dá para criar</a:t>
            </a:r>
          </a:p>
          <a:p>
            <a:r>
              <a:t>usuário, rodar query e testar método sem escrever um arquivo.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 minutos, e é onde mais gente trava. O erro campeão é porta 5432 já</a:t>
            </a:r>
          </a:p>
          <a:p>
            <a:r>
              <a:t>ocupada: DB_PORT=5433 docker compose up -d, e export DB_PORT=5433 NO</a:t>
            </a:r>
          </a:p>
          <a:p>
            <a:r>
              <a:t>MESMO shell do rails.</a:t>
            </a:r>
          </a:p>
          <a:p>
            <a:r>
              <a:t>O segundo é permission denied no docker: usermod -aG docker, e SAIR e</a:t>
            </a:r>
          </a:p>
          <a:p>
            <a:r>
              <a:t>ENTRAR de novo.</a:t>
            </a:r>
          </a:p>
          <a:p>
            <a:r>
              <a:t>Ponto de decisão: se metade não tiver o /up verde, pare e resolva 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minutos. O coração da aula.</a:t>
            </a:r>
          </a:p>
          <a:p>
            <a:r>
              <a:t>O erro clássico é uninitialized constant Api::V1::StatusController: o</a:t>
            </a:r>
          </a:p>
          <a:p>
            <a:r>
              <a:t>arquivo está no caminho errado. Volte ao slide do Zeitwerk e mostre a</a:t>
            </a:r>
          </a:p>
          <a:p>
            <a:r>
              <a:t>correspondência entre nome de classe e caminho de arquivo.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minutos, e é a entrega da aula. Ninguém sai daqui sem o teste verde</a:t>
            </a:r>
          </a:p>
          <a:p>
            <a:r>
              <a:t>E sem o projeto no GitHub deles.</a:t>
            </a:r>
          </a:p>
          <a:p>
            <a:r>
              <a:t>Ver o teste falhar é o que prova que ele testa alguma coisa. Insista</a:t>
            </a:r>
          </a:p>
          <a:p>
            <a:r>
              <a:t>nesse passo: é rápido, e muda a relação deles com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66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292903" y="379566"/>
            <a:ext cx="1567796" cy="1398777"/>
          </a:xfrm>
          <a:custGeom>
            <a:avLst/>
            <a:gdLst/>
            <a:ahLst/>
            <a:cxnLst/>
            <a:rect r="r" b="b" t="t" l="l"/>
            <a:pathLst>
              <a:path h="1398777" w="1567796">
                <a:moveTo>
                  <a:pt x="0" y="0"/>
                </a:moveTo>
                <a:lnTo>
                  <a:pt x="1567795" y="0"/>
                </a:lnTo>
                <a:lnTo>
                  <a:pt x="1567795" y="1398777"/>
                </a:lnTo>
                <a:lnTo>
                  <a:pt x="0" y="139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7261"/>
            <a:ext cx="16459200" cy="29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Fundamentos de</a:t>
            </a:r>
          </a:p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Back-end (Ruby on Rails)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98135" y="4707572"/>
            <a:ext cx="6999886" cy="378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Fabrício Siqueira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[idade]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[cidade - UF]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/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[curso]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[período]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847725"/>
            <a:ext cx="16459200" cy="16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4"/>
              </a:lnSpc>
            </a:pPr>
            <a:r>
              <a:rPr lang="en-US" sz="763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OBJETIVOS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90975" y="3800250"/>
            <a:ext cx="12106050" cy="259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Entender o que roda do outro lado da tela.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Escrever Ruby partindo do que você já sabe de Python.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Subir sua primeira API em Rails.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E, no encontro 4, publicá-la com Docker, Kamal e HTTPS.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COMBINADO DE HOJE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não precisa entender tudo hoje. Precisa FAZER funcionar hoje.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entendimento fecha os buracos nas próximas semanas. É assim mesmo.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cada bloco de conteúdo, uma prática. Você não vai só assistir.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VAI TRAVAR. Todo mundo trava. Faz parte do trabalho.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Travou? Levanta a mão. É para isso que eu estou aqui.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a apostila tem, em cada prática, uma tabela dos erros que acontecem.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FERRAMENTAS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107057"/>
            <a:ext cx="16459200" cy="284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7"/>
              </a:lnSpc>
            </a:pPr>
            <a:r>
              <a:rPr lang="en-US" sz="664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VISUAL STUDIO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EXTENSÕES ÚTEIS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Ruby LSP: autocomplete e erro em tempo real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Ruby Rails: pula entre model, controller e rota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Docker: ver e parar containers pela barra lateral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GitLens: quem escreveu esta linha, e quando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WSL: só Windows, abre o projeto do Ubuntu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vscode-icons: ícone por tipo de arquivo, ajuda a se achar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TERMINAL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 back-end você vive aqui. Não tem botão de play.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pwd: onde eu estou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ls: o que tem aqui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cd pasta: entrar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cd ..: voltar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Ctrl+C mata o processo que está rodando.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Seta pra cima repete o último comando.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INSOMNIA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Nossa API não tem tela. Ela responde JSON.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Insomnia é o navegador de quem faz back-end.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Monta a requisição: método, URL, cabeçalhos, corpo.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Mostra a resposta: status, cabeçalhos, corpo.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Salva tudo numa coleção que dá para versionar.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DOCKER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banco de dados não vai ser instalado na sua máquina.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roda dentro de um container: um pacotinho isolado.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Todo mundo com a mesma versão do Postgres, no mesmo comando.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Desinstalar é apagar o container. Não sobra sujeira.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Aula 4 é assim que a nossa API vai rodar no servidor.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MISE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Instala a versão exata de Ruby que o projeto pede.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mexer no Ruby do sistema.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 projeto pode usar uma versão diferente.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pyenv do mundo Ruby. E o .ruby-version é o runtime.txt.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arquivo .ruby-version na raiz e ele troca sozinho ao entrar na pasta.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SETUP EM QUATRO COMANDOS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4544568" y="2377440"/>
            <a:ext cx="9198864" cy="3180079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1768" y="2743200"/>
            <a:ext cx="8284464" cy="2448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curl https://mise.run | sh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mise use --global ruby@3.4.9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gem install rails -v 8.1.3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docker run --rm hello-world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BACK-END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225" y="278137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5"/>
                </a:lnTo>
                <a:lnTo>
                  <a:pt x="0" y="149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567694"/>
            <a:ext cx="1645920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sz="393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DOIS LADOS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9915"/>
            <a:ext cx="7768319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parte visível, que o usuário toca.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HTML, CSS, JavaScript.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Roda no navegador ou no celular.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cair, o usuário vê a tela quebrada.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2666" y="3729915"/>
            <a:ext cx="8234023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parte lógica, nos bastidores.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Ruby, Python, Java, Go, Node.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Roda num servidor, longe do usuário.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cair, nada funciona.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7771" y="2214168"/>
            <a:ext cx="3293898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BACK-END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7718" y="2214168"/>
            <a:ext cx="375286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FRONT-END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O BACK-END FAZ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Guarda os dados e decide quem pode ver o quê.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Aplica as regras de negócio.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Autentica usuários.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Fala com outros sistemas: e-mail, pagamento, mapas.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Processa o que é pesado demais para o celular.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Nada disso pode viver no front. O usuário mexeria.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ANALOGIA DO RESTAURANTE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salão é o front-end: mesa, cardápio, garçom.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cozinha é o back-end: ninguém entra, mas é lá que a comida sai.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pedido é a requisição.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prato é a resposta.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não pede pra ver a receita. Você pede o prato.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CLIENTE E SERVIDOR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Cliente: quem pede. Navegador, app, outro servidor.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Servidor: quem responde. Um computador ligado o tempo todo.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cliente sempre começa a conversa. O servidor nunca liga primeiro.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Entre os dois: a internet, e o protocolo HTTP.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É UM SERVIDOR, AFINAL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é uma máquina especial. É um programa esperando.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fica ligado, escutando numa PORTA.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Chegou requisição naquela porta, ele responde.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server sobe esse programa na porta 3000.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sua máquina ou numa VM na nuvem, é o mesmo programa.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IP E PORTA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IP é o endereço da máquina. Ex.: 57.156.65.151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Porta é a sala dentro dela. Um número de 1 a 65535.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máquina, milhares de portas, um programa em cada.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22 SSH · 80 HTTP · 443 HTTPS · 5432 Postgres · 3000 Rails em dev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127.0.0.1 (localhost) é sempre 'esta máquina aqui'.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Aula 4 a sua API vai atender na 443, e o Postgres na 5432.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DNS: DE NOME PARA NÚMERO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Ninguém decora 57.156.65.151.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DNS é a agenda telefônica da internet.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digita api.seemxxiii.tech; alguém pergunta ao DNS o IP.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resposta fica em cache por um tempo. Chama-se TTL.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por isso que trocar um domínio de servidor não vale na hora.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Aula 4 você aponta um nome para um IP na mão, no /etc/hosts.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ANATOMIA DE UMA URL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869559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13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https :// api.seemxxiii.tech : 443 /api/v1/lectures ?page=2 #topo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│             │              │          │           │      │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esquema        host          porta     caminho      query  fragmento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# O esquema diz o protocolo (http, https, ssh, postgres...).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# A porta é opcional: http assume 80, https assume 443.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# É por isso que localhost:3000 tem os dois pontos: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# a porta não é a padrão.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HTTP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idioma que os dois falam.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Toda conversa tem duas partes: requisição e resposta.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requisição tem: método, caminho, cabeçalhos e corpo.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resposta tem: status, cabeçalhos e corpo.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sem memória: cada requisição começa do zero.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REQUISIÇÃO CRUA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745975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0144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984">
                <a:solidFill>
                  <a:srgbClr val="E6EAF2"/>
                </a:solidFill>
                <a:latin typeface="Consolas"/>
              </a:rPr>
              <a:t>POST /api/v1/sessions HTTP/1.1        ← método, caminho, versão</a:t>
            </a:r>
          </a:p>
          <a:p>
            <a:pPr>
              <a:lnSpc>
                <a:spcPct val="125000"/>
              </a:lnSpc>
            </a:pPr>
            <a:r>
              <a:rPr sz="1984">
                <a:solidFill>
                  <a:srgbClr val="E6EAF2"/>
                </a:solidFill>
                <a:latin typeface="Consolas"/>
              </a:rPr>
              <a:t>Host: api.seemxxiii.tech              ┐</a:t>
            </a:r>
          </a:p>
          <a:p>
            <a:pPr>
              <a:lnSpc>
                <a:spcPct val="125000"/>
              </a:lnSpc>
            </a:pPr>
            <a:r>
              <a:rPr sz="1984">
                <a:solidFill>
                  <a:srgbClr val="E6EAF2"/>
                </a:solidFill>
                <a:latin typeface="Consolas"/>
              </a:rPr>
              <a:t>Content-Type: application/json        │ cabeçalhos</a:t>
            </a:r>
          </a:p>
          <a:p>
            <a:pPr>
              <a:lnSpc>
                <a:spcPct val="125000"/>
              </a:lnSpc>
            </a:pPr>
            <a:r>
              <a:rPr sz="1984">
                <a:solidFill>
                  <a:srgbClr val="E6EAF2"/>
                </a:solidFill>
                <a:latin typeface="Consolas"/>
              </a:rPr>
              <a:t>Accept: application/json              ┘</a:t>
            </a:r>
          </a:p>
          <a:p>
            <a:pPr>
              <a:lnSpc>
                <a:spcPct val="125000"/>
              </a:lnSpc>
            </a:pPr>
            <a:r>
              <a:rPr sz="1984">
                <a:solidFill>
                  <a:srgbClr val="E6EAF2"/>
                </a:solidFill>
                <a:latin typeface="Consolas"/>
              </a:rPr>
              <a:t>                                      ← linha em branco separa</a:t>
            </a:r>
          </a:p>
          <a:p>
            <a:pPr>
              <a:lnSpc>
                <a:spcPct val="125000"/>
              </a:lnSpc>
            </a:pPr>
            <a:r>
              <a:rPr sz="1984">
                <a:solidFill>
                  <a:srgbClr val="E6EAF2"/>
                </a:solidFill>
                <a:latin typeface="Consolas"/>
              </a:rPr>
              <a:t>{"email":"ana@ufop.br","password":"..."}   ← corpo</a:t>
            </a:r>
          </a:p>
          <a:p>
            <a:pPr>
              <a:lnSpc>
                <a:spcPct val="125000"/>
              </a:lnSpc>
            </a:pPr>
            <a:r>
              <a:rPr sz="1984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984">
                <a:solidFill>
                  <a:srgbClr val="E6EAF2"/>
                </a:solidFill>
                <a:latin typeface="Consolas"/>
              </a:rPr>
              <a:t># É texto puro. HTTP é literalmente isso trafegando num cano.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CABEÇALHOS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São metadados: informação SOBRE a mensagem, não a mensagem.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Chave: valor, uma por linha.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Content-Type: em que formato vai o corpo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Accept: em que formato eu quero a resposta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Authorization: quem sou eu (vai ser o nosso token, na Aula 3)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Set-Cookie / Cookie: como o navegador guarda estado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User-Agent: que programa está chamando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CONTENT-TYPE IMPORTA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mesmo corpo, dois formatos possíveis: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application/json → {"email":"ana@ufop.br"}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application/x-www-form-urlencoded → email=ana%40ufop.br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o cabeçalho, o servidor não sabe como ler o corpo.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Esquecer isso no curl é o erro nº 1 de quem começa: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vem 400 e a mensagem não ajuda em nada.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VERBOS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GET: me dá isso (não muda nada)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POST: cria isso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PUT / PATCH: altera isso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DELETE: apaga isso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verbo é uma promessa. GET que apaga coisa é bug, não criatividade.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STATUS CODES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2xx: deu certo. 200 ok, 201 criado.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3xx: foi pra outro lugar.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4xx: você errou. 400 pedido mal feito, 401 não autenticado,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403 autenticado mas sem permissão, 404 não existe, 422 dado inválido.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5xx: nós erramos. 500 é bug nosso.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diferença entre 401 e 403 cai em toda entrevista.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REQUISIÇÃO DE VERDADE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58521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28536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500">
                <a:solidFill>
                  <a:srgbClr val="E6EAF2"/>
                </a:solidFill>
                <a:latin typeface="Consolas"/>
              </a:rPr>
              <a:t>$ curl -i https://api.seemxxiii.tech/api/v1/status</a:t>
            </a:r>
          </a:p>
          <a:p>
            <a:pPr>
              <a:lnSpc>
                <a:spcPct val="125000"/>
              </a:lnSpc>
            </a:pPr>
            <a:r>
              <a:rPr sz="2500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500">
                <a:solidFill>
                  <a:srgbClr val="E6EAF2"/>
                </a:solidFill>
                <a:latin typeface="Consolas"/>
              </a:rPr>
              <a:t>HTTP/2 200</a:t>
            </a:r>
          </a:p>
          <a:p>
            <a:pPr>
              <a:lnSpc>
                <a:spcPct val="125000"/>
              </a:lnSpc>
            </a:pPr>
            <a:r>
              <a:rPr sz="2500">
                <a:solidFill>
                  <a:srgbClr val="E6EAF2"/>
                </a:solidFill>
                <a:latin typeface="Consolas"/>
              </a:rPr>
              <a:t>content-type: application/json; charset=utf-8</a:t>
            </a:r>
          </a:p>
          <a:p>
            <a:pPr>
              <a:lnSpc>
                <a:spcPct val="125000"/>
              </a:lnSpc>
            </a:pPr>
            <a:r>
              <a:rPr sz="2500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500">
                <a:solidFill>
                  <a:srgbClr val="E6EAF2"/>
                </a:solidFill>
                <a:latin typeface="Consolas"/>
              </a:rPr>
              <a:t>{"status":"ok","service":"seem-backend"}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JSON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formato em que cliente e servidor trocam dados.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Chave e valor, como o dict do Python.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Só tem texto, número, booleano, nulo, lista e objeto.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tem data, não tem classe, não tem comentário.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texto puro. Qualquer linguagem lê.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É UMA API REST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API: a porta de entrada do sistema para outros programas.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REST: um estilo de organizar essa porta.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 coisa do sistema é um recurso, com um endereço.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/api/v1/lectures são as palestras. /api/v1/lectures/7 é a palestra 7.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você faz com ela é o verbo, não o endereço.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Errado: /criarPalestra. Certo: POST /lectures.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225" y="278137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5"/>
                </a:lnTo>
                <a:lnTo>
                  <a:pt x="0" y="149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567694"/>
            <a:ext cx="1645920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sz="393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DOIS JEITOS DE FAZER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9915"/>
            <a:ext cx="7768319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servidor devolve HTML pronto.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linguagem, um projeto.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Site institucional, blog, painel interno.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2666" y="3729915"/>
            <a:ext cx="8234023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servidor devolve só dados.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App, painel web e site consomem a mesma API.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SEEM: um back-end, um app e um painel.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7771" y="2214168"/>
            <a:ext cx="3293898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API + CLIENTES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7718" y="2214168"/>
            <a:ext cx="375286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SITE COM TELAS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1: HTTP NA MÃO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curl -i https://api.seemxxiii.tech/api/v1/status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Troque o -i por -v. Ache o que VOCÊ mandou e o que ele respondeu.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Peça uma rota que não existe. Veja o 404 e repare: ele RESPONDEU.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curl -I: só os cabeçalhos. É assim que se checa se um site está de pé.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Avançado: monte um POST na mão, com -X, -H e -d.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1, com a tabela de erros.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RUBY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 ONDE VEIO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Criado por Yukihiro Matsumoto, o Matz, em 1995, no Japão.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objetivo declarado: fazer o programador feliz.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Interpretada, dinâmica e orientada a objetos, como Python.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Estourou em 2005, com o Rails.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Hoje: GitHub, Shopify, Airbnb, Basecamp e o seem-backend.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225" y="278137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5"/>
                </a:lnTo>
                <a:lnTo>
                  <a:pt x="0" y="149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567694"/>
            <a:ext cx="1645920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sz="393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PYTHON  ×  RUBY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9915"/>
            <a:ext cx="7768319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Indentação delimita bloco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None / True / False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dict, list, tuple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return explícito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f"Olá {nome}"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self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pip + venv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2666" y="3729915"/>
            <a:ext cx="8234023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def ... end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nil / true / false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Hash, Array, símbolos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última linha é o retorno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"Olá #{nome}"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self (igual)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gem + bundler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7771" y="2214168"/>
            <a:ext cx="3293898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RUBY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7718" y="2214168"/>
            <a:ext cx="375286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PYTHON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MESMA FUNÇÃO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3374136" y="2377440"/>
            <a:ext cx="11539728" cy="730504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31336" y="2743200"/>
            <a:ext cx="10625328" cy="657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# Python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def saudacao(nome, formal=False):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if formal: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    return f"Prezado {nome}"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return f"Oi, {nome}"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# Ruby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def saudacao(nome, formal: false)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return "Prezado #{nome}" if formal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"Oi, #{nome}"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TUDO É OBJETO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 Python, len(x). Em Ruby, x.length.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Número é objeto: 3.times { puts "oi" }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nil é objeto: nil.to_s devolve "".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Até a classe é objeto.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existe função solta: é sempre método de alguém.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SÍMBOLOS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Escrito com dois-pontos: :aluno, :email, :admin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um texto que serve de etiqueta, não de conteúdo.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mesmo símbolo é sempre o mesmo objeto na memória.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existe em Python: lá você usaria uma string.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Rails usa símbolo em tudo: chave de hash, nome de campo, estado.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HASH  ×  DICT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219169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487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Python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usuario = {"nome": "Ana", "role": "admin"}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usuario["nome"]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Ruby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usuario = { nome: "Ana", role: :admin }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usuario[:nome]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a chave é um símbolo — { nome: } é açúcar para { :nome =&gt; 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BLOCOS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pedaço de código que você entrega para um método executar.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Entre chaves quando cabe numa linha.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Entre do e end quando não cabe.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lambda do Python, mas usado o tempo todo, não de vez em quando.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Quase todo laço em Ruby é um bloco.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BLOCOS NA PRÁTICA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613111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2881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 Python                          # Ruby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for u in usuarios:                usuarios.each do |u|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   print(u.nome)                   puts u.nome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                                 end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[u.nome for u in usuarios]        usuarios.map { |u| u.nome }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[u for u in usuarios if u.ativo]  usuarios.select { |u| u.ativo? 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?  E  O  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Método terminado em ? devolve verdadeiro ou falso.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user.admin?  ·  user.email_verified?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Método terminado em ! é a versão perigosa.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save salva e devolve false se falhar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save! salva e estoura erro se falhar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convenção, não regra da linguagem. Mas todo mundo segue.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ARGUMENTOS NOMEADOS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072575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341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Python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def login(email, password, client="mobile"): ...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login(email="a@b.c", password="x")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Ruby — os dois-pontos DEPOIS do nome tornam obrigatório nomear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def login(email:, password:, client: "mobile")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login(email: "a@b.c", password: "x")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E desde o Ruby 3.1, se a variável tem o mesmo nome da chave: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email = "a@b.c"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login(email:, password:)     # em vez de login(email: email, ...)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STRUCT: UMA CLASSE DE UMA LINHA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659418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927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 Quando você só quer agrupar valores, sem comportamento: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Result = Struct.new(:success?, :user, :errors, keyword_init: true)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r = Result.new(success?: true, user: ana)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r.success?   # true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r.user       # ana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 keyword_init: true obriga a nomear na criação.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 É o namedtuple / dataclass do Python.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 Todo service do projeto devolve um Struct desses.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EXCEÇÕES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Mesma ideia do Python, outra palavra.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try  → begin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except → rescue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finally → ensure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raise → raise (igual)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 método, o begin é implícito: dá para escrever só rescue no fim.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raise sem argumento re-lança a exceção atual.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EXCEÇÕES NA PRÁTICA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607285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5341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# Python                        # Ruby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try:                            begin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    arriscado()                   arriscado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except ValueError as e:         rescue ArgumentError =&gt; e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    print(e)                      puts e.message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finally:                        ensure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    limpar()                      limpar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                                end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# Criando o seu próprio tipo de erro: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class InvalidToken &lt; StandardError; end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92">
                <a:solidFill>
                  <a:srgbClr val="E6EAF2"/>
                </a:solidFill>
                <a:latin typeface="Consolas"/>
              </a:rPr>
              <a:t>raise InvalidToken if token_ruim?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CASE, E A SETA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64947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917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case: o if/elif encadeado. Não precisa de break.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case client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when "mobile" then header["Authorization"] = "Bearer #{token}"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when "web"    then set_auth_cookie(token)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-&gt; é um lambda: código guardado para rodar DEPOIS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dobro = -&gt;(x) { x * 2 }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dobro.call(3)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É o que vocês vão ver no model, na Aula 2: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scope :recentes, -&gt; { order(occurred_at: :desc) }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validate :password_meets_policy, if: -&gt; { password.present? 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TRÊS PEGADINHAS DE QUEM VEM DO PYTHON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7 / 2 dá 3, e não 3.5.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inteiro com inteiro dá inteiro. Use 7.0 / 2 ou 7.fdiv(2).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Aspas simples NÃO interpolam.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"Olá #{nome}" funciona; 'Olá #{nome}' imprime o #{nome} cru.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 e "" são VERDADEIROS.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só nil e false são falsos. if 0 executa.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MÓDULOS E MIXINS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Ruby não tem herança múltipla.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Tem módulo: um saco de métodos que você inclui numa classe.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include EmailVerifiable e a classe ganha aqueles métodos.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como os Mixins do Django, mas nativo e usado o tempo todo.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 seem-backend é assim que o User ganha verificação de e-mail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recuperação de senha, sem virar um arquivo de 800 linhas.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225" y="278137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5"/>
                </a:lnTo>
                <a:lnTo>
                  <a:pt x="0" y="149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567694"/>
            <a:ext cx="1645920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sz="393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DEPENDÊNCIAS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9915"/>
            <a:ext cx="7768319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pip install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requirements.txt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venv, por projeto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pip freeze para travar versão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2666" y="3729915"/>
            <a:ext cx="8234023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gem install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Gemfile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bundler resolve tudo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Gemfile.lock, gerado sozinho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7771" y="2214168"/>
            <a:ext cx="3293898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RUBY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7718" y="2214168"/>
            <a:ext cx="375286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PYTHON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2: RUBY NO IRB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irb. Descubra o tipo de tudo com .class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puts "entrou" if 0    &lt;- entra! Só nil e false são falsos.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um hash e leia por símbolo. Depois tente por string.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[1,2,3].map { |n| n * n } e .select { |n| n.odd? }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 = nil; user.email estoura. user&amp;.email não.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Avançado: escreva um módulo e inclua numa classe.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2, com os oito passos e a tabela de erros.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RAILS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É RAILS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Framework web em Ruby, criado por David Heinemeier Hansson em 2004.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Nasceu extraído do Basecamp: um produto real, não um exercício.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Traz tudo junto: rotas, banco, e-mail, filas, testes, deploy.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Está na versão 8. É a versão que o seem-backend usa.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promessa: uma pessoa sozinha consegue construir um sistema inteiro.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CONVENÇÃO SOBRE CONFIGURAÇÃO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não configura o óbvio. Você segue o combinado.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Classe User? Então a tabela é users. Ninguém precisa dizer.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Arquivo user.rb, classe User, tabela users, id chamado id.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Seguindo a convenção, você escreve quase nada.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Brigando com ela, você escreve o dobro.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DRY  E  OMAKASE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DRY: Don't Repeat Yourself. Cada regra existe num lugar só.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Omakase: "deixa comigo, chef", em japonês.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Rails já escolheu as ferramentas por você.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pode trocar. Mas só troque quando tiver um motivo real.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Isso é liberdade, não prisão: sobra tempo pro problema de verdade.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225" y="278137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5"/>
                </a:lnTo>
                <a:lnTo>
                  <a:pt x="0" y="149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567694"/>
            <a:ext cx="1645920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sz="393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DJANGO  ×  RAILS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9915"/>
            <a:ext cx="7768319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models.py, com classes Model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makemigrations / migrate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urls.py, escrito à mão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views.py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Django ORM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manage.py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2666" y="3729915"/>
            <a:ext cx="8234023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app/models/, um arquivo por classe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rails g migration / db:migrate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config/routes.rb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app/controllers/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ActiveRecord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7771" y="2214168"/>
            <a:ext cx="3293898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7718" y="2214168"/>
            <a:ext cx="375286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DJANGO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MVC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Model: os dados e as regras. Conversa com o banco.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View: a tela. Na nossa API, é o JSON.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Controller: recebe a requisição e decide o que fazer.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Rota: o mapa que liga este endereço àquele controller.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caminho é sempre: rota → controller → model → resposta.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CRIANDO O PROJETO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036301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23047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403">
                <a:solidFill>
                  <a:srgbClr val="E6EAF2"/>
                </a:solidFill>
                <a:latin typeface="Consolas"/>
              </a:rPr>
              <a:t>rails new automic_auth_api --api -d postgresql</a:t>
            </a:r>
          </a:p>
          <a:p>
            <a:pPr>
              <a:lnSpc>
                <a:spcPct val="125000"/>
              </a:lnSpc>
            </a:pPr>
            <a:r>
              <a:rPr sz="2403">
                <a:solidFill>
                  <a:srgbClr val="E6EAF2"/>
                </a:solidFill>
                <a:latin typeface="Consolas"/>
              </a:rPr>
              <a:t>cd automic_auth_api</a:t>
            </a:r>
          </a:p>
          <a:p>
            <a:pPr>
              <a:lnSpc>
                <a:spcPct val="125000"/>
              </a:lnSpc>
            </a:pPr>
            <a:r>
              <a:rPr sz="240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403">
                <a:solidFill>
                  <a:srgbClr val="E6EAF2"/>
                </a:solidFill>
                <a:latin typeface="Consolas"/>
              </a:rPr>
              <a:t># --api    → sem HTML, sem CSS, sem sessão. Só JSON.</a:t>
            </a:r>
          </a:p>
          <a:p>
            <a:pPr>
              <a:lnSpc>
                <a:spcPct val="125000"/>
              </a:lnSpc>
            </a:pPr>
            <a:r>
              <a:rPr sz="2403">
                <a:solidFill>
                  <a:srgbClr val="E6EAF2"/>
                </a:solidFill>
                <a:latin typeface="Consolas"/>
              </a:rPr>
              <a:t># -d postgresql → o banco que usamos em produção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ZEITWERK: O NOME DIZ O CAMINHO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nunca escreve require no Rails. Por quê?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Zeitwerk carrega a classe na hora em que você a menciona.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ele descobre o arquivo pelo NOME da classe: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Api::V1::StatusController → app/controllers/api/v1/status_controller.rb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Errou o caminho, a classe não existe. Não é estilo. É mecanismo.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que faz 'convenção sobre configuração' funcionar de verdade.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TRÊS AMBIENTES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development: sua máquina. Recarrega código, log verboso, erro na tela.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test: os testes. Banco separado, que é limpo a cada teste.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production: o servidor. Código congelado, log enxuto, erro genérico.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config/environments/ tem um arquivo para cada.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Rails.env diz onde você está.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assim que o e-mail abre no navegador em dev e vai por SMTP em produção.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TOUR DAS PASTAS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app/: o seu código. É onde você passa 90% do tempo.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models, controllers, mailers, serializers, services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config/: rotas, banco, ambientes, credenciais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db/: migrations e o retrato atual do banco (schema.rb)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test/: os testes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Gemfile: as dependências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 tem os comandos: rails, setup, dev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COMANDOS DO DIA A DIA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server: sobe a aplicação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console: um irb com o seu projeto carregado dentro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routes: todas as rotas que existem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generate: cria arquivos seguindo a convenção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db:migrate aplica as mudanças de banco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test: roda os testes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3 E 4: O PROJETO NO 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rails new automic_auth_api --api -d postgresql (mais as flags)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Escreva o compose.yaml e ajuste o config/database.yml.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docker compose up -d    -&gt;  o status tem que ser healthy.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db:prepare &amp;&amp; bin/rails server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Abra http://localhost:3000/up. Verde é a aplicação falando com o banco.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Práticas 3 e 4. A tabela de erros da 4 é a maior da aula.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PRIMEIRA ROTA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64947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917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config/routes.rb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namespace :api do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namespace :v1 do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  get "status", to: "status#show"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end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app/controllers/api/v1/status_controller.rb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class Api::V1::StatusController &lt; ApplicationController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def show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  render json: { status: "ok", service: "automic-auth-api" }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end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DOIS DIRETÓRIOS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~/capacitacao-gabarito é o repositório da capacitação. Só leitura.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~/automic_auth_api é o SEU projeto. É nele que você escreve.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Travou? Abra o mesmo arquivo no gabarito, entenda, e digite no seu.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seu projeto vai para o SEU GitHub, hoje ainda.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Aula 4 o CI roda no SEU repositório, e a imagem vai pra SUA conta.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dá para apontar para o meu repositório.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5: A SUA PRIMEIRA ROTA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namespace :api do  namespace :v1 do  get "status" ...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app/controllers/api/v1/status_controller.rb — o caminho é obrigatório.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routes -g api  -&gt;  a sua rota tem que aparecer.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curl -i localhost:3000/api/v1/status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Monte a mesma requisição no Insomnia e confira o 200.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5.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git init: começa a versionar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git add .: separa o que vai no próximo commit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git commit -m "mensagem": grava o ponto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git push: manda para o GitHub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Aula 4, é o push que dispara o CI: testes, lint e scan de segurança.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PRÁTICAS 6 E 7: TESTE E COMMIT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Escreva o teste da rota e rode bin/rails test.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Agora QUEBRE de propósito: troque "ok" por "OK" e rode de novo.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Leia a mensagem de falha inteira. Depois desfaça.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git commit, e gh repo create --source=. --push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repositório tem que ser SEU: a Aula 4 depende disso.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Práticas 6 e 7.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RECAPITULANDO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Back-end é a cozinha: regra, dado e permissão.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HTTP é o idioma; verbo, status e JSON são o vocabulário.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Ruby é Python com outra sintaxe e mais açúcar.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Rails decide o óbvio por você. Siga a convenção.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já tem uma API respondendo. Na próxima ela ganha banco.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05520"/>
            <a:ext cx="16459200" cy="116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1"/>
              </a:lnSpc>
            </a:pPr>
            <a:r>
              <a:rPr lang="en-US" sz="54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ATÉ A PRÓXIMA!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7618" y="5057775"/>
            <a:ext cx="4252764" cy="73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6"/>
              </a:lnSpc>
              <a:spcBef>
                <a:spcPct val="0"/>
              </a:spcBef>
            </a:pPr>
            <a:r>
              <a:rPr lang="en-US" sz="346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BONS ESTUDOS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DAGwwFUwDmM</dc:identifier>
  <dcterms:modified xsi:type="dcterms:W3CDTF">2011-08-01T06:04:30Z</dcterms:modified>
  <cp:revision>1</cp:revision>
  <dc:title> Capacitação Front-end</dc:title>
</cp:coreProperties>
</file>